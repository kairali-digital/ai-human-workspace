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d4fb808dbe4671" /><Relationship Type="http://schemas.openxmlformats.org/officeDocument/2006/relationships/extended-properties" Target="/docProps/app.xml" Id="R536b4bae60f1449e" /><Relationship Type="http://schemas.openxmlformats.org/officeDocument/2006/relationships/officeDocument" Target="/ppt/presentation.xml" Id="R18d3c7ca99fc4da6" /></Relationships>
</file>

<file path=ppt/presentation.xml><?xml version="1.0" encoding="utf-8"?>
<p:presentation xmlns:p="http://schemas.openxmlformats.org/presentationml/2006/main">
  <p:sldMasterIdLst>
    <p:sldMasterId xmlns:r="http://schemas.openxmlformats.org/officeDocument/2006/relationships" id="2147483648" r:id="Rc4856c101d63460b"/>
  </p:sldMasterIdLst>
  <p:notesMasterIdLst>
    <p:notesMasterId xmlns:r="http://schemas.openxmlformats.org/officeDocument/2006/relationships" r:id="Rf5e91153429a48b4"/>
  </p:notesMasterIdLst>
  <p:sldIdLst>
    <p:sldId xmlns:r="http://schemas.openxmlformats.org/officeDocument/2006/relationships" id="256" r:id="R2b5a2cf769d2451b"/>
    <p:sldId xmlns:r="http://schemas.openxmlformats.org/officeDocument/2006/relationships" id="257" r:id="R8b6c5de5e7874351"/>
    <p:sldId xmlns:r="http://schemas.openxmlformats.org/officeDocument/2006/relationships" id="258" r:id="R102b72adefc64977"/>
    <p:sldId xmlns:r="http://schemas.openxmlformats.org/officeDocument/2006/relationships" id="259" r:id="R205e2e273b204c74"/>
    <p:sldId xmlns:r="http://schemas.openxmlformats.org/officeDocument/2006/relationships" id="260" r:id="R1f992cbcaf464b54"/>
    <p:sldId xmlns:r="http://schemas.openxmlformats.org/officeDocument/2006/relationships" id="261" r:id="R1b413e2234ba4528"/>
    <p:sldId xmlns:r="http://schemas.openxmlformats.org/officeDocument/2006/relationships" id="262" r:id="R2a53086742cc427b"/>
    <p:sldId xmlns:r="http://schemas.openxmlformats.org/officeDocument/2006/relationships" id="263" r:id="Rcec288d7fcf84a6a"/>
    <p:sldId xmlns:r="http://schemas.openxmlformats.org/officeDocument/2006/relationships" id="264" r:id="R63d2c4e351534a78"/>
    <p:sldId xmlns:r="http://schemas.openxmlformats.org/officeDocument/2006/relationships" id="265" r:id="R9bba691749a54655"/>
    <p:sldId xmlns:r="http://schemas.openxmlformats.org/officeDocument/2006/relationships" id="266" r:id="R8caadc786399477e"/>
    <p:sldId xmlns:r="http://schemas.openxmlformats.org/officeDocument/2006/relationships" id="267" r:id="R17cf811fcbd24a15"/>
    <p:sldId xmlns:r="http://schemas.openxmlformats.org/officeDocument/2006/relationships" id="268" r:id="Rba8e0313ebb841f5"/>
    <p:sldId xmlns:r="http://schemas.openxmlformats.org/officeDocument/2006/relationships" id="269" r:id="Red133d09863d423c"/>
    <p:sldId xmlns:r="http://schemas.openxmlformats.org/officeDocument/2006/relationships" id="270" r:id="R996ddd8b0ba441b3"/>
    <p:sldId xmlns:r="http://schemas.openxmlformats.org/officeDocument/2006/relationships" id="271" r:id="Ra36b5a435c6e4489"/>
    <p:sldId xmlns:r="http://schemas.openxmlformats.org/officeDocument/2006/relationships" id="272" r:id="R7066cac8e33d440c"/>
    <p:sldId xmlns:r="http://schemas.openxmlformats.org/officeDocument/2006/relationships" id="273" r:id="R8a20612d19664d1e"/>
    <p:sldId xmlns:r="http://schemas.openxmlformats.org/officeDocument/2006/relationships" id="274" r:id="R53d496a0bcc04fab"/>
    <p:sldId xmlns:r="http://schemas.openxmlformats.org/officeDocument/2006/relationships" id="275" r:id="Ref2ef5e8027d47ba"/>
    <p:sldId xmlns:r="http://schemas.openxmlformats.org/officeDocument/2006/relationships" id="276" r:id="Redd5ff9ee5184234"/>
    <p:sldId xmlns:r="http://schemas.openxmlformats.org/officeDocument/2006/relationships" id="277" r:id="Ra75b69ffde074f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5afd284fb6b42c0" /><Relationship Type="http://schemas.openxmlformats.org/officeDocument/2006/relationships/slideMaster" Target="/ppt/slideMasters/slideMaster1.xml" Id="Rc4856c101d63460b" /><Relationship Type="http://schemas.openxmlformats.org/officeDocument/2006/relationships/notesMaster" Target="/ppt/notesMasters/notesMaster1.xml" Id="Rf5e91153429a48b4" /><Relationship Type="http://schemas.openxmlformats.org/officeDocument/2006/relationships/presProps" Target="/ppt/presProps.xml" Id="R02c4bd2022f84c63" /><Relationship Type="http://schemas.openxmlformats.org/officeDocument/2006/relationships/viewProps" Target="/ppt/viewProps.xml" Id="R2899526cd04d4b59" /><Relationship Type="http://schemas.openxmlformats.org/officeDocument/2006/relationships/tableStyles" Target="/ppt/tableStyles.xml" Id="R2cc6695db4b445bb" /><Relationship Type="http://schemas.openxmlformats.org/officeDocument/2006/relationships/slide" Target="/ppt/slides/slide1.xml" Id="R2b5a2cf769d2451b" /><Relationship Type="http://schemas.openxmlformats.org/officeDocument/2006/relationships/slide" Target="/ppt/slides/slide2.xml" Id="R8b6c5de5e7874351" /><Relationship Type="http://schemas.openxmlformats.org/officeDocument/2006/relationships/slide" Target="/ppt/slides/slide3.xml" Id="R102b72adefc64977" /><Relationship Type="http://schemas.openxmlformats.org/officeDocument/2006/relationships/slide" Target="/ppt/slides/slide4.xml" Id="R205e2e273b204c74" /><Relationship Type="http://schemas.openxmlformats.org/officeDocument/2006/relationships/slide" Target="/ppt/slides/slide5.xml" Id="R1f992cbcaf464b54" /><Relationship Type="http://schemas.openxmlformats.org/officeDocument/2006/relationships/slide" Target="/ppt/slides/slide6.xml" Id="R1b413e2234ba4528" /><Relationship Type="http://schemas.openxmlformats.org/officeDocument/2006/relationships/slide" Target="/ppt/slides/slide7.xml" Id="R2a53086742cc427b" /><Relationship Type="http://schemas.openxmlformats.org/officeDocument/2006/relationships/slide" Target="/ppt/slides/slide8.xml" Id="Rcec288d7fcf84a6a" /><Relationship Type="http://schemas.openxmlformats.org/officeDocument/2006/relationships/slide" Target="/ppt/slides/slide9.xml" Id="R63d2c4e351534a78" /><Relationship Type="http://schemas.openxmlformats.org/officeDocument/2006/relationships/slide" Target="/ppt/slides/slide10.xml" Id="R9bba691749a54655" /><Relationship Type="http://schemas.openxmlformats.org/officeDocument/2006/relationships/slide" Target="/ppt/slides/slide11.xml" Id="R8caadc786399477e" /><Relationship Type="http://schemas.openxmlformats.org/officeDocument/2006/relationships/slide" Target="/ppt/slides/slide12.xml" Id="R17cf811fcbd24a15" /><Relationship Type="http://schemas.openxmlformats.org/officeDocument/2006/relationships/slide" Target="/ppt/slides/slide13.xml" Id="Rba8e0313ebb841f5" /><Relationship Type="http://schemas.openxmlformats.org/officeDocument/2006/relationships/slide" Target="/ppt/slides/slide14.xml" Id="Red133d09863d423c" /><Relationship Type="http://schemas.openxmlformats.org/officeDocument/2006/relationships/slide" Target="/ppt/slides/slide15.xml" Id="R996ddd8b0ba441b3" /><Relationship Type="http://schemas.openxmlformats.org/officeDocument/2006/relationships/slide" Target="/ppt/slides/slide16.xml" Id="Ra36b5a435c6e4489" /><Relationship Type="http://schemas.openxmlformats.org/officeDocument/2006/relationships/slide" Target="/ppt/slides/slide17.xml" Id="R7066cac8e33d440c" /><Relationship Type="http://schemas.openxmlformats.org/officeDocument/2006/relationships/slide" Target="/ppt/slides/slide18.xml" Id="R8a20612d19664d1e" /><Relationship Type="http://schemas.openxmlformats.org/officeDocument/2006/relationships/slide" Target="/ppt/slides/slide19.xml" Id="R53d496a0bcc04fab" /><Relationship Type="http://schemas.openxmlformats.org/officeDocument/2006/relationships/slide" Target="/ppt/slides/slide20.xml" Id="Ref2ef5e8027d47ba" /><Relationship Type="http://schemas.openxmlformats.org/officeDocument/2006/relationships/slide" Target="/ppt/slides/slide21.xml" Id="Redd5ff9ee5184234" /><Relationship Type="http://schemas.openxmlformats.org/officeDocument/2006/relationships/slide" Target="/ppt/slides/slide22.xml" Id="Ra75b69ffde074f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2c5503d133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f0b88704cc4d5d" /><Relationship Type="http://schemas.openxmlformats.org/officeDocument/2006/relationships/notesMaster" Target="/ppt/notesMasters/notesMaster1.xml" Id="R6364136207e94d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5b1edb71f9467f" /><Relationship Type="http://schemas.openxmlformats.org/officeDocument/2006/relationships/notesMaster" Target="/ppt/notesMasters/notesMaster1.xml" Id="R4558572794c544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af20527930426a" /><Relationship Type="http://schemas.openxmlformats.org/officeDocument/2006/relationships/notesMaster" Target="/ppt/notesMasters/notesMaster1.xml" Id="R7e340dfafa4340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c1acbc1083445d" /><Relationship Type="http://schemas.openxmlformats.org/officeDocument/2006/relationships/notesMaster" Target="/ppt/notesMasters/notesMaster1.xml" Id="R0b64e0160a2b4d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1dbad59f9940c5" /><Relationship Type="http://schemas.openxmlformats.org/officeDocument/2006/relationships/notesMaster" Target="/ppt/notesMasters/notesMaster1.xml" Id="Ra914a2223f8d43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a6459233a84593" /><Relationship Type="http://schemas.openxmlformats.org/officeDocument/2006/relationships/notesMaster" Target="/ppt/notesMasters/notesMaster1.xml" Id="Rdfbdae7473ef49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3d8f573aa44eeb" /><Relationship Type="http://schemas.openxmlformats.org/officeDocument/2006/relationships/notesMaster" Target="/ppt/notesMasters/notesMaster1.xml" Id="R4be5a4e7bb2541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4bd41568a54717" /><Relationship Type="http://schemas.openxmlformats.org/officeDocument/2006/relationships/notesMaster" Target="/ppt/notesMasters/notesMaster1.xml" Id="Rfd898c0e38404d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e6f068367644db" /><Relationship Type="http://schemas.openxmlformats.org/officeDocument/2006/relationships/notesMaster" Target="/ppt/notesMasters/notesMaster1.xml" Id="R090279c995b443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1740313caa4faa" /><Relationship Type="http://schemas.openxmlformats.org/officeDocument/2006/relationships/notesMaster" Target="/ppt/notesMasters/notesMaster1.xml" Id="Rec8945a61ad24a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bf13e1b80c4286" /><Relationship Type="http://schemas.openxmlformats.org/officeDocument/2006/relationships/notesMaster" Target="/ppt/notesMasters/notesMaster1.xml" Id="Rce7df5339bfe42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0e1ebacbb845b0" /><Relationship Type="http://schemas.openxmlformats.org/officeDocument/2006/relationships/notesMaster" Target="/ppt/notesMasters/notesMaster1.xml" Id="R6055015ad02742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a80733b8694c55" /><Relationship Type="http://schemas.openxmlformats.org/officeDocument/2006/relationships/notesMaster" Target="/ppt/notesMasters/notesMaster1.xml" Id="R043d5464bbbe47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09cc62f6fec474e" /><Relationship Type="http://schemas.openxmlformats.org/officeDocument/2006/relationships/notesMaster" Target="/ppt/notesMasters/notesMaster1.xml" Id="R5ee51a95e2b644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e27c3d86764cba" /><Relationship Type="http://schemas.openxmlformats.org/officeDocument/2006/relationships/notesMaster" Target="/ppt/notesMasters/notesMaster1.xml" Id="R4202bbe54ac54a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65878b9c1d4252" /><Relationship Type="http://schemas.openxmlformats.org/officeDocument/2006/relationships/notesMaster" Target="/ppt/notesMasters/notesMaster1.xml" Id="R2690ddb87fca46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ae8f1650b94e48" /><Relationship Type="http://schemas.openxmlformats.org/officeDocument/2006/relationships/notesMaster" Target="/ppt/notesMasters/notesMaster1.xml" Id="R22c9bcd0374840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6d3d0e582b4176" /><Relationship Type="http://schemas.openxmlformats.org/officeDocument/2006/relationships/notesMaster" Target="/ppt/notesMasters/notesMaster1.xml" Id="Rf19d4856cbab41a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30fda8b84f47c5" /><Relationship Type="http://schemas.openxmlformats.org/officeDocument/2006/relationships/notesMaster" Target="/ppt/notesMasters/notesMaster1.xml" Id="Rf23b08c9279d4a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2b94e23b7b44882" /><Relationship Type="http://schemas.openxmlformats.org/officeDocument/2006/relationships/notesMaster" Target="/ppt/notesMasters/notesMaster1.xml" Id="R5e29a15c39ed4a3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9219a00b2c4e59" /><Relationship Type="http://schemas.openxmlformats.org/officeDocument/2006/relationships/notesMaster" Target="/ppt/notesMasters/notesMaster1.xml" Id="Rc81cd9c038e343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32dbe5f8041406a" /><Relationship Type="http://schemas.openxmlformats.org/officeDocument/2006/relationships/notesMaster" Target="/ppt/notesMasters/notesMaster1.xml" Id="Rbcd97c3f5bba4e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this separate deck only after slide 26 of the beginner deck and after non-volunteers leave. The main rollout is complete before this optional clinic begins.</a:t>
            </a:r>
            <a:endParaRPr/>
          </a:p>
          <a:p xmlns:a="http://schemas.openxmlformats.org/drawingml/2006/main">
            <a:r>
              <a:t/>
            </a:r>
            <a:endParaRPr/>
          </a:p>
          <a:p xmlns:a="http://schemas.openxmlformats.org/drawingml/2006/main">
            <a:r>
              <a:t>Outcome: volunteers can distinguish apps/connectors, skills, MCP tools and CLIs; choose a minimum baseline plus role-specific additions; invoke the two Kairali trainer adaptations; and run the existing independent challenge loop.</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not a faster route around the rules. It is another interface to the same controlled operating system.”</a:t>
            </a:r>
            <a:endParaRPr/>
          </a:p>
          <a:p xmlns:a="http://schemas.openxmlformats.org/drawingml/2006/main">
            <a:r>
              <a:t/>
            </a:r>
            <a:endParaRPr/>
          </a:p>
          <a:p xmlns:a="http://schemas.openxmlformats.org/drawingml/2006/main">
            <a:r>
              <a:t>Do not install every app or CLI. Install only what the volunteer's approved role requires. A volunteer can return to the desktop workflow at any time.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v1.1.0 release is the common, clean distribution source. It does not contain live company data. Beginners can use the Setup Helper and a ZIP; technical users may use GitHub Desktop or Git. CLI remains optional and role-proven.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https://github.com/kairali-digital/ai-human-workspace/releases/tag/v1.1.0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distinction before showing an inventory. An app/connector provides approved account context or data. A skill carries reusable instructions and judgment. MCP exposes live tools/actions. A CLI is a command-line interface. A plugin may package more than one component, but installing one component does not prove the others are authenticated or configured.</a:t>
            </a:r>
            <a:endParaRPr/>
          </a:p>
          <a:p xmlns:a="http://schemas.openxmlformats.org/drawingml/2006/main">
            <a:r>
              <a:t/>
            </a:r>
            <a:endParaRPr/>
          </a:p>
          <a:p xmlns:a="http://schemas.openxmlformats.org/drawingml/2006/main">
            <a:r>
              <a:t>Ask: “What job will this layer do, what may it touch and what visible proof says it works?”</a:t>
            </a:r>
            <a:endParaRPr/>
          </a:p>
          <a:p xmlns:a="http://schemas.openxmlformats.org/drawingml/2006/main">
            <a:r>
              <a:t/>
            </a:r>
            <a:endParaRPr/>
          </a:p>
          <a:p xmlns:a="http://schemas.openxmlformats.org/drawingml/2006/main">
            <a:r>
              <a:t>HANDOUT CUE: distribute ADVANCED-CAPABILITY-AND-TRAINER-SKILLS-GUIDE-v1 now, after this slide. Keep the Battle-Test Card held until slide 14.</a:t>
            </a:r>
            <a:endParaRPr/>
          </a:p>
          <a:p xmlns:a="http://schemas.openxmlformats.org/drawingml/2006/main">
            <a:r>
              <a:t/>
            </a:r>
            <a:endParaRPr/>
          </a:p>
          <a:p xmlns:a="http://schemas.openxmlformats.org/drawingml/2006/main">
            <a:r>
              <a:t>Forward cue: the exact governed skill names appear on slides 17–19; do not invoke a generic go-science skill.</a:t>
            </a:r>
            <a:endParaRPr/>
          </a:p>
          <a:p xmlns:a="http://schemas.openxmlformats.org/drawingml/2006/main">
            <a:r>
              <a:t/>
            </a:r>
            <a:endParaRPr/>
          </a:p>
          <a:p xmlns:a="http://schemas.openxmlformats.org/drawingml/2006/main">
            <a:r>
              <a:t>[Sources]</a:t>
            </a:r>
            <a:endParaRPr/>
          </a:p>
          <a:p xmlns:a="http://schemas.openxmlformats.org/drawingml/2006/main">
            <a:r>
              <a:t>- https://learn.chatgpt.com/docs/plugins</a:t>
            </a:r>
            <a:endParaRPr/>
          </a:p>
          <a:p xmlns:a="http://schemas.openxmlformats.org/drawingml/2006/main">
            <a:r>
              <a:t>- Owner attachment: pasted-text.txt (workstation capability audit,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two homes. The public release provides governed system files, company kit, homework starters and optional skills. The work project is separate: a named private operations repository only when assigned, otherwise an approved local worker.</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https://github.com/kairali-digital/ai-human-workspace/releases/tag/v1.1.0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Akshar and Rahul skills ship in the kit but are not universally activated. Install or enable one only for a named role need, test it with a bounded prompt and remove it if it does not prove useful. Other employees use the shared operating architecture without either trainer skill.</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https://github.com/kairali-digital/ai-human-workspace/releases/tag/v1.1.0</a:t>
            </a:r>
            <a:endParaRPr/>
          </a:p>
          <a:p xmlns:a="http://schemas.openxmlformats.org/drawingml/2006/main">
            <a:r>
              <a:t>- Kairali repository: packages/kairali/skills/</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does not mean mandatory. Claude Code is an existing-seat independent challenger. gitleaks and lefthook need repository configuration. mise needs a project .mise.toml. Sentry needs a live app, SDK/DSN, source maps and environment separation. GitHub CLI is optional. Unused or unauthenticated connectors should not be treated as capability.</a:t>
            </a:r>
            <a:endParaRPr/>
          </a:p>
          <a:p xmlns:a="http://schemas.openxmlformats.org/drawingml/2006/main">
            <a:r>
              <a:t/>
            </a:r>
            <a:endParaRPr/>
          </a:p>
          <a:p xmlns:a="http://schemas.openxmlformats.org/drawingml/2006/main">
            <a:r>
              <a:t>Do not mass-install Docker, another AI IDE or every MCP.</a:t>
            </a:r>
            <a:endParaRPr/>
          </a:p>
          <a:p xmlns:a="http://schemas.openxmlformats.org/drawingml/2006/main">
            <a:r>
              <a:t/>
            </a:r>
            <a:endParaRPr/>
          </a:p>
          <a:p xmlns:a="http://schemas.openxmlformats.org/drawingml/2006/main">
            <a:r>
              <a:t>[Sources]</a:t>
            </a:r>
            <a:endParaRPr/>
          </a:p>
          <a:p xmlns:a="http://schemas.openxmlformats.org/drawingml/2006/main">
            <a:r>
              <a:t>- Owner attachment: pasted-text.txt (workstation capability audit, 12 August 2026)</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one command at a time. If either version command succeeds, do not reinstall that tool. The Codex and Claude native installers shown are the current official routes. GitHub Desktop may already include the Git workflow the volunteer needs; gh remains optional.</a:t>
            </a:r>
            <a:endParaRPr/>
          </a:p>
          <a:p xmlns:a="http://schemas.openxmlformats.org/drawingml/2006/main">
            <a:r>
              <a:t/>
            </a:r>
            <a:endParaRPr/>
          </a:p>
          <a:p xmlns:a="http://schemas.openxmlformats.org/drawingml/2006/main">
            <a:r>
              <a:t>First likely failure: pause the clinic. Open ChatGPT or chatgpt.com with the approved company account and paste this complete Setup Helper rescue prompt without shortening it:</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The facilitator or helper acts; the volunteer performs only unavoidable login or permission steps.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PowerShell, not Command Prompt, for the two displayed installer commands. The Claude Code installer does not require Administrator access. Git for Windows is recommended for native Windows; GitHub Desktop remains the default company workflow for nontechnical users.</a:t>
            </a:r>
            <a:endParaRPr/>
          </a:p>
          <a:p xmlns:a="http://schemas.openxmlformats.org/drawingml/2006/main">
            <a:r>
              <a:t/>
            </a:r>
            <a:endParaRPr/>
          </a:p>
          <a:p xmlns:a="http://schemas.openxmlformats.org/drawingml/2006/main">
            <a:r>
              <a:t>If the shell or installer is unclear, stop and use the complete Setup Helper rescue prompt instead of trying random commands.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path: obtain and verify the public release first, then attach Codex and any approved challenger to the separate work project. Do not use the distribution repository as the live-work repository. Beginners follow the same architecture through the Setup Helper without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https://github.com/kairali-digital/ai-human-workspace/releases/tag/v1.1.0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Codex CLI works inside the selected local repository. Use its interactive review before shipping and preserve Git checkpoints around a task. The current local CLI was verified as codex-cli 0.147.0.</a:t>
            </a:r>
            <a:endParaRPr/>
          </a:p>
          <a:p xmlns:a="http://schemas.openxmlformats.org/drawingml/2006/main">
            <a:r>
              <a:t/>
            </a:r>
            <a:endParaRPr/>
          </a:p>
          <a:p xmlns:a="http://schemas.openxmlformats.org/drawingml/2006/main">
            <a:r>
              <a:t>If NOT SET is returned, setup may be correct but no task is ruled; do not invent one.</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command shown is supported by the locally verified Claude Code 2.1.226. The official documentation confirms --model and --permission-mode; the local CLI confirms --effort max. Claude Code requires existing approved account access. This clinic authorizes no subscription, seat purchase or upgrade. Volunteers without access observe the facilitator's challenge.</a:t>
            </a:r>
            <a:endParaRPr/>
          </a:p>
          <a:p xmlns:a="http://schemas.openxmlformats.org/drawingml/2006/main">
            <a:r>
              <a:t/>
            </a:r>
            <a:endParaRPr/>
          </a:p>
          <a:p xmlns:a="http://schemas.openxmlformats.org/drawingml/2006/main">
            <a:r>
              <a:t>Do not use bypassPermissions or dangerously-skip-permissions. Plan mode can read and run exploration checks but does not edit the source, so approve only commands whose read-only effect is understood.</a:t>
            </a:r>
            <a:endParaRPr/>
          </a:p>
          <a:p xmlns:a="http://schemas.openxmlformats.org/drawingml/2006/main">
            <a:r>
              <a:t/>
            </a:r>
            <a:endParaRPr/>
          </a:p>
          <a:p xmlns:a="http://schemas.openxmlformats.org/drawingml/2006/main">
            <a:r>
              <a:t>[Sources]</a:t>
            </a:r>
            <a:endParaRPr/>
          </a:p>
          <a:p xmlns:a="http://schemas.openxmlformats.org/drawingml/2006/main">
            <a:r>
              <a:t>- https://code.claude.com/docs/en/cli-usage</a:t>
            </a:r>
            <a:endParaRPr/>
          </a:p>
          <a:p xmlns:a="http://schemas.openxmlformats.org/drawingml/2006/main">
            <a:r>
              <a:t>- https://code.claude.com/docs/en/installation</a:t>
            </a:r>
            <a:endParaRPr/>
          </a:p>
          <a:p xmlns:a="http://schemas.openxmlformats.org/drawingml/2006/main">
            <a:r>
              <a:t>- https://code.claude.com/docs/en/permission-modes</a:t>
            </a:r>
            <a:endParaRPr/>
          </a:p>
          <a:p xmlns:a="http://schemas.openxmlformats.org/drawingml/2006/main">
            <a:r>
              <a:t>- Local claude --help and claude --version,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model is deliberately assigned a different job: challenge the candidate and its evidence. It does not co-author silently, grant permissions, push changes or decide that work is complete.</a:t>
            </a:r>
            <a:endParaRPr/>
          </a:p>
          <a:p xmlns:a="http://schemas.openxmlformats.org/drawingml/2006/main">
            <a:r>
              <a:t/>
            </a:r>
            <a:endParaRPr/>
          </a:p>
          <a:p xmlns:a="http://schemas.openxmlformats.org/drawingml/2006/main">
            <a:r>
              <a:t>Say: “A disagreement is useful only when it points to evidence we can test.”</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Distribute the Battle-Test Prompt Card now. Paste this exact prompt after launching Claude in plan mode:</a:t>
            </a:r>
            <a:endParaRPr/>
          </a:p>
          <a:p xmlns:a="http://schemas.openxmlformats.org/drawingml/2006/main">
            <a:r>
              <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the exact response headings from the prompt card. If Claude marks BLOCK without a precise evidence reference and user impact, ask it to substantiate or withdraw the blocker.</a:t>
            </a:r>
            <a:endParaRPr/>
          </a:p>
          <a:p xmlns:a="http://schemas.openxmlformats.org/drawingml/2006/main">
            <a:r>
              <a:t/>
            </a:r>
            <a:endParaRPr/>
          </a:p>
          <a:p xmlns:a="http://schemas.openxmlformats.org/drawingml/2006/main">
            <a:r>
              <a:t>Full prompt:</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prompts for the reviewer, not permission to enter specialist systems.</a:t>
            </a:r>
            <a:endParaRPr/>
          </a:p>
          <a:p xmlns:a="http://schemas.openxmlformats.org/drawingml/2006/main">
            <a:r>
              <a:t/>
            </a:r>
            <a:endParaRPr/>
          </a:p>
          <a:p xmlns:a="http://schemas.openxmlformats.org/drawingml/2006/main">
            <a:r>
              <a:t>Suggested add-ons:</a:t>
            </a:r>
            <a:endParaRPr/>
          </a:p>
          <a:p xmlns:a="http://schemas.openxmlformats.org/drawingml/2006/main">
            <a:r>
              <a:t>- Presentation: inspect narrative order, speaker notes, handout timing, links, sources, overflow and print readiness.</a:t>
            </a:r>
            <a:endParaRPr/>
          </a:p>
          <a:p xmlns:a="http://schemas.openxmlformats.org/drawingml/2006/main">
            <a:r>
              <a:t>- Website: inspect mobile, accessibility, forms, redirects and live-change boundary.</a:t>
            </a:r>
            <a:endParaRPr/>
          </a:p>
          <a:p xmlns:a="http://schemas.openxmlformats.org/drawingml/2006/main">
            <a:r>
              <a:t>- Data/FMS: inspect formulas, exact row scope, batch cap, read/write boundary and timeout/retry evidence.</a:t>
            </a:r>
            <a:endParaRPr/>
          </a:p>
          <a:p xmlns:a="http://schemas.openxmlformats.org/drawingml/2006/main">
            <a:r>
              <a:t>- Shopify/campaign: inspect claims, audience assumptions, publication/spend boundaries and rollback.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Akshar Marketing Science skill for buyer understanding, evidence-backed MCB/ARC/KIT work, content creation or pre-ship review. It keeps the two Four-Phase models separate and never invents NDFF, claims, price, urgency or approval.</a:t>
            </a:r>
            <a:endParaRPr/>
          </a:p>
          <a:p xmlns:a="http://schemas.openxmlformats.org/drawingml/2006/main">
            <a:r>
              <a:t/>
            </a:r>
            <a:endParaRPr/>
          </a:p>
          <a:p xmlns:a="http://schemas.openxmlformats.org/drawingml/2006/main">
            <a:r>
              <a:t>Drive cross-check: the original Ultimate Sales Engine class-notes PDF says Mass Control Bait. The later “Mass Control Bed” expansion is a transcription error in a derived extraction.</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Akshar Yadav / go-science-skill.zip and original source files</a:t>
            </a:r>
            <a:endParaRPr/>
          </a:p>
          <a:p xmlns:a="http://schemas.openxmlformats.org/drawingml/2006/main">
            <a:r>
              <a:t>- Original Drive PDF: 24th_Sep_Class_Notes-Ultimate_Sales_Engine - Rishabh Marketing Kairali.pdf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Rahul Sales System skill to make a sales lane observable and testable. It retains SPIN as Kairali's discovery spine, separates NBD/CRR and sales/operations, makes handoffs visible and proposes one bounded pilot.</a:t>
            </a:r>
            <a:endParaRPr/>
          </a:p>
          <a:p xmlns:a="http://schemas.openxmlformats.org/drawingml/2006/main">
            <a:r>
              <a:t/>
            </a:r>
            <a:endParaRPr/>
          </a:p>
          <a:p xmlns:a="http://schemas.openxmlformats.org/drawingml/2006/main">
            <a:r>
              <a:t>It does not reproduce the course, promise performance or turn source ratios into Kairali facts. Week 12 is absent from the supplied weekly ZIP.</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Rahul Jain / weekly notes, consolidated ASP notes and advanced sales 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advanced, command-line clinic slide only. The v1.1.0 lifecycle verifies the component catalog and hashes. Choose exactly one role-approved skill per test. Installation, upgrade and removal operate only on managed system/component files; employee state is preserved and the prior component is archived. Beginners use the Setup Helper and are never asked to type these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https://github.com/kairali-digital/ai-human-workspace/releases/tag/v1.1.0</a:t>
            </a:r>
            <a:endParaRPr/>
          </a:p>
          <a:p xmlns:a="http://schemas.openxmlformats.org/drawingml/2006/main">
            <a:r>
              <a:t>- Kairali public release: docs/LIFECYCLE.md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resolve disagreement by AI majority. First demand exact evidence, then run the owned validator and finally apply repository rules and the human authority boundary. A new idea becomes a registered row; it does not hijack the live task.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Public-read access removes the need to invite roughly 200 employees to the distribution repository. It does not remove private-work controls. Staff receive access only to a named private project needed for their role; connected accounts use the approved company identity; organization Owner remains an exceptional administrative/recovery role.</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proof has two parts: verify the managed public-release version, then verify the attached work-project path and operating files. A version check alone does not prove the correct project is open.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https://github.com/kairali-digital/ai-human-workspace/releases/tag/v1.1.0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c0ac76f566469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0b3d6ef6cc4d6b" /><Relationship Type="http://schemas.openxmlformats.org/officeDocument/2006/relationships/slideLayout" Target="/ppt/slideLayouts/slideLayout1.xml" Id="R07730edecc22446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730edecc22446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e0c0a6fae64eff" /><Relationship Type="http://schemas.openxmlformats.org/officeDocument/2006/relationships/notesSlide" Target="/ppt/notesSlides/notesSlide1.xml" Id="Rb73ce520b1794d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6fedbec2b6417b" /><Relationship Type="http://schemas.openxmlformats.org/officeDocument/2006/relationships/image" Target="/ppt/media/image.png" Id="R2f4fd99df4fa4af3" /><Relationship Type="http://schemas.openxmlformats.org/officeDocument/2006/relationships/notesSlide" Target="/ppt/notesSlides/notesSlide2.xml" Id="R62b8f6c202294b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e0493acd3d403d" /><Relationship Type="http://schemas.openxmlformats.org/officeDocument/2006/relationships/notesSlide" Target="/ppt/notesSlides/notesSlide3.xml" Id="R600e19ee99904e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64199af7704881" /><Relationship Type="http://schemas.openxmlformats.org/officeDocument/2006/relationships/notesSlide" Target="/ppt/notesSlides/notesSlide4.xml" Id="Rcd26a5f337bb47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877b9d79ea4389" /><Relationship Type="http://schemas.openxmlformats.org/officeDocument/2006/relationships/notesSlide" Target="/ppt/notesSlides/notesSlide5.xml" Id="R461ee0ef766344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5ba9a7fa2a4759" /><Relationship Type="http://schemas.openxmlformats.org/officeDocument/2006/relationships/notesSlide" Target="/ppt/notesSlides/notesSlide6.xml" Id="Re605b23eebe94c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90fa488f7b4d7e" /><Relationship Type="http://schemas.openxmlformats.org/officeDocument/2006/relationships/notesSlide" Target="/ppt/notesSlides/notesSlide7.xml" Id="Rf1bfa8c1172840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16c2233e8140bb" /><Relationship Type="http://schemas.openxmlformats.org/officeDocument/2006/relationships/image" Target="/ppt/media/image2.png" Id="Rc2332ddb2a144d7c" /><Relationship Type="http://schemas.openxmlformats.org/officeDocument/2006/relationships/notesSlide" Target="/ppt/notesSlides/notesSlide8.xml" Id="R05a614a7761a47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9c0de2c19e426d" /><Relationship Type="http://schemas.openxmlformats.org/officeDocument/2006/relationships/image" Target="/ppt/media/image2.png" Id="R66d268bfea484a42" /><Relationship Type="http://schemas.openxmlformats.org/officeDocument/2006/relationships/notesSlide" Target="/ppt/notesSlides/notesSlide9.xml" Id="R59a3047325b849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ac409af81e4089" /><Relationship Type="http://schemas.openxmlformats.org/officeDocument/2006/relationships/image" Target="/ppt/media/image3.png" Id="R42a59b49e6f44519" /><Relationship Type="http://schemas.openxmlformats.org/officeDocument/2006/relationships/notesSlide" Target="/ppt/notesSlides/notesSlide10.xml" Id="R408d9b1aa7534b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143babe2c24540" /><Relationship Type="http://schemas.openxmlformats.org/officeDocument/2006/relationships/notesSlide" Target="/ppt/notesSlides/notesSlide11.xml" Id="R9a96ef9c7a434a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f0f5586750a4e75" /><Relationship Type="http://schemas.openxmlformats.org/officeDocument/2006/relationships/notesSlide" Target="/ppt/notesSlides/notesSlide12.xml" Id="Rf535f16ec1e24e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db6e1a80254512" /><Relationship Type="http://schemas.openxmlformats.org/officeDocument/2006/relationships/image" Target="/ppt/media/image.png" Id="R97f94748b042412c" /><Relationship Type="http://schemas.openxmlformats.org/officeDocument/2006/relationships/notesSlide" Target="/ppt/notesSlides/notesSlide13.xml" Id="R4640f1b5c48f47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3b0289f96648b3" /><Relationship Type="http://schemas.openxmlformats.org/officeDocument/2006/relationships/image" Target="/ppt/media/image4.png" Id="Redd559ab91af4506" /><Relationship Type="http://schemas.openxmlformats.org/officeDocument/2006/relationships/image" Target="/ppt/media/image5.png" Id="R4c6ce37051894f6d" /><Relationship Type="http://schemas.openxmlformats.org/officeDocument/2006/relationships/image" Target="/ppt/media/image6.png" Id="Rcb2d62051bb74d16" /><Relationship Type="http://schemas.openxmlformats.org/officeDocument/2006/relationships/notesSlide" Target="/ppt/notesSlides/notesSlide14.xml" Id="R262759fb0a6841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af4ffa68c64e74" /><Relationship Type="http://schemas.openxmlformats.org/officeDocument/2006/relationships/notesSlide" Target="/ppt/notesSlides/notesSlide15.xml" Id="R6a5188d5820b47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ac09ec5d19141e6" /><Relationship Type="http://schemas.openxmlformats.org/officeDocument/2006/relationships/notesSlide" Target="/ppt/notesSlides/notesSlide16.xml" Id="R0e49fdcbc2314e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f99e0d78d94e1e" /><Relationship Type="http://schemas.openxmlformats.org/officeDocument/2006/relationships/notesSlide" Target="/ppt/notesSlides/notesSlide17.xml" Id="R62825acab80947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f3b253226324ebd" /><Relationship Type="http://schemas.openxmlformats.org/officeDocument/2006/relationships/notesSlide" Target="/ppt/notesSlides/notesSlide18.xml" Id="R5f23d055e8f74d6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5d4d28d81664132" /><Relationship Type="http://schemas.openxmlformats.org/officeDocument/2006/relationships/notesSlide" Target="/ppt/notesSlides/notesSlide19.xml" Id="R6ad09021cbb742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6d3d992ed894448" /><Relationship Type="http://schemas.openxmlformats.org/officeDocument/2006/relationships/image" Target="/ppt/media/image4.png" Id="R03957f14340548d2" /><Relationship Type="http://schemas.openxmlformats.org/officeDocument/2006/relationships/image" Target="/ppt/media/image5.png" Id="R2c9d92e74f664b9d" /><Relationship Type="http://schemas.openxmlformats.org/officeDocument/2006/relationships/image" Target="/ppt/media/image6.png" Id="R9ffb806520d04a55" /><Relationship Type="http://schemas.openxmlformats.org/officeDocument/2006/relationships/notesSlide" Target="/ppt/notesSlides/notesSlide20.xml" Id="Rc134ffced00249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85f36d38d4a40a9" /><Relationship Type="http://schemas.openxmlformats.org/officeDocument/2006/relationships/notesSlide" Target="/ppt/notesSlides/notesSlide21.xml" Id="R5627cc27f56f4c9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3423fefa7514d93" /><Relationship Type="http://schemas.openxmlformats.org/officeDocument/2006/relationships/notesSlide" Target="/ppt/notesSlides/notesSlide22.xml" Id="R04a0f4d17a174fe2"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BONUS  ·  STAY-BACK ADVANCED CLINIC</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an AI challenger?</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Add only the capabilities your work can prove.</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Optional for advanced volunteers. The beginner rollout has ended.</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SAME PROJECT  ·  RIGHT CAPABILITY  ·  EVIDENCE WINS</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12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ADVANCED BOUNDARY</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The CLI is a cockpit - not a second system.</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Desktop apps remain the company default.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2f4fd99df4fa4af3"/>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Stay only if you want command-line control and can keep the approved project visible.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Same AGENTS.md. Same cursor. Same permissions. Same proof.</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8646290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ADVANCED TOOL MAP</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 only what your role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CODEX CLI</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primary build + verify</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challenge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checkpoint + diff</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GH</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optional GitHub commands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RELEASE IS THE STANDARD SOURCE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v1.1.0 for the core, company kit and governed skills. GitHub Desktop or a ZIP is enough; add CLI only for a proven role need.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3</a:t>
            </a:r>
            <a:endParaRPr sz="900"/>
          </a:p>
        </p:txBody>
      </p:sp>
    </p:spTree>
    <p:extLst>
      <p:ext uri="{BB962C8B-B14F-4D97-AF65-F5344CB8AC3E}">
        <p14:creationId xmlns:p14="http://schemas.microsoft.com/office/powerpoint/2010/main" val="470947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FOUR DIFFERENT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Installed is not the same as ready.</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APP / CONNECTOR</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account + data</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SKILL</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reusable judgment + workflow</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MCP TOOL</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live action surface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CLI</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command-line cockpit</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CONNECTED  ≠  CONFIGURED  ≠  AUTHORIZED  ≠  PROVEN</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Add a layer only when the role has a real use case, the account is approved and a DONE WHEN proof exists.</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09470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MUST-HAVE  ·  ADVANCED BASELINE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Small, approved and provable.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KIT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v1.1.0 · hash checked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WORK PROJECT</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live state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ASK MODE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Setup Helper · least privilege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ONE PROOF</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 use case passes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START WITH PUBLIC v1.1 · MOVE TO THE NAMED PRIVATE OR LOCAL WORK PROJECT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The public repository holds clean system files only. Company work and secrets never go there.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470947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CHOOSE BY USE CASE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lane that serves your work.</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OPS + DOCUMENTS</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Drive · Gmail · Docs · Sheets · Slides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SALES + MARKETING</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Akshar · Rahul · explicit role opt-in</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 + SHOPIFY</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GitHub · Vercel · Shopify · browser QA</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FMS + DATA</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Sheets · Excel · Drive · exact scope</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ROLE NEED → EXPLICIT OPT-IN → TEST → KEEP OR REMOVE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Web may add Playwright, Next.js or Cloudflare. Sentry is useful only after a live app is actually instrumented.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SUGGESTED  ·  SAFEGUARDS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Configure per repository or live system.</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plan-mode challenge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GITLEAKS + LEFTHOOK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secrets + pre-commit checks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MISE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project runtime pinning</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SENTRY</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only instrumented production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GH IS OPTIONAL  ·  AUTHENTICATE, CONFIGURE AND PIN ONLY WHEN NEEDED</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Tools installed on this Mac still need repo config, account auth or production setup before they can prove anything.</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MAC / LINUX</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Open Terminal. 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https://chatgpt.com/codex/install.sh | sh</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https://claude.ai/install.sh | bash</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official native installers only after Setup Helper or IT confirms the command is missing.</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c2332ddb2a144d7c"/>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Sign in only with approved company accounts. Never paste passwords or one-time codes into a prompt.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2773235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WINDOWS POWERSHELL</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powershell -ExecutionPolicy ByPass -c "irm https://chatgpt.com/codex/install.ps1 | iex"</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irm https://claude.ai/install.ps1 | iex</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Git for Windows is recommended for Claude Code. GitHub Desktop remains allowed.</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66d268bfea484a42"/>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 not approve an Administrator prompt unless Ambuj or IT has named the exact reason.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2773235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PROJECT  ·  TWO SEPARATE HOMES</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Get the system, then open the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Get public release v1.1.0.</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kairali-digital/ai-human-workspace · public · clean distribution</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Open the named live-work project.</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Private operations only when assigned; otherwise use the approved standalone worker. Never store live company work in the public repo.</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42a59b49e6f44519"/>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the lifecycle reports v1.1.0 and both CLIs read the approved work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Distribution is public. Live company state remains private or local and separate.</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10</a:t>
            </a:r>
            <a:endParaRPr sz="900"/>
          </a:p>
        </p:txBody>
      </p:sp>
    </p:spTree>
    <p:extLst>
      <p:ext uri="{BB962C8B-B14F-4D97-AF65-F5344CB8AC3E}">
        <p14:creationId xmlns:p14="http://schemas.microsoft.com/office/powerpoint/2010/main" val="12388373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PRIMARY LOOP  ·  CODEX CLI</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Run the ruled task in Codex.</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inside the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Type codex. Sign in with the approved company ChatGPT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operating state first.</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the one live task, scope, permissions and named validator.</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Work one ruled batch. Review before ship.</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 /review. Inspect the diff, evidence and undo before calling it done.</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Codex executes only inside the approved task. New authority returns to the human.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11</a:t>
            </a:r>
            <a:endParaRPr sz="900"/>
          </a:p>
        </p:txBody>
      </p:sp>
    </p:spTree>
    <p:extLst>
      <p:ext uri="{BB962C8B-B14F-4D97-AF65-F5344CB8AC3E}">
        <p14:creationId xmlns:p14="http://schemas.microsoft.com/office/powerpoint/2010/main" val="7397708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INDEPENDENT REVIEW  ·  CLAUDE CODE</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Launch Claude as the challenger.</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Stay in the same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a second shell in the same repository. Existing approved Claude Code access only.</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highest review effort in plan mode.</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Plan mode blocks source edits. Approve only read-only exploration checks.</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Paste the challenge prompt + your use case.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No approved Claude access? Observe the facilitator. Do not purchase during the clinic.</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claude --model opus --effort max --permission-mode plan</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Plan mode must remain visible. Never use --dangerously-skip-permissions.</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12</a:t>
            </a:r>
            <a:endParaRPr sz="900"/>
          </a:p>
        </p:txBody>
      </p:sp>
    </p:spTree>
    <p:extLst>
      <p:ext uri="{BB962C8B-B14F-4D97-AF65-F5344CB8AC3E}">
        <p14:creationId xmlns:p14="http://schemas.microsoft.com/office/powerpoint/2010/main" val="739770858"/>
      </p:ext>
    </p:extLst>
  </p:cSld>
</p:sld>
</file>

<file path=ppt/slides/slide1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TWO-MODEL CONTROL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Build → challenge → evidence →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Primary model builds. Second model challenges.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97f94748b042412c"/>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SECOND MODEL CHALLENGES  ·  IT DOES NOT AUTHORIZE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A second model can expose blind spots. It does not eliminate bias or override a validator.</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13</a:t>
            </a:r>
            <a:endParaRPr sz="900"/>
          </a:p>
        </p:txBody>
      </p:sp>
    </p:spTree>
    <p:extLst>
      <p:ext uri="{BB962C8B-B14F-4D97-AF65-F5344CB8AC3E}">
        <p14:creationId xmlns:p14="http://schemas.microsoft.com/office/powerpoint/2010/main" val="8646290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REUSABLE CHALLENGE PROMPT</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Tell the reviewer exactly what to attack.</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edd559ab91af4506"/>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Intent + boundaries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User, desired result, exact files and prohibited actions.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4c6ce37051894f6d"/>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Actual evidence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outputs and tests - not the author's summary.</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cb2d62051bb74d16"/>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Failure modes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Facts, numbers, edge cases, bias, drift, security, permissions and proof.</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If evidence is missing, say UNKNOWN. Never invent.</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REVIEW RESPONSE CONTRACT</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Force a useful, auditable answer.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VERDICT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PASS or BLOCK</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BLOCKERS</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exact references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BIAS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blind spots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NEXT</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one safe action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RETURN EXACTLY  ·  NOT A CHATTERING ESSAY</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Also require non-blocking observations and an evidence list. A preference is not a blocker.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4709470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USE-CASE ADD-ONS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checks this job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PPT / PDF</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flow · notes · handouts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WEBSITE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mobile · forms · a11y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DATA + FMS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formulas · scope · timeout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SHOPIFY + CAMPAIGN</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publish · spend</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REPLACE [YOUR USE CASE]  ·  KEEP THE CORE PROMPT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Presentation: link and overflow. Website: live-change boundary. Data/FMS: no writes and batch cap. Shopify/campaign: no publish or spend.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4709470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AKSHAR MARKETING SCIENCE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Buyer insight → ethical message → ship gate.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UNDERSTAND</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MoA · NDFF · buyer evidence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CREATE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MCB · ARC · KIT · journey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REVIEW</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value · sequence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hype · Gate 0 · missing proof</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MCB = MASS CONTROL BAIT  ·  ‘BED’ WAS A TRANSCRIPTION ERROR</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“What would Akshar say?” as a review lens—not an author voice, copied course or release approval.</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4709470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RAHUL SALES SYSTEM</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Observe → map → pilot → review.</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MAP</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NBD · CRR · stages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SEPARATE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selling · operations · handoffs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MEASURE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evidence · formulas · unknowns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PRACTISE</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SPIN · calls · roleplay</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NO INVENTED TARGETS, RATIOS, STAFFING, CONVERSION OR UPLIFT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Deep division of labour is a diagnostic principle. Reorganisation, policy, access and spend stay with the owner.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4709470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PROVE ROLE-APPROVED SKILLS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release. Two explicit opt-ins.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Verify the signed component catalog.</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ai_human.py components --latest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Install only the named role skill.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Akshar or Rahul · approved runtime · --latest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a new session; invoke the exact skill.</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references, evidence block and one safe next action.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Components: kairali-akshar-marketing-science · kairali-rahul-sales-system</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Upgrade or remove only at a checkpoint. The previous copy is archived; employee work is not managed.</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7397708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WHEN THE MODELS DISAGREE</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Disagreement is a gate - not a vote.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3957f14340548d2"/>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Ask for exact evidence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File, slide, line, test result and user impact.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2c9d92e74f664b9d"/>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Run the owned validator</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the actual artifact and repeat the relevant check.</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9ffb806520d04a55"/>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Apply the human rules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AGENTS, locked facts, owner decisions and Gate 0 outrank both models.</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Push back on nonsense. Accept a blocker only when its evidence survives the check.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9021505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GITHUB  ·  TWO ACCESS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Public distribution. Private work. Minimum access.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CORE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ai-human-workspace · read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PRIVATE WORK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role-named project only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CONNECTED ACCOUNT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company identity</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ORG OWNER</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check + recovery owner</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REPO = SYSTEM FILES ONLY · NO COMPANY WORK OR SECRETS</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Staff need no collaborator seat for the public kit. Private operations access remains least privilege; organization Owner is a separate recovery decision.</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4709470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CLINIC EXIT PROOF</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Leave only after the challenge loop works.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Project</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v1.1.0 verified; correct approved work project; AGENTS.md and MASTER_CURSOR.md visible.</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Codex</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One ruled batch reviewed with diff, evidence and undo.</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Claude</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Approved seat or facilitator: verdict saved and one cited claim re-run.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REPO</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v1.1 + path correct</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REVIEW</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prompt used</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VERDICT</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evidence attached</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2026-08-12T15:31:19.8650000Z</dcterms:created>
  <dcterms:modified xsi:type="dcterms:W3CDTF">2026-08-12T15:31:19.8650000Z</dcterms:modified>
</coreProperties>
</file>