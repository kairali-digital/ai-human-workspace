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9b37b3ffd5497d" /><Relationship Type="http://schemas.openxmlformats.org/officeDocument/2006/relationships/extended-properties" Target="/docProps/app.xml" Id="R5f85e01d8c054a60" /><Relationship Type="http://schemas.openxmlformats.org/officeDocument/2006/relationships/officeDocument" Target="/ppt/presentation.xml" Id="R9ab272dc00994059" /></Relationships>
</file>

<file path=ppt/presentation.xml><?xml version="1.0" encoding="utf-8"?>
<p:presentation xmlns:p="http://schemas.openxmlformats.org/presentationml/2006/main">
  <p:sldMasterIdLst>
    <p:sldMasterId xmlns:r="http://schemas.openxmlformats.org/officeDocument/2006/relationships" id="2147483648" r:id="R09d6916ec9334d22"/>
  </p:sldMasterIdLst>
  <p:notesMasterIdLst>
    <p:notesMasterId xmlns:r="http://schemas.openxmlformats.org/officeDocument/2006/relationships" r:id="R6cf2f314bc964370"/>
  </p:notesMasterIdLst>
  <p:sldIdLst>
    <p:sldId xmlns:r="http://schemas.openxmlformats.org/officeDocument/2006/relationships" id="256" r:id="R953e7ffe9b8f4297"/>
    <p:sldId xmlns:r="http://schemas.openxmlformats.org/officeDocument/2006/relationships" id="257" r:id="R0329829addd9411b"/>
    <p:sldId xmlns:r="http://schemas.openxmlformats.org/officeDocument/2006/relationships" id="258" r:id="Ra3bf8af671524a0b"/>
    <p:sldId xmlns:r="http://schemas.openxmlformats.org/officeDocument/2006/relationships" id="259" r:id="Rc5f20c0465064b97"/>
    <p:sldId xmlns:r="http://schemas.openxmlformats.org/officeDocument/2006/relationships" id="260" r:id="Rb3df2b0567854ed5"/>
    <p:sldId xmlns:r="http://schemas.openxmlformats.org/officeDocument/2006/relationships" id="261" r:id="Re275af8c9f5d49e1"/>
    <p:sldId xmlns:r="http://schemas.openxmlformats.org/officeDocument/2006/relationships" id="262" r:id="Re8da60cdcfa14d43"/>
    <p:sldId xmlns:r="http://schemas.openxmlformats.org/officeDocument/2006/relationships" id="263" r:id="Rdb7ef08f73cd4b40"/>
    <p:sldId xmlns:r="http://schemas.openxmlformats.org/officeDocument/2006/relationships" id="264" r:id="Rb0c0190f18114e87"/>
    <p:sldId xmlns:r="http://schemas.openxmlformats.org/officeDocument/2006/relationships" id="265" r:id="R4616c3646d4f46d7"/>
    <p:sldId xmlns:r="http://schemas.openxmlformats.org/officeDocument/2006/relationships" id="266" r:id="R8c2b26cb424a452b"/>
    <p:sldId xmlns:r="http://schemas.openxmlformats.org/officeDocument/2006/relationships" id="267" r:id="R869c4a89869e46a0"/>
    <p:sldId xmlns:r="http://schemas.openxmlformats.org/officeDocument/2006/relationships" id="268" r:id="R0a66d78646f94902"/>
    <p:sldId xmlns:r="http://schemas.openxmlformats.org/officeDocument/2006/relationships" id="269" r:id="Rfaab8c19dcc346d4"/>
    <p:sldId xmlns:r="http://schemas.openxmlformats.org/officeDocument/2006/relationships" id="270" r:id="Rb190ace561994d84"/>
    <p:sldId xmlns:r="http://schemas.openxmlformats.org/officeDocument/2006/relationships" id="271" r:id="R5e46ac57fda54f50"/>
    <p:sldId xmlns:r="http://schemas.openxmlformats.org/officeDocument/2006/relationships" id="272" r:id="Rd6e0519e147e4348"/>
    <p:sldId xmlns:r="http://schemas.openxmlformats.org/officeDocument/2006/relationships" id="273" r:id="R525c4f9c56444f13"/>
    <p:sldId xmlns:r="http://schemas.openxmlformats.org/officeDocument/2006/relationships" id="274" r:id="R1ef7d19051a14454"/>
    <p:sldId xmlns:r="http://schemas.openxmlformats.org/officeDocument/2006/relationships" id="275" r:id="R57da038353a840fa"/>
    <p:sldId xmlns:r="http://schemas.openxmlformats.org/officeDocument/2006/relationships" id="276" r:id="R4d56bb26df4d421b"/>
    <p:sldId xmlns:r="http://schemas.openxmlformats.org/officeDocument/2006/relationships" id="277" r:id="R388d921aa13f44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d98f2093cd9480d" /><Relationship Type="http://schemas.openxmlformats.org/officeDocument/2006/relationships/slideMaster" Target="/ppt/slideMasters/slideMaster1.xml" Id="R09d6916ec9334d22" /><Relationship Type="http://schemas.openxmlformats.org/officeDocument/2006/relationships/notesMaster" Target="/ppt/notesMasters/notesMaster1.xml" Id="R6cf2f314bc964370" /><Relationship Type="http://schemas.openxmlformats.org/officeDocument/2006/relationships/presProps" Target="/ppt/presProps.xml" Id="R39eb9df38c524175" /><Relationship Type="http://schemas.openxmlformats.org/officeDocument/2006/relationships/viewProps" Target="/ppt/viewProps.xml" Id="R5e0d02098a88476c" /><Relationship Type="http://schemas.openxmlformats.org/officeDocument/2006/relationships/tableStyles" Target="/ppt/tableStyles.xml" Id="Rf7233944d46848fa" /><Relationship Type="http://schemas.openxmlformats.org/officeDocument/2006/relationships/slide" Target="/ppt/slides/slide1.xml" Id="R953e7ffe9b8f4297" /><Relationship Type="http://schemas.openxmlformats.org/officeDocument/2006/relationships/slide" Target="/ppt/slides/slide2.xml" Id="R0329829addd9411b" /><Relationship Type="http://schemas.openxmlformats.org/officeDocument/2006/relationships/slide" Target="/ppt/slides/slide3.xml" Id="Ra3bf8af671524a0b" /><Relationship Type="http://schemas.openxmlformats.org/officeDocument/2006/relationships/slide" Target="/ppt/slides/slide4.xml" Id="Rc5f20c0465064b97" /><Relationship Type="http://schemas.openxmlformats.org/officeDocument/2006/relationships/slide" Target="/ppt/slides/slide5.xml" Id="Rb3df2b0567854ed5" /><Relationship Type="http://schemas.openxmlformats.org/officeDocument/2006/relationships/slide" Target="/ppt/slides/slide6.xml" Id="Re275af8c9f5d49e1" /><Relationship Type="http://schemas.openxmlformats.org/officeDocument/2006/relationships/slide" Target="/ppt/slides/slide7.xml" Id="Re8da60cdcfa14d43" /><Relationship Type="http://schemas.openxmlformats.org/officeDocument/2006/relationships/slide" Target="/ppt/slides/slide8.xml" Id="Rdb7ef08f73cd4b40" /><Relationship Type="http://schemas.openxmlformats.org/officeDocument/2006/relationships/slide" Target="/ppt/slides/slide9.xml" Id="Rb0c0190f18114e87" /><Relationship Type="http://schemas.openxmlformats.org/officeDocument/2006/relationships/slide" Target="/ppt/slides/slide10.xml" Id="R4616c3646d4f46d7" /><Relationship Type="http://schemas.openxmlformats.org/officeDocument/2006/relationships/slide" Target="/ppt/slides/slide11.xml" Id="R8c2b26cb424a452b" /><Relationship Type="http://schemas.openxmlformats.org/officeDocument/2006/relationships/slide" Target="/ppt/slides/slide12.xml" Id="R869c4a89869e46a0" /><Relationship Type="http://schemas.openxmlformats.org/officeDocument/2006/relationships/slide" Target="/ppt/slides/slide13.xml" Id="R0a66d78646f94902" /><Relationship Type="http://schemas.openxmlformats.org/officeDocument/2006/relationships/slide" Target="/ppt/slides/slide14.xml" Id="Rfaab8c19dcc346d4" /><Relationship Type="http://schemas.openxmlformats.org/officeDocument/2006/relationships/slide" Target="/ppt/slides/slide15.xml" Id="Rb190ace561994d84" /><Relationship Type="http://schemas.openxmlformats.org/officeDocument/2006/relationships/slide" Target="/ppt/slides/slide16.xml" Id="R5e46ac57fda54f50" /><Relationship Type="http://schemas.openxmlformats.org/officeDocument/2006/relationships/slide" Target="/ppt/slides/slide17.xml" Id="Rd6e0519e147e4348" /><Relationship Type="http://schemas.openxmlformats.org/officeDocument/2006/relationships/slide" Target="/ppt/slides/slide18.xml" Id="R525c4f9c56444f13" /><Relationship Type="http://schemas.openxmlformats.org/officeDocument/2006/relationships/slide" Target="/ppt/slides/slide19.xml" Id="R1ef7d19051a14454" /><Relationship Type="http://schemas.openxmlformats.org/officeDocument/2006/relationships/slide" Target="/ppt/slides/slide20.xml" Id="R57da038353a840fa" /><Relationship Type="http://schemas.openxmlformats.org/officeDocument/2006/relationships/slide" Target="/ppt/slides/slide21.xml" Id="R4d56bb26df4d421b" /><Relationship Type="http://schemas.openxmlformats.org/officeDocument/2006/relationships/slide" Target="/ppt/slides/slide22.xml" Id="R388d921aa13f44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cf19032ffe41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5fb5fa67b34d77" /><Relationship Type="http://schemas.openxmlformats.org/officeDocument/2006/relationships/notesMaster" Target="/ppt/notesMasters/notesMaster1.xml" Id="Rbe9fb992e9ed4c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917c2ec3cd429a" /><Relationship Type="http://schemas.openxmlformats.org/officeDocument/2006/relationships/notesMaster" Target="/ppt/notesMasters/notesMaster1.xml" Id="Rcff128657fa642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b1785b12a34ca0" /><Relationship Type="http://schemas.openxmlformats.org/officeDocument/2006/relationships/notesMaster" Target="/ppt/notesMasters/notesMaster1.xml" Id="R2ac4480102c944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e4331a21cc491b" /><Relationship Type="http://schemas.openxmlformats.org/officeDocument/2006/relationships/notesMaster" Target="/ppt/notesMasters/notesMaster1.xml" Id="R0ed43073b6fb4d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d9bb64c1dd42cb" /><Relationship Type="http://schemas.openxmlformats.org/officeDocument/2006/relationships/notesMaster" Target="/ppt/notesMasters/notesMaster1.xml" Id="Rb874513aae2248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d69ca0671c4bb4" /><Relationship Type="http://schemas.openxmlformats.org/officeDocument/2006/relationships/notesMaster" Target="/ppt/notesMasters/notesMaster1.xml" Id="R40802863a1c749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2adc3b933842ef" /><Relationship Type="http://schemas.openxmlformats.org/officeDocument/2006/relationships/notesMaster" Target="/ppt/notesMasters/notesMaster1.xml" Id="R2676adf3478045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abad13c7574f0d" /><Relationship Type="http://schemas.openxmlformats.org/officeDocument/2006/relationships/notesMaster" Target="/ppt/notesMasters/notesMaster1.xml" Id="Rfe8ce525ac3243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c2ce37d3d24d8b" /><Relationship Type="http://schemas.openxmlformats.org/officeDocument/2006/relationships/notesMaster" Target="/ppt/notesMasters/notesMaster1.xml" Id="Reb7ee3c02ab84c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5a8ebf6551463d" /><Relationship Type="http://schemas.openxmlformats.org/officeDocument/2006/relationships/notesMaster" Target="/ppt/notesMasters/notesMaster1.xml" Id="R3c954747390b4e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1cc3cb41494595" /><Relationship Type="http://schemas.openxmlformats.org/officeDocument/2006/relationships/notesMaster" Target="/ppt/notesMasters/notesMaster1.xml" Id="R35e61a45cdef4f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ac0189989d447e" /><Relationship Type="http://schemas.openxmlformats.org/officeDocument/2006/relationships/notesMaster" Target="/ppt/notesMasters/notesMaster1.xml" Id="Rc1ce0d4b5ab44f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6992af6cac4ef6" /><Relationship Type="http://schemas.openxmlformats.org/officeDocument/2006/relationships/notesMaster" Target="/ppt/notesMasters/notesMaster1.xml" Id="Rc3aee09c378545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85accc19ef4778" /><Relationship Type="http://schemas.openxmlformats.org/officeDocument/2006/relationships/notesMaster" Target="/ppt/notesMasters/notesMaster1.xml" Id="R27119cd93b1d4a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3662f0c041a497a" /><Relationship Type="http://schemas.openxmlformats.org/officeDocument/2006/relationships/notesMaster" Target="/ppt/notesMasters/notesMaster1.xml" Id="R85e5cb335b0e494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cc110562c04f97" /><Relationship Type="http://schemas.openxmlformats.org/officeDocument/2006/relationships/notesMaster" Target="/ppt/notesMasters/notesMaster1.xml" Id="Re5befd453b45499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c94dec89e984833" /><Relationship Type="http://schemas.openxmlformats.org/officeDocument/2006/relationships/notesMaster" Target="/ppt/notesMasters/notesMaster1.xml" Id="Rd18c928982f64b9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ae4e3aa0d1046b7" /><Relationship Type="http://schemas.openxmlformats.org/officeDocument/2006/relationships/notesMaster" Target="/ppt/notesMasters/notesMaster1.xml" Id="R062a68aeddc94ba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f6799c970264df2" /><Relationship Type="http://schemas.openxmlformats.org/officeDocument/2006/relationships/notesMaster" Target="/ppt/notesMasters/notesMaster1.xml" Id="Redb2a83c61484a1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4d414861aa840f5" /><Relationship Type="http://schemas.openxmlformats.org/officeDocument/2006/relationships/notesMaster" Target="/ppt/notesMasters/notesMaster1.xml" Id="R22734f09bdb745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97f1bdc2d2d4c40" /><Relationship Type="http://schemas.openxmlformats.org/officeDocument/2006/relationships/notesMaster" Target="/ppt/notesMasters/notesMaster1.xml" Id="Re72c6f2cfc53424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32751af3af4ebd" /><Relationship Type="http://schemas.openxmlformats.org/officeDocument/2006/relationships/notesMaster" Target="/ppt/notesMasters/notesMaster1.xml" Id="R00b79d3a931d41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open this separate deck only after slide 26 of the beginner deck and after non-volunteers leave. The main rollout is complete before this optional clinic begins.</a:t>
            </a:r>
            <a:endParaRPr/>
          </a:p>
          <a:p xmlns:a="http://schemas.openxmlformats.org/drawingml/2006/main">
            <a:r>
              <a:t/>
            </a:r>
            <a:endParaRPr/>
          </a:p>
          <a:p xmlns:a="http://schemas.openxmlformats.org/drawingml/2006/main">
            <a:r>
              <a:t>Outcome: volunteers can distinguish apps/connectors, skills, MCP tools and CLIs; choose a minimum baseline plus role-specific additions; invoke the two Kairali trainer adaptations; and run the existing independent challenge loop.</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is not a faster route around the rules. It is another interface to the same controlled operating system.”</a:t>
            </a:r>
            <a:endParaRPr/>
          </a:p>
          <a:p xmlns:a="http://schemas.openxmlformats.org/drawingml/2006/main">
            <a:r>
              <a:t/>
            </a:r>
            <a:endParaRPr/>
          </a:p>
          <a:p xmlns:a="http://schemas.openxmlformats.org/drawingml/2006/main">
            <a:r>
              <a:t>Do not install every app or CLI. Install only what the volunteer's approved role requires. A volunteer can return to the desktop workflow at any time.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v1.2.0 release is the common, clean distribution source. It does not contain live company data. Beginners can use the Setup Helper and a ZIP; technical users may use GitHub Desktop or Git. CLI remains optional and role-proven.</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https://github.com/kairali-digital/ai-human-workspace/releases/tag/v1.2.0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distinction before showing an inventory. An app/connector provides approved account context or data. A skill carries reusable instructions and judgment. MCP exposes live tools/actions. A CLI is a command-line interface. A plugin may package more than one component, but installing one component does not prove the others are authenticated or configured.</a:t>
            </a:r>
            <a:endParaRPr/>
          </a:p>
          <a:p xmlns:a="http://schemas.openxmlformats.org/drawingml/2006/main">
            <a:r>
              <a:t/>
            </a:r>
            <a:endParaRPr/>
          </a:p>
          <a:p xmlns:a="http://schemas.openxmlformats.org/drawingml/2006/main">
            <a:r>
              <a:t>Ask: “What job will this layer do, what may it touch and what visible proof says it works?”</a:t>
            </a:r>
            <a:endParaRPr/>
          </a:p>
          <a:p xmlns:a="http://schemas.openxmlformats.org/drawingml/2006/main">
            <a:r>
              <a:t/>
            </a:r>
            <a:endParaRPr/>
          </a:p>
          <a:p xmlns:a="http://schemas.openxmlformats.org/drawingml/2006/main">
            <a:r>
              <a:t>HANDOUT CUE: distribute ADVANCED-CAPABILITY-AND-TRAINER-SKILLS-GUIDE-v1 now, after this slide. Keep the Battle-Test Card held until slide 14.</a:t>
            </a:r>
            <a:endParaRPr/>
          </a:p>
          <a:p xmlns:a="http://schemas.openxmlformats.org/drawingml/2006/main">
            <a:r>
              <a:t/>
            </a:r>
            <a:endParaRPr/>
          </a:p>
          <a:p xmlns:a="http://schemas.openxmlformats.org/drawingml/2006/main">
            <a:r>
              <a:t>Forward cue: the exact governed skill names appear on slides 17–19; do not invoke a generic go-science skill.</a:t>
            </a:r>
            <a:endParaRPr/>
          </a:p>
          <a:p xmlns:a="http://schemas.openxmlformats.org/drawingml/2006/main">
            <a:r>
              <a:t/>
            </a:r>
            <a:endParaRPr/>
          </a:p>
          <a:p xmlns:a="http://schemas.openxmlformats.org/drawingml/2006/main">
            <a:r>
              <a:t>[Sources]</a:t>
            </a:r>
            <a:endParaRPr/>
          </a:p>
          <a:p xmlns:a="http://schemas.openxmlformats.org/drawingml/2006/main">
            <a:r>
              <a:t>- https://learn.chatgpt.com/docs/plugins</a:t>
            </a:r>
            <a:endParaRPr/>
          </a:p>
          <a:p xmlns:a="http://schemas.openxmlformats.org/drawingml/2006/main">
            <a:r>
              <a:t>- Owner attachment: pasted-text.txt (workstation capability audit,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two homes. The public release provides governed system files, company kit, homework starters and optional skills. The work project is separate: a named private operations repository only when assigned, otherwise an approved local worker.</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https://github.com/kairali-digital/ai-human-workspace/releases/tag/v1.2.0</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Akshar and Rahul skills ship in the kit but are not universally activated. Install or enable one only for a named role need, test it with a bounded prompt and remove it if it does not prove useful. Other employees use the shared operating architecture without either trainer skill.</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https://github.com/kairali-digital/ai-human-workspace/releases/tag/v1.2.0</a:t>
            </a:r>
            <a:endParaRPr/>
          </a:p>
          <a:p xmlns:a="http://schemas.openxmlformats.org/drawingml/2006/main">
            <a:r>
              <a:t>- Kairali repository: packages/kairali/skills/</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does not mean mandatory. Claude Code is an existing-seat independent challenger. gitleaks and lefthook need repository configuration. mise needs a project .mise.toml. Sentry needs a live app, SDK/DSN, source maps and environment separation. GitHub CLI is optional. Unused or unauthenticated connectors should not be treated as capability.</a:t>
            </a:r>
            <a:endParaRPr/>
          </a:p>
          <a:p xmlns:a="http://schemas.openxmlformats.org/drawingml/2006/main">
            <a:r>
              <a:t/>
            </a:r>
            <a:endParaRPr/>
          </a:p>
          <a:p xmlns:a="http://schemas.openxmlformats.org/drawingml/2006/main">
            <a:r>
              <a:t>Do not mass-install Docker, another AI IDE or every MCP.</a:t>
            </a:r>
            <a:endParaRPr/>
          </a:p>
          <a:p xmlns:a="http://schemas.openxmlformats.org/drawingml/2006/main">
            <a:r>
              <a:t/>
            </a:r>
            <a:endParaRPr/>
          </a:p>
          <a:p xmlns:a="http://schemas.openxmlformats.org/drawingml/2006/main">
            <a:r>
              <a:t>[Sources]</a:t>
            </a:r>
            <a:endParaRPr/>
          </a:p>
          <a:p xmlns:a="http://schemas.openxmlformats.org/drawingml/2006/main">
            <a:r>
              <a:t>- Owner attachment: pasted-text.txt (workstation capability audit, 12 August 2026)</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one command at a time. If either version command succeeds, do not reinstall that tool. The Codex and Claude native installers shown are the current official routes. GitHub Desktop may already include the Git workflow the volunteer needs; gh remains optional.</a:t>
            </a:r>
            <a:endParaRPr/>
          </a:p>
          <a:p xmlns:a="http://schemas.openxmlformats.org/drawingml/2006/main">
            <a:r>
              <a:t/>
            </a:r>
            <a:endParaRPr/>
          </a:p>
          <a:p xmlns:a="http://schemas.openxmlformats.org/drawingml/2006/main">
            <a:r>
              <a:t>First likely failure: pause the clinic. Open ChatGPT or chatgpt.com with the approved company account and paste this complete Setup Helper rescue prompt without shortening it:</a:t>
            </a:r>
            <a:endParaRPr/>
          </a:p>
          <a:p xmlns:a="http://schemas.openxmlformats.org/drawingml/2006/main">
            <a:r>
              <a:t/>
            </a:r>
            <a:endParaRPr/>
          </a:p>
          <a:p xmlns:a="http://schemas.openxmlformats.org/drawingml/2006/main">
            <a:r>
              <a:t>I am stuck setting up my Kairali AI workspace. I do not know Terminal, Python, Git, GitHub, folders, projects or Codex.</a:t>
            </a:r>
            <a:endParaRPr/>
          </a:p>
          <a:p xmlns:a="http://schemas.openxmlformats.org/drawingml/2006/main">
            <a:r>
              <a:t/>
            </a:r>
            <a:endParaRPr/>
          </a:p>
          <a:p xmlns:a="http://schemas.openxmlformats.org/drawingml/2006/main">
            <a:r>
              <a:t>Be my Setup Helper.</a:t>
            </a:r>
            <a:endParaRPr/>
          </a:p>
          <a:p xmlns:a="http://schemas.openxmlformats.org/drawingml/2006/main">
            <a:r>
              <a:t/>
            </a:r>
            <a:endParaRPr/>
          </a:p>
          <a:p xmlns:a="http://schemas.openxmlformats.org/drawingml/2006/main">
            <a:r>
              <a:t>1. Work out whether I am on Mac or Windows and check what is already installed before changing anything.</a:t>
            </a:r>
            <a:endParaRPr/>
          </a:p>
          <a:p xmlns:a="http://schemas.openxmlformats.org/drawingml/2006/main">
            <a:r>
              <a:t>2. Do every approved safe setup step you can yourself.</a:t>
            </a:r>
            <a:endParaRPr/>
          </a:p>
          <a:p xmlns:a="http://schemas.openxmlformats.org/drawingml/2006/main">
            <a:r>
              <a:t>3. If a click, login, account choice or permission must be done by me, show me only that one action in plain Mac or Windows words. Wait for me, then verify it worked.</a:t>
            </a:r>
            <a:endParaRPr/>
          </a:p>
          <a:p xmlns:a="http://schemas.openxmlformats.org/drawingml/2006/main">
            <a:r>
              <a:t>4. Never ask me to use Terminal, PowerShell, Command Prompt, Python, a CLI or type a command.</a:t>
            </a:r>
            <a:endParaRPr/>
          </a:p>
          <a:p xmlns:a="http://schemas.openxmlformats.org/drawingml/2006/main">
            <a:r>
              <a:t>5. Never ask for, read or repeat my password or one-time code.</a:t>
            </a:r>
            <a:endParaRPr/>
          </a:p>
          <a:p xmlns:a="http://schemas.openxmlformats.org/drawingml/2006/main">
            <a:r>
              <a:t>6. Use only my approved company account and company folder.</a:t>
            </a:r>
            <a:endParaRPr/>
          </a:p>
          <a:p xmlns:a="http://schemas.openxmlformats.org/drawingml/2006/main">
            <a:r>
              <a:t>7. Keep permissions on Ask for approval. Never choose Full access.</a:t>
            </a:r>
            <a:endParaRPr/>
          </a:p>
          <a:p xmlns:a="http://schemas.openxmlformats.org/drawingml/2006/main">
            <a:r>
              <a:t>8. For the shared Kairali workspace, use GitHub Desktop buttons. For a standalone local project, do not install GitHub unless it is actually needed.</a:t>
            </a:r>
            <a:endParaRPr/>
          </a:p>
          <a:p xmlns:a="http://schemas.openxmlformats.org/drawingml/2006/main">
            <a:r>
              <a:t>9. Continue until ChatGPT is installed, Codex is open, the correct project is connected, AGENTS.md is visible, approved apps are connected when required, and the startup test passes.</a:t>
            </a:r>
            <a:endParaRPr/>
          </a:p>
          <a:p xmlns:a="http://schemas.openxmlformats.org/drawingml/2006/main">
            <a:r>
              <a:t>10. If you cannot continue safely, write one OPEN_REGISTER.md row with the failed step, exact error, what you checked, and the one human access or decision needed. Then tell me whether Ambuj or Abilash must help.</a:t>
            </a:r>
            <a:endParaRPr/>
          </a:p>
          <a:p xmlns:a="http://schemas.openxmlformats.org/drawingml/2006/main">
            <a:r>
              <a:t/>
            </a:r>
            <a:endParaRPr/>
          </a:p>
          <a:p xmlns:a="http://schemas.openxmlformats.org/drawingml/2006/main">
            <a:r>
              <a:t>Do not teach me how the machinery works unless I ask. Start now by checking what I already have.</a:t>
            </a:r>
            <a:endParaRPr/>
          </a:p>
          <a:p xmlns:a="http://schemas.openxmlformats.org/drawingml/2006/main">
            <a:r>
              <a:t/>
            </a:r>
            <a:endParaRPr/>
          </a:p>
          <a:p xmlns:a="http://schemas.openxmlformats.org/drawingml/2006/main">
            <a:r>
              <a:t>The facilitator or helper acts; the volunteer performs only unavoidable login or permission steps.</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https://code.claude.com/docs/en/installation</a:t>
            </a:r>
            <a:endParaRPr/>
          </a:p>
          <a:p xmlns:a="http://schemas.openxmlformats.org/drawingml/2006/main">
            <a:r>
              <a:t>- https://docs.github.com/en/get-started/git-basics/set-up-git</a:t>
            </a:r>
            <a:endParaRPr/>
          </a:p>
          <a:p xmlns:a="http://schemas.openxmlformats.org/drawingml/2006/main">
            <a:r>
              <a:t>- https://docs.github.com/en/github-cli/github-cli/about-github-cli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PowerShell, not Command Prompt, for the two displayed installer commands. The Claude Code installer does not require Administrator access. Git for Windows is recommended for native Windows; GitHub Desktop remains the default company workflow for nontechnical users.</a:t>
            </a:r>
            <a:endParaRPr/>
          </a:p>
          <a:p xmlns:a="http://schemas.openxmlformats.org/drawingml/2006/main">
            <a:r>
              <a:t/>
            </a:r>
            <a:endParaRPr/>
          </a:p>
          <a:p xmlns:a="http://schemas.openxmlformats.org/drawingml/2006/main">
            <a:r>
              <a:t>If the shell or installer is unclear, stop and use the complete Setup Helper rescue prompt instead of trying random commands.</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https://code.claude.com/docs/en/installation</a:t>
            </a:r>
            <a:endParaRPr/>
          </a:p>
          <a:p xmlns:a="http://schemas.openxmlformats.org/drawingml/2006/main">
            <a:r>
              <a:t>- https://docs.github.com/en/get-started/git-basics/set-up-git</a:t>
            </a:r>
            <a:endParaRPr/>
          </a:p>
          <a:p xmlns:a="http://schemas.openxmlformats.org/drawingml/2006/main">
            <a:r>
              <a:t>- https://docs.github.com/en/github-cli/github-cli/about-github-cli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path: obtain and verify the public release first, then attach Codex and any approved challenger to the separate work project. Do not use the distribution repository as the live-work repository. Beginners follow the same architecture through the Setup Helper without commands.</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https://github.com/kairali-digital/ai-human-workspace/releases/tag/v1.2.0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Codex CLI works inside the selected local repository. Use its interactive review before shipping and preserve Git checkpoints around a task. The current local CLI was verified as codex-cli 0.147.0.</a:t>
            </a:r>
            <a:endParaRPr/>
          </a:p>
          <a:p xmlns:a="http://schemas.openxmlformats.org/drawingml/2006/main">
            <a:r>
              <a:t/>
            </a:r>
            <a:endParaRPr/>
          </a:p>
          <a:p xmlns:a="http://schemas.openxmlformats.org/drawingml/2006/main">
            <a:r>
              <a:t>If NOT SET is returned, setup may be correct but no task is ruled; do not invent one.</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command shown is supported by the locally verified Claude Code 2.1.226. The official documentation confirms --model and --permission-mode; the local CLI confirms --effort max. Claude Code requires existing approved account access. This clinic authorizes no subscription, seat purchase or upgrade. Volunteers without access observe the facilitator's challenge.</a:t>
            </a:r>
            <a:endParaRPr/>
          </a:p>
          <a:p xmlns:a="http://schemas.openxmlformats.org/drawingml/2006/main">
            <a:r>
              <a:t/>
            </a:r>
            <a:endParaRPr/>
          </a:p>
          <a:p xmlns:a="http://schemas.openxmlformats.org/drawingml/2006/main">
            <a:r>
              <a:t>Do not use bypassPermissions or dangerously-skip-permissions. Plan mode can read and run exploration checks but does not edit the source, so approve only commands whose read-only effect is understood.</a:t>
            </a:r>
            <a:endParaRPr/>
          </a:p>
          <a:p xmlns:a="http://schemas.openxmlformats.org/drawingml/2006/main">
            <a:r>
              <a:t/>
            </a:r>
            <a:endParaRPr/>
          </a:p>
          <a:p xmlns:a="http://schemas.openxmlformats.org/drawingml/2006/main">
            <a:r>
              <a:t>[Sources]</a:t>
            </a:r>
            <a:endParaRPr/>
          </a:p>
          <a:p xmlns:a="http://schemas.openxmlformats.org/drawingml/2006/main">
            <a:r>
              <a:t>- https://code.claude.com/docs/en/cli-usage</a:t>
            </a:r>
            <a:endParaRPr/>
          </a:p>
          <a:p xmlns:a="http://schemas.openxmlformats.org/drawingml/2006/main">
            <a:r>
              <a:t>- https://code.claude.com/docs/en/installation</a:t>
            </a:r>
            <a:endParaRPr/>
          </a:p>
          <a:p xmlns:a="http://schemas.openxmlformats.org/drawingml/2006/main">
            <a:r>
              <a:t>- https://code.claude.com/docs/en/permission-modes</a:t>
            </a:r>
            <a:endParaRPr/>
          </a:p>
          <a:p xmlns:a="http://schemas.openxmlformats.org/drawingml/2006/main">
            <a:r>
              <a:t>- Local claude --help and claude --version,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model is deliberately assigned a different job: challenge the candidate and its evidence. It does not co-author silently, grant permissions, push changes or decide that work is complete.</a:t>
            </a:r>
            <a:endParaRPr/>
          </a:p>
          <a:p xmlns:a="http://schemas.openxmlformats.org/drawingml/2006/main">
            <a:r>
              <a:t/>
            </a:r>
            <a:endParaRPr/>
          </a:p>
          <a:p xmlns:a="http://schemas.openxmlformats.org/drawingml/2006/main">
            <a:r>
              <a:t>Say: “A disagreement is useful only when it points to evidence we can test.”</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Distribute the Battle-Test Prompt Card now. Paste this exact prompt after launching Claude in plan mode:</a:t>
            </a:r>
            <a:endParaRPr/>
          </a:p>
          <a:p xmlns:a="http://schemas.openxmlformats.org/drawingml/2006/main">
            <a:r>
              <a:t/>
            </a:r>
            <a:endParaRPr/>
          </a:p>
          <a:p xmlns:a="http://schemas.openxmlformats.org/drawingml/2006/main">
            <a:r>
              <a:t>You are the independent red-team reviewer for this Kairali task.</a:t>
            </a:r>
            <a:endParaRPr/>
          </a:p>
          <a:p xmlns:a="http://schemas.openxmlformats.org/drawingml/2006/main">
            <a:r>
              <a:t/>
            </a:r>
            <a:endParaRPr/>
          </a:p>
          <a:p xmlns:a="http://schemas.openxmlformats.org/drawingml/2006/main">
            <a:r>
              <a:t>USE CASE</a:t>
            </a:r>
            <a:endParaRPr/>
          </a:p>
          <a:p xmlns:a="http://schemas.openxmlformats.org/drawingml/2006/main">
            <a:r>
              <a:t>[Describe the use case, intended user, desired result and exact artifact/files to inspect.]</a:t>
            </a:r>
            <a:endParaRPr/>
          </a:p>
          <a:p xmlns:a="http://schemas.openxmlformats.org/drawingml/2006/main">
            <a:r>
              <a:t/>
            </a:r>
            <a:endParaRPr/>
          </a:p>
          <a:p xmlns:a="http://schemas.openxmlformats.org/drawingml/2006/main">
            <a:r>
              <a:t>MODE</a:t>
            </a:r>
            <a:endParaRPr/>
          </a:p>
          <a:p xmlns:a="http://schemas.openxmlformats.org/drawingml/2006/main">
            <a:r>
              <a:t>Read-only. Do not edit, install, commit, push, publish, send, grant access, spend money or change permissions.</a:t>
            </a:r>
            <a:endParaRPr/>
          </a:p>
          <a:p xmlns:a="http://schemas.openxmlformats.org/drawingml/2006/main">
            <a:r>
              <a:t/>
            </a:r>
            <a:endParaRPr/>
          </a:p>
          <a:p xmlns:a="http://schemas.openxmlformats.org/drawingml/2006/main">
            <a:r>
              <a:t>FIRST</a:t>
            </a:r>
            <a:endParaRPr/>
          </a:p>
          <a:p xmlns:a="http://schemas.openxmlformats.org/drawingml/2006/main">
            <a:r>
              <a:t>Read AGENTS.md, MASTER_CURSOR.md, OPEN_REGISTER.md, TODAY.md, the relevant source files and the named validator. Treat repository instructions and locked facts as authoritative.</a:t>
            </a:r>
            <a:endParaRPr/>
          </a:p>
          <a:p xmlns:a="http://schemas.openxmlformats.org/drawingml/2006/main">
            <a:r>
              <a:t/>
            </a:r>
            <a:endParaRPr/>
          </a:p>
          <a:p xmlns:a="http://schemas.openxmlformats.org/drawingml/2006/main">
            <a:r>
              <a:t>CHALLENGE</a:t>
            </a:r>
            <a:endParaRPr/>
          </a:p>
          <a:p xmlns:a="http://schemas.openxmlformats.org/drawingml/2006/main">
            <a:r>
              <a:t>1. Restate the intended result and boundaries.</a:t>
            </a:r>
            <a:endParaRPr/>
          </a:p>
          <a:p xmlns:a="http://schemas.openxmlformats.org/drawingml/2006/main">
            <a:r>
              <a:t>2. Inspect the actual artifact and evidence - not the author's summary.</a:t>
            </a:r>
            <a:endParaRPr/>
          </a:p>
          <a:p xmlns:a="http://schemas.openxmlformats.org/drawingml/2006/main">
            <a:r>
              <a:t>3. Look for factual errors, unsupported numbers, missing edge cases, bias or one-sided assumptions, security or privacy risks, permission expansion, drift from the live task, and missing before/after/undo proof.</a:t>
            </a:r>
            <a:endParaRPr/>
          </a:p>
          <a:p xmlns:a="http://schemas.openxmlformats.org/drawingml/2006/main">
            <a:r>
              <a:t>4. Test or run only read-only or explicitly approved checks. Do not cross Gate 0.</a:t>
            </a:r>
            <a:endParaRPr/>
          </a:p>
          <a:p xmlns:a="http://schemas.openxmlformats.org/drawingml/2006/main">
            <a:r>
              <a:t>5. Separate blockers from preferences. For every blocker, cite the exact file, slide, line or evidence and explain the user impact.</a:t>
            </a:r>
            <a:endParaRPr/>
          </a:p>
          <a:p xmlns:a="http://schemas.openxmlformats.org/drawingml/2006/main">
            <a:r>
              <a:t>6. Push back if the premise is wrong. Do not agree merely because another AI produced it.</a:t>
            </a:r>
            <a:endParaRPr/>
          </a:p>
          <a:p xmlns:a="http://schemas.openxmlformats.org/drawingml/2006/main">
            <a:r>
              <a:t>7. If evidence is insufficient, say UNKNOWN. Never invent.</a:t>
            </a:r>
            <a:endParaRPr/>
          </a:p>
          <a:p xmlns:a="http://schemas.openxmlformats.org/drawingml/2006/main">
            <a:r>
              <a:t/>
            </a:r>
            <a:endParaRPr/>
          </a:p>
          <a:p xmlns:a="http://schemas.openxmlformats.org/drawingml/2006/main">
            <a:r>
              <a:t>RETURN EXACTLY</a:t>
            </a:r>
            <a:endParaRPr/>
          </a:p>
          <a:p xmlns:a="http://schemas.openxmlformats.org/drawingml/2006/main">
            <a:r>
              <a:t>VERDICT: PASS or BLOCK</a:t>
            </a:r>
            <a:endParaRPr/>
          </a:p>
          <a:p xmlns:a="http://schemas.openxmlformats.org/drawingml/2006/main">
            <a:r>
              <a:t>BLOCKERS: numbered list, or NONE</a:t>
            </a:r>
            <a:endParaRPr/>
          </a:p>
          <a:p xmlns:a="http://schemas.openxmlformats.org/drawingml/2006/main">
            <a:r>
              <a:t>BIAS / BLIND SPOTS: numbered list, or NONE</a:t>
            </a:r>
            <a:endParaRPr/>
          </a:p>
          <a:p xmlns:a="http://schemas.openxmlformats.org/drawingml/2006/main">
            <a:r>
              <a:t>NON-BLOCKING OBSERVATIONS: numbered list</a:t>
            </a:r>
            <a:endParaRPr/>
          </a:p>
          <a:p xmlns:a="http://schemas.openxmlformats.org/drawingml/2006/main">
            <a:r>
              <a:t>EVIDENCE: exact references</a:t>
            </a:r>
            <a:endParaRPr/>
          </a:p>
          <a:p xmlns:a="http://schemas.openxmlformats.org/drawingml/2006/main">
            <a:r>
              <a:t>NEXT SAFE ACTION: one sentence</a:t>
            </a:r>
            <a:endParaRPr/>
          </a:p>
          <a:p xmlns:a="http://schemas.openxmlformats.org/drawingml/2006/main">
            <a:r>
              <a:t/>
            </a:r>
            <a:endParaRPr/>
          </a:p>
          <a:p xmlns:a="http://schemas.openxmlformats.org/drawingml/2006/main">
            <a:r>
              <a:t>USE CASE ADD-ON</a:t>
            </a:r>
            <a:endParaRPr/>
          </a:p>
          <a:p xmlns:a="http://schemas.openxmlformats.org/drawingml/2006/main">
            <a:r>
              <a:t>[Paste only the role-specific checks needed for this use case.]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the exact response headings from the prompt card. If Claude marks BLOCK without a precise evidence reference and user impact, ask it to substantiate or withdraw the blocker.</a:t>
            </a:r>
            <a:endParaRPr/>
          </a:p>
          <a:p xmlns:a="http://schemas.openxmlformats.org/drawingml/2006/main">
            <a:r>
              <a:t/>
            </a:r>
            <a:endParaRPr/>
          </a:p>
          <a:p xmlns:a="http://schemas.openxmlformats.org/drawingml/2006/main">
            <a:r>
              <a:t>Full prompt:</a:t>
            </a:r>
            <a:endParaRPr/>
          </a:p>
          <a:p xmlns:a="http://schemas.openxmlformats.org/drawingml/2006/main">
            <a:r>
              <a:t>You are the independent red-team reviewer for this Kairali task.</a:t>
            </a:r>
            <a:endParaRPr/>
          </a:p>
          <a:p xmlns:a="http://schemas.openxmlformats.org/drawingml/2006/main">
            <a:r>
              <a:t/>
            </a:r>
            <a:endParaRPr/>
          </a:p>
          <a:p xmlns:a="http://schemas.openxmlformats.org/drawingml/2006/main">
            <a:r>
              <a:t>USE CASE</a:t>
            </a:r>
            <a:endParaRPr/>
          </a:p>
          <a:p xmlns:a="http://schemas.openxmlformats.org/drawingml/2006/main">
            <a:r>
              <a:t>[Describe the use case, intended user, desired result and exact artifact/files to inspect.]</a:t>
            </a:r>
            <a:endParaRPr/>
          </a:p>
          <a:p xmlns:a="http://schemas.openxmlformats.org/drawingml/2006/main">
            <a:r>
              <a:t/>
            </a:r>
            <a:endParaRPr/>
          </a:p>
          <a:p xmlns:a="http://schemas.openxmlformats.org/drawingml/2006/main">
            <a:r>
              <a:t>MODE</a:t>
            </a:r>
            <a:endParaRPr/>
          </a:p>
          <a:p xmlns:a="http://schemas.openxmlformats.org/drawingml/2006/main">
            <a:r>
              <a:t>Read-only. Do not edit, install, commit, push, publish, send, grant access, spend money or change permissions.</a:t>
            </a:r>
            <a:endParaRPr/>
          </a:p>
          <a:p xmlns:a="http://schemas.openxmlformats.org/drawingml/2006/main">
            <a:r>
              <a:t/>
            </a:r>
            <a:endParaRPr/>
          </a:p>
          <a:p xmlns:a="http://schemas.openxmlformats.org/drawingml/2006/main">
            <a:r>
              <a:t>FIRST</a:t>
            </a:r>
            <a:endParaRPr/>
          </a:p>
          <a:p xmlns:a="http://schemas.openxmlformats.org/drawingml/2006/main">
            <a:r>
              <a:t>Read AGENTS.md, MASTER_CURSOR.md, OPEN_REGISTER.md, TODAY.md, the relevant source files and the named validator. Treat repository instructions and locked facts as authoritative.</a:t>
            </a:r>
            <a:endParaRPr/>
          </a:p>
          <a:p xmlns:a="http://schemas.openxmlformats.org/drawingml/2006/main">
            <a:r>
              <a:t/>
            </a:r>
            <a:endParaRPr/>
          </a:p>
          <a:p xmlns:a="http://schemas.openxmlformats.org/drawingml/2006/main">
            <a:r>
              <a:t>CHALLENGE</a:t>
            </a:r>
            <a:endParaRPr/>
          </a:p>
          <a:p xmlns:a="http://schemas.openxmlformats.org/drawingml/2006/main">
            <a:r>
              <a:t>1. Restate the intended result and boundaries.</a:t>
            </a:r>
            <a:endParaRPr/>
          </a:p>
          <a:p xmlns:a="http://schemas.openxmlformats.org/drawingml/2006/main">
            <a:r>
              <a:t>2. Inspect the actual artifact and evidence - not the author's summary.</a:t>
            </a:r>
            <a:endParaRPr/>
          </a:p>
          <a:p xmlns:a="http://schemas.openxmlformats.org/drawingml/2006/main">
            <a:r>
              <a:t>3. Look for factual errors, unsupported numbers, missing edge cases, bias or one-sided assumptions, security or privacy risks, permission expansion, drift from the live task, and missing before/after/undo proof.</a:t>
            </a:r>
            <a:endParaRPr/>
          </a:p>
          <a:p xmlns:a="http://schemas.openxmlformats.org/drawingml/2006/main">
            <a:r>
              <a:t>4. Test or run only read-only or explicitly approved checks. Do not cross Gate 0.</a:t>
            </a:r>
            <a:endParaRPr/>
          </a:p>
          <a:p xmlns:a="http://schemas.openxmlformats.org/drawingml/2006/main">
            <a:r>
              <a:t>5. Separate blockers from preferences. For every blocker, cite the exact file, slide, line or evidence and explain the user impact.</a:t>
            </a:r>
            <a:endParaRPr/>
          </a:p>
          <a:p xmlns:a="http://schemas.openxmlformats.org/drawingml/2006/main">
            <a:r>
              <a:t>6. Push back if the premise is wrong. Do not agree merely because another AI produced it.</a:t>
            </a:r>
            <a:endParaRPr/>
          </a:p>
          <a:p xmlns:a="http://schemas.openxmlformats.org/drawingml/2006/main">
            <a:r>
              <a:t>7. If evidence is insufficient, say UNKNOWN. Never invent.</a:t>
            </a:r>
            <a:endParaRPr/>
          </a:p>
          <a:p xmlns:a="http://schemas.openxmlformats.org/drawingml/2006/main">
            <a:r>
              <a:t/>
            </a:r>
            <a:endParaRPr/>
          </a:p>
          <a:p xmlns:a="http://schemas.openxmlformats.org/drawingml/2006/main">
            <a:r>
              <a:t>RETURN EXACTLY</a:t>
            </a:r>
            <a:endParaRPr/>
          </a:p>
          <a:p xmlns:a="http://schemas.openxmlformats.org/drawingml/2006/main">
            <a:r>
              <a:t>VERDICT: PASS or BLOCK</a:t>
            </a:r>
            <a:endParaRPr/>
          </a:p>
          <a:p xmlns:a="http://schemas.openxmlformats.org/drawingml/2006/main">
            <a:r>
              <a:t>BLOCKERS: numbered list, or NONE</a:t>
            </a:r>
            <a:endParaRPr/>
          </a:p>
          <a:p xmlns:a="http://schemas.openxmlformats.org/drawingml/2006/main">
            <a:r>
              <a:t>BIAS / BLIND SPOTS: numbered list, or NONE</a:t>
            </a:r>
            <a:endParaRPr/>
          </a:p>
          <a:p xmlns:a="http://schemas.openxmlformats.org/drawingml/2006/main">
            <a:r>
              <a:t>NON-BLOCKING OBSERVATIONS: numbered list</a:t>
            </a:r>
            <a:endParaRPr/>
          </a:p>
          <a:p xmlns:a="http://schemas.openxmlformats.org/drawingml/2006/main">
            <a:r>
              <a:t>EVIDENCE: exact references</a:t>
            </a:r>
            <a:endParaRPr/>
          </a:p>
          <a:p xmlns:a="http://schemas.openxmlformats.org/drawingml/2006/main">
            <a:r>
              <a:t>NEXT SAFE ACTION: one sentence</a:t>
            </a:r>
            <a:endParaRPr/>
          </a:p>
          <a:p xmlns:a="http://schemas.openxmlformats.org/drawingml/2006/main">
            <a:r>
              <a:t/>
            </a:r>
            <a:endParaRPr/>
          </a:p>
          <a:p xmlns:a="http://schemas.openxmlformats.org/drawingml/2006/main">
            <a:r>
              <a:t>USE CASE ADD-ON</a:t>
            </a:r>
            <a:endParaRPr/>
          </a:p>
          <a:p xmlns:a="http://schemas.openxmlformats.org/drawingml/2006/main">
            <a:r>
              <a:t>[Paste only the role-specific checks needed for this use case.]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Examples are prompts for the reviewer, not permission to enter specialist systems.</a:t>
            </a:r>
            <a:endParaRPr/>
          </a:p>
          <a:p xmlns:a="http://schemas.openxmlformats.org/drawingml/2006/main">
            <a:r>
              <a:t/>
            </a:r>
            <a:endParaRPr/>
          </a:p>
          <a:p xmlns:a="http://schemas.openxmlformats.org/drawingml/2006/main">
            <a:r>
              <a:t>Suggested add-ons:</a:t>
            </a:r>
            <a:endParaRPr/>
          </a:p>
          <a:p xmlns:a="http://schemas.openxmlformats.org/drawingml/2006/main">
            <a:r>
              <a:t>- Presentation: inspect narrative order, speaker notes, handout timing, links, sources, overflow and print readiness.</a:t>
            </a:r>
            <a:endParaRPr/>
          </a:p>
          <a:p xmlns:a="http://schemas.openxmlformats.org/drawingml/2006/main">
            <a:r>
              <a:t>- Website: inspect mobile, accessibility, forms, redirects and live-change boundary.</a:t>
            </a:r>
            <a:endParaRPr/>
          </a:p>
          <a:p xmlns:a="http://schemas.openxmlformats.org/drawingml/2006/main">
            <a:r>
              <a:t>- Data/FMS: inspect formulas, exact row scope, batch cap, read/write boundary and timeout/retry evidence.</a:t>
            </a:r>
            <a:endParaRPr/>
          </a:p>
          <a:p xmlns:a="http://schemas.openxmlformats.org/drawingml/2006/main">
            <a:r>
              <a:t>- Shopify/campaign: inspect claims, audience assumptions, publication/spend boundaries and rollback.</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Invoke the installed Kairali Akshar Marketing Science skill for buyer understanding, evidence-backed MCB/ARC/KIT work, content creation or pre-ship review. It keeps the two Four-Phase models separate and never invents NDFF, claims, price, urgency or approval.</a:t>
            </a:r>
            <a:endParaRPr/>
          </a:p>
          <a:p xmlns:a="http://schemas.openxmlformats.org/drawingml/2006/main">
            <a:r>
              <a:t/>
            </a:r>
            <a:endParaRPr/>
          </a:p>
          <a:p xmlns:a="http://schemas.openxmlformats.org/drawingml/2006/main">
            <a:r>
              <a:t>Drive cross-check: the original Ultimate Sales Engine class-notes PDF says Mass Control Bait. The later “Mass Control Bed” expansion is a transcription error in a derived extraction.</a:t>
            </a:r>
            <a:endParaRPr/>
          </a:p>
          <a:p xmlns:a="http://schemas.openxmlformats.org/drawingml/2006/main">
            <a:r>
              <a:t/>
            </a:r>
            <a:endParaRPr/>
          </a:p>
          <a:p xmlns:a="http://schemas.openxmlformats.org/drawingml/2006/main">
            <a:r>
              <a:t>[Sources]</a:t>
            </a:r>
            <a:endParaRPr/>
          </a:p>
          <a:p xmlns:a="http://schemas.openxmlformats.org/drawingml/2006/main">
            <a:r>
              <a:t>- Kairali induction research/03-akshar-rahul-sales-source-audit.md (4 August 2026)</a:t>
            </a:r>
            <a:endParaRPr/>
          </a:p>
          <a:p xmlns:a="http://schemas.openxmlformats.org/drawingml/2006/main">
            <a:r>
              <a:t>- Drive folder: Akshar Yadav / go-science-skill.zip and original source files</a:t>
            </a:r>
            <a:endParaRPr/>
          </a:p>
          <a:p xmlns:a="http://schemas.openxmlformats.org/drawingml/2006/main">
            <a:r>
              <a:t>- Original Drive PDF: 24th_Sep_Class_Notes-Ultimate_Sales_Engine - Rishabh Marketing Kairali.pdf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Invoke the installed Kairali Rahul Sales System skill to make a sales lane observable and testable. It retains SPIN as Kairali's discovery spine, separates NBD/CRR and sales/operations, makes handoffs visible and proposes one bounded pilot.</a:t>
            </a:r>
            <a:endParaRPr/>
          </a:p>
          <a:p xmlns:a="http://schemas.openxmlformats.org/drawingml/2006/main">
            <a:r>
              <a:t/>
            </a:r>
            <a:endParaRPr/>
          </a:p>
          <a:p xmlns:a="http://schemas.openxmlformats.org/drawingml/2006/main">
            <a:r>
              <a:t>It does not reproduce the course, promise performance or turn source ratios into Kairali facts. Week 12 is absent from the supplied weekly ZIP.</a:t>
            </a:r>
            <a:endParaRPr/>
          </a:p>
          <a:p xmlns:a="http://schemas.openxmlformats.org/drawingml/2006/main">
            <a:r>
              <a:t/>
            </a:r>
            <a:endParaRPr/>
          </a:p>
          <a:p xmlns:a="http://schemas.openxmlformats.org/drawingml/2006/main">
            <a:r>
              <a:t>[Sources]</a:t>
            </a:r>
            <a:endParaRPr/>
          </a:p>
          <a:p xmlns:a="http://schemas.openxmlformats.org/drawingml/2006/main">
            <a:r>
              <a:t>- Kairali induction research/03-akshar-rahul-sales-source-audit.md (4 August 2026)</a:t>
            </a:r>
            <a:endParaRPr/>
          </a:p>
          <a:p xmlns:a="http://schemas.openxmlformats.org/drawingml/2006/main">
            <a:r>
              <a:t>- Drive folder: Rahul Jain / weekly notes, consolidated ASP notes and advanced sales 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advanced, command-line clinic slide only. The v1.2.0 lifecycle verifies the component catalog and hashes. Choose exactly one role-approved skill per test. Installation, upgrade and removal operate only on managed system/component files; employee state is preserved and the prior component is archived. Beginners use the Setup Helper and are never asked to type these commands.</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https://github.com/kairali-digital/ai-human-workspace/releases/tag/v1.2.0</a:t>
            </a:r>
            <a:endParaRPr/>
          </a:p>
          <a:p xmlns:a="http://schemas.openxmlformats.org/drawingml/2006/main">
            <a:r>
              <a:t>- Kairali public release: docs/LIFECYCLE.md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resolve disagreement by AI majority. First demand exact evidence, then run the owned validator and finally apply repository rules and the human authority boundary. A new idea becomes a registered row; it does not hijack the live task.</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Public-read access removes the need to invite roughly 200 employees to the distribution repository. It does not remove private-work controls. Staff receive access only to a named private project needed for their role; connected accounts use the approved company identity; organization Owner remains an exceptional administrative/recovery role.</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proof has two parts: verify the managed public-release version, then verify the attached work-project path and operating files. A version check alone does not prove the correct project is open.</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https://github.com/kairali-digital/ai-human-workspace/releases/tag/v1.2.0</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750b86e3d74ae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30c4a84446484e" /><Relationship Type="http://schemas.openxmlformats.org/officeDocument/2006/relationships/slideLayout" Target="/ppt/slideLayouts/slideLayout1.xml" Id="R8fa0a34277424c08"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a0a34277424c0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077e644d1d439f" /><Relationship Type="http://schemas.openxmlformats.org/officeDocument/2006/relationships/notesSlide" Target="/ppt/notesSlides/notesSlide1.xml" Id="Rb6d8b6fb6bf947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c75c15b1884c6c" /><Relationship Type="http://schemas.openxmlformats.org/officeDocument/2006/relationships/image" Target="/ppt/media/image.png" Id="Rad6ee81709814131" /><Relationship Type="http://schemas.openxmlformats.org/officeDocument/2006/relationships/notesSlide" Target="/ppt/notesSlides/notesSlide2.xml" Id="Ra784cd22e72043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5e0b7bc52645d6" /><Relationship Type="http://schemas.openxmlformats.org/officeDocument/2006/relationships/notesSlide" Target="/ppt/notesSlides/notesSlide3.xml" Id="Rda2e4cbfc92148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7ed3889ed04e99" /><Relationship Type="http://schemas.openxmlformats.org/officeDocument/2006/relationships/notesSlide" Target="/ppt/notesSlides/notesSlide4.xml" Id="Ra4bd49d41fb949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951af981484b86" /><Relationship Type="http://schemas.openxmlformats.org/officeDocument/2006/relationships/notesSlide" Target="/ppt/notesSlides/notesSlide5.xml" Id="Red8b0064ee004d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2a65540f1d4336" /><Relationship Type="http://schemas.openxmlformats.org/officeDocument/2006/relationships/notesSlide" Target="/ppt/notesSlides/notesSlide6.xml" Id="R749077eccc574d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215bd05986542d1" /><Relationship Type="http://schemas.openxmlformats.org/officeDocument/2006/relationships/notesSlide" Target="/ppt/notesSlides/notesSlide7.xml" Id="R1a0449e78bd247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36ee0c06a342f8" /><Relationship Type="http://schemas.openxmlformats.org/officeDocument/2006/relationships/image" Target="/ppt/media/image2.png" Id="R7decb8edaf444dcb" /><Relationship Type="http://schemas.openxmlformats.org/officeDocument/2006/relationships/notesSlide" Target="/ppt/notesSlides/notesSlide8.xml" Id="Rfc67889b2e3d40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da3fc6deba44e3d" /><Relationship Type="http://schemas.openxmlformats.org/officeDocument/2006/relationships/image" Target="/ppt/media/image2.png" Id="R4cffc9e1cbda4e19" /><Relationship Type="http://schemas.openxmlformats.org/officeDocument/2006/relationships/notesSlide" Target="/ppt/notesSlides/notesSlide9.xml" Id="R4b56c5290ee24b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48e9a4e54f4c57" /><Relationship Type="http://schemas.openxmlformats.org/officeDocument/2006/relationships/image" Target="/ppt/media/image3.png" Id="Rd97a200f8fcd4fa3" /><Relationship Type="http://schemas.openxmlformats.org/officeDocument/2006/relationships/notesSlide" Target="/ppt/notesSlides/notesSlide10.xml" Id="Racb551c9db0342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547e1548a7458a" /><Relationship Type="http://schemas.openxmlformats.org/officeDocument/2006/relationships/notesSlide" Target="/ppt/notesSlides/notesSlide11.xml" Id="Re3ffb31e4d2148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16a28840fd94493" /><Relationship Type="http://schemas.openxmlformats.org/officeDocument/2006/relationships/notesSlide" Target="/ppt/notesSlides/notesSlide12.xml" Id="R07d169e4499e414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b304b67f9c948a1" /><Relationship Type="http://schemas.openxmlformats.org/officeDocument/2006/relationships/image" Target="/ppt/media/image.png" Id="Ra29e19cd2f2d4746" /><Relationship Type="http://schemas.openxmlformats.org/officeDocument/2006/relationships/notesSlide" Target="/ppt/notesSlides/notesSlide13.xml" Id="R15eb097e28f345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15db3097a494b5a" /><Relationship Type="http://schemas.openxmlformats.org/officeDocument/2006/relationships/image" Target="/ppt/media/image4.png" Id="Rd43035ff82374b19" /><Relationship Type="http://schemas.openxmlformats.org/officeDocument/2006/relationships/image" Target="/ppt/media/image5.png" Id="Rff53b5671b1040ca" /><Relationship Type="http://schemas.openxmlformats.org/officeDocument/2006/relationships/image" Target="/ppt/media/image6.png" Id="Rfaf05b14e36749e9" /><Relationship Type="http://schemas.openxmlformats.org/officeDocument/2006/relationships/notesSlide" Target="/ppt/notesSlides/notesSlide14.xml" Id="R9aa150cde47e4e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da16405ff6443e9" /><Relationship Type="http://schemas.openxmlformats.org/officeDocument/2006/relationships/notesSlide" Target="/ppt/notesSlides/notesSlide15.xml" Id="Ra5de8805b0694a9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2ba42a73e6a4b88" /><Relationship Type="http://schemas.openxmlformats.org/officeDocument/2006/relationships/notesSlide" Target="/ppt/notesSlides/notesSlide16.xml" Id="Rc348fdd470fd48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9482187d0a34dd5" /><Relationship Type="http://schemas.openxmlformats.org/officeDocument/2006/relationships/notesSlide" Target="/ppt/notesSlides/notesSlide17.xml" Id="R0c904d9f08ce4cc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ed2d84dfdf04b29" /><Relationship Type="http://schemas.openxmlformats.org/officeDocument/2006/relationships/notesSlide" Target="/ppt/notesSlides/notesSlide18.xml" Id="Re4f8f7b8eeef4d2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898229974b54d01" /><Relationship Type="http://schemas.openxmlformats.org/officeDocument/2006/relationships/notesSlide" Target="/ppt/notesSlides/notesSlide19.xml" Id="Rf71ff5775b4d41f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8e8e2f09c5f4331" /><Relationship Type="http://schemas.openxmlformats.org/officeDocument/2006/relationships/image" Target="/ppt/media/image4.png" Id="R7a1a4fc861484e26" /><Relationship Type="http://schemas.openxmlformats.org/officeDocument/2006/relationships/image" Target="/ppt/media/image5.png" Id="R0540dab730d64f82" /><Relationship Type="http://schemas.openxmlformats.org/officeDocument/2006/relationships/image" Target="/ppt/media/image6.png" Id="R526c62dd7b384caa" /><Relationship Type="http://schemas.openxmlformats.org/officeDocument/2006/relationships/notesSlide" Target="/ppt/notesSlides/notesSlide20.xml" Id="Rc6a8cce4f07e4d5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6815b9ef3dd473f" /><Relationship Type="http://schemas.openxmlformats.org/officeDocument/2006/relationships/notesSlide" Target="/ppt/notesSlides/notesSlide21.xml" Id="Rbf5f4d4e741644d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ef2ab0e95984063" /><Relationship Type="http://schemas.openxmlformats.org/officeDocument/2006/relationships/notesSlide" Target="/ppt/notesSlides/notesSlide22.xml" Id="Rf382427ab3864c33" /></Relationships>
</file>

<file path=ppt/slides/slide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BONUS  ·  STAY-BACK ADVANCED CLINIC</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Want an AI challenger?</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Add only the capabilities your work can prove.</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Optional for advanced volunteers. The beginner rollout has ended.</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0C05A"/>
                </a:solidFill>
                <a:latin typeface="Arial"/>
                <a:ea typeface="Arial"/>
                <a:cs typeface="Arial"/>
              </a:rPr>
              <a:t>SAME PROJECT  ·  RIGHT CAPABILITY  ·  EVIDENCE WINS</a:t>
            </a:r>
            <a:endParaRPr sz="1600"/>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12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a:t>
            </a:r>
            <a:endParaRPr sz="900"/>
          </a:p>
        </p:txBody>
      </p:sp>
    </p:spTree>
    <p:extLst>
      <p:ext uri="{BB962C8B-B14F-4D97-AF65-F5344CB8AC3E}">
        <p14:creationId xmlns:p14="http://schemas.microsoft.com/office/powerpoint/2010/main" val="415748415"/>
      </p:ext>
    </p:extLst>
  </p:cSld>
</p:sld>
</file>

<file path=ppt/slides/slide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ADVANCED BOUNDARY</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The CLI is a cockpit - not a second system.</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Desktop apps remain the company default.</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62500"/>
            <a:ext cx="685800" cy="533400"/>
          </a:xfrm>
          <a:prstGeom xmlns:a="http://schemas.openxmlformats.org/drawingml/2006/main" prst="ellipse">
            <a:avLst/>
          </a:prstGeom>
          <a:solidFill xmlns:a="http://schemas.openxmlformats.org/drawingml/2006/main">
            <a:srgbClr val="2C5F2D"/>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ad6ee81709814131"/>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6250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Stay only if you want command-line control and can keep the approved project visible.</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1E3F2C"/>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Same AGENTS.md. Same cursor. Same permissions. Same proof.</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12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2</a:t>
            </a:r>
            <a:endParaRPr sz="900"/>
          </a:p>
        </p:txBody>
      </p:sp>
    </p:spTree>
    <p:extLst>
      <p:ext uri="{BB962C8B-B14F-4D97-AF65-F5344CB8AC3E}">
        <p14:creationId xmlns:p14="http://schemas.microsoft.com/office/powerpoint/2010/main" val="8646290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ADVANCED TOOL MAP</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Install only what your role needs.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CODEX CLI</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primary build + verify</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CLAUDE CODE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independent challenge</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GIT</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checkpoint + diff</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GH</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optional GitHub commands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PUBLIC RELEASE IS THE STANDARD SOURCE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Use v1.2.0 for the core, company kit and governed skills. GitHub Desktop or a ZIP is enough; add CLI only for a proven role need.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3</a:t>
            </a:r>
            <a:endParaRPr sz="900"/>
          </a:p>
        </p:txBody>
      </p:sp>
    </p:spTree>
    <p:extLst>
      <p:ext uri="{BB962C8B-B14F-4D97-AF65-F5344CB8AC3E}">
        <p14:creationId xmlns:p14="http://schemas.microsoft.com/office/powerpoint/2010/main" val="4709470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FOUR DIFFERENT LAYERS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Installed is not the same as ready.</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APP / CONNECTOR</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approved account + data</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SKILL</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reusable judgment + workflow</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MCP TOOL</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live action surface</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CLI</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command-line cockpit</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CONNECTED  ≠  CONFIGURED  ≠  AUTHORIZED  ≠  PROVEN</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Add a layer only when the role has a real use case, the account is approved and a DONE WHEN proof exists.</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4</a:t>
            </a:r>
            <a:endParaRPr sz="900"/>
          </a:p>
        </p:txBody>
      </p:sp>
    </p:spTree>
    <p:extLst>
      <p:ext uri="{BB962C8B-B14F-4D97-AF65-F5344CB8AC3E}">
        <p14:creationId xmlns:p14="http://schemas.microsoft.com/office/powerpoint/2010/main" val="4709470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MUST-HAVE  ·  ADVANCED BASELINE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Small, approved and provable.</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PUBLIC KIT</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v1.2.0 · hash checked</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WORK PROJECT</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separate live state</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ASK MODE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Setup Helper · least privilege</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ONE PROOF</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role use case passes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START WITH PUBLIC v1.2 · MOVE TO THE NAMED PRIVATE OR LOCAL WORK PROJECT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The public repository holds clean system files only. Company work and secrets never go there.</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5</a:t>
            </a:r>
            <a:endParaRPr sz="900"/>
          </a:p>
        </p:txBody>
      </p:sp>
    </p:spTree>
    <p:extLst>
      <p:ext uri="{BB962C8B-B14F-4D97-AF65-F5344CB8AC3E}">
        <p14:creationId xmlns:p14="http://schemas.microsoft.com/office/powerpoint/2010/main" val="4709470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CHOOSE BY USE CASE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Add only the lane that serves your work.</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OPS + DOCUMENTS</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Drive · Gmail · Docs · Sheets · Slides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SALES + MARKETING</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Akshar · Rahul · explicit role opt-in</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WEB + SHOPIFY</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GitHub · Vercel · Shopify · browser QA</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FMS + DATA</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Sheets · Excel · Drive · exact scope</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ROLE NEED → EXPLICIT OPT-IN → TEST → KEEP OR REMOVE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Web may add Playwright, Next.js or Cloudflare. Sentry is useful only after a live app is actually instrumented.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6</a:t>
            </a:r>
            <a:endParaRPr sz="900"/>
          </a:p>
        </p:txBody>
      </p:sp>
    </p:spTree>
    <p:extLst>
      <p:ext uri="{BB962C8B-B14F-4D97-AF65-F5344CB8AC3E}">
        <p14:creationId xmlns:p14="http://schemas.microsoft.com/office/powerpoint/2010/main" val="470947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SUGGESTED  ·  SAFEGUARDS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Configure per repository or live system.</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CLAUDE CODE</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independent plan-mode challenge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GITLEAKS + LEFTHOOK</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secrets + pre-commit checks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MISE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project runtime pinning</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SENTRY</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only instrumented production</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GH IS OPTIONAL  ·  AUTHENTICATE, CONFIGURE AND PIN ONLY WHEN NEEDED</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Tools installed on this Mac still need repo config, account auth or production setup before they can prove anything.</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7</a:t>
            </a:r>
            <a:endParaRPr sz="900"/>
          </a:p>
        </p:txBody>
      </p:sp>
    </p:spTree>
    <p:extLst>
      <p:ext uri="{BB962C8B-B14F-4D97-AF65-F5344CB8AC3E}">
        <p14:creationId xmlns:p14="http://schemas.microsoft.com/office/powerpoint/2010/main" val="4709470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MAC / LINUX</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Check first. Install only if the command is missing.</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CODEX CLI</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Open Terminal. First run: codex --version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curl -fsSL https://chatgpt.com/codex/install.sh | sh</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CLAUDE CODE</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claude --version</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curl -fsSL https://claude.ai/install.sh | bash</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Use the official native installers only after Setup Helper or IT confirms the command is missing.</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git --version  ·  gh --version</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7decb8edaf444dcb"/>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--version and claude --version return a version.</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Sign in only with approved company accounts. Never paste passwords or one-time codes into a prompt.</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8</a:t>
            </a:r>
            <a:endParaRPr sz="900"/>
          </a:p>
        </p:txBody>
      </p:sp>
    </p:spTree>
    <p:extLst>
      <p:ext uri="{BB962C8B-B14F-4D97-AF65-F5344CB8AC3E}">
        <p14:creationId xmlns:p14="http://schemas.microsoft.com/office/powerpoint/2010/main" val="2773235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WINDOWS POWERSHELL</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Check first. Install only if the command is missing.</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CODEX CLI</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codex --version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powershell -ExecutionPolicy ByPass -c "irm https://chatgpt.com/codex/install.ps1 | iex"</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CLAUDE CODE</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claude --version</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irm https://claude.ai/install.ps1 | iex</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Git for Windows is recommended for Claude Code. GitHub Desktop remains allowed.</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git --version  ·  gh --version</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4cffc9e1cbda4e19"/>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--version and claude --version return a version.</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 not approve an Administrator prompt unless Ambuj or IT has named the exact reason.</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9</a:t>
            </a:r>
            <a:endParaRPr sz="900"/>
          </a:p>
        </p:txBody>
      </p:sp>
    </p:spTree>
    <p:extLst>
      <p:ext uri="{BB962C8B-B14F-4D97-AF65-F5344CB8AC3E}">
        <p14:creationId xmlns:p14="http://schemas.microsoft.com/office/powerpoint/2010/main" val="2773235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PROJECT  ·  TWO SEPARATE HOMES</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Get the system, then open the work.</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Get public release v1.2.0.</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kairali-digital/ai-human-workspace · public · clean distribution</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Open the named live-work project.</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Private operations only when assigned; otherwise use the approved standalone worker. Never store live company work in the public repo.</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d97a200f8fcd4fa3"/>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the lifecycle reports v1.2.0 and both CLIs read the approved work project.</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Distribution is public. Live company state remains private or local and separate.</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10</a:t>
            </a:r>
            <a:endParaRPr sz="900"/>
          </a:p>
        </p:txBody>
      </p:sp>
    </p:spTree>
    <p:extLst>
      <p:ext uri="{BB962C8B-B14F-4D97-AF65-F5344CB8AC3E}">
        <p14:creationId xmlns:p14="http://schemas.microsoft.com/office/powerpoint/2010/main" val="12388373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PRIMARY LOOP  ·  CODEX CLI</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Run the ruled task in Codex.</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Start inside the approved project.</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Type codex. Sign in with the approved company ChatGPT account.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Read the operating state first.</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Confirm the one live task, scope, permissions and named validator.</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Work one ruled batch. Review before ship.</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Use /review. Inspect the diff, evidence and undo before calling it done.</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Read AGENTS.md and MASTER_CURSOR.md. Tell me the one live task, or say NOT SET.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Codex executes only inside the approved task. New authority returns to the human.</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11</a:t>
            </a:r>
            <a:endParaRPr sz="900"/>
          </a:p>
        </p:txBody>
      </p:sp>
    </p:spTree>
    <p:extLst>
      <p:ext uri="{BB962C8B-B14F-4D97-AF65-F5344CB8AC3E}">
        <p14:creationId xmlns:p14="http://schemas.microsoft.com/office/powerpoint/2010/main" val="7397708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INDEPENDENT REVIEW  ·  CLAUDE CODE</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Launch Claude as the challenger.</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Stay in the same approved project.</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Open a second shell in the same repository. Existing approved Claude Code access only.</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Start highest review effort in plan mode.</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Plan mode blocks source edits. Approve only read-only exploration checks.</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Paste the challenge prompt + your use case.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No approved Claude access? Observe the facilitator. Do not purchase during the clinic.</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claude --model opus --effort max --permission-mode plan</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Plan mode must remain visible. Never use --dangerously-skip-permissions.</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12</a:t>
            </a:r>
            <a:endParaRPr sz="900"/>
          </a:p>
        </p:txBody>
      </p:sp>
    </p:spTree>
    <p:extLst>
      <p:ext uri="{BB962C8B-B14F-4D97-AF65-F5344CB8AC3E}">
        <p14:creationId xmlns:p14="http://schemas.microsoft.com/office/powerpoint/2010/main" val="739770858"/>
      </p:ext>
    </p:extLst>
  </p:cSld>
</p:sld>
</file>

<file path=ppt/slides/slide13.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TWO-MODEL CONTROL LOOP</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Build → challenge → evidence → ruling.</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Primary model builds. Second model challenges.</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a29e19cd2f2d4746"/>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THE SECOND MODEL CHALLENGES  ·  IT DOES NOT AUTHORIZE</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A second model can expose blind spots. It does not eliminate bias or override a validator.</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12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13</a:t>
            </a:r>
            <a:endParaRPr sz="900"/>
          </a:p>
        </p:txBody>
      </p:sp>
    </p:spTree>
    <p:extLst>
      <p:ext uri="{BB962C8B-B14F-4D97-AF65-F5344CB8AC3E}">
        <p14:creationId xmlns:p14="http://schemas.microsoft.com/office/powerpoint/2010/main" val="86462906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REUSABLE CHALLENGE PROMPT</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Tell the reviewer exactly what to attack.</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d43035ff82374b19"/>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Intent + boundaries</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User, desired result, exact files and prohibited actions.</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ff53b5671b1040ca"/>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Actual evidence</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Inspect outputs and tests - not the author's summary.</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faf05b14e36749e9"/>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Failure modes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Facts, numbers, edge cases, bias, drift, security, permissions and proof.</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If evidence is missing, say UNKNOWN. Never invent.</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14</a:t>
            </a:r>
            <a:endParaRPr sz="900"/>
          </a:p>
        </p:txBody>
      </p:sp>
    </p:spTree>
    <p:extLst>
      <p:ext uri="{BB962C8B-B14F-4D97-AF65-F5344CB8AC3E}">
        <p14:creationId xmlns:p14="http://schemas.microsoft.com/office/powerpoint/2010/main" val="9021505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REVIEW RESPONSE CONTRACT</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Force a useful, auditable answer.</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VERDICT</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PASS or BLOCK</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BLOCKERS</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exact references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BIAS</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blind spots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NEXT</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one safe action</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RETURN EXACTLY  ·  NOT A CHATTERING ESSAY</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Also require non-blocking observations and an evidence list. A preference is not a blocker.</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15</a:t>
            </a:r>
            <a:endParaRPr sz="900"/>
          </a:p>
        </p:txBody>
      </p:sp>
    </p:spTree>
    <p:extLst>
      <p:ext uri="{BB962C8B-B14F-4D97-AF65-F5344CB8AC3E}">
        <p14:creationId xmlns:p14="http://schemas.microsoft.com/office/powerpoint/2010/main" val="4709470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USE-CASE ADD-ONS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Add only the checks this job needs.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PPT / PDF</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flow · notes · handouts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WEBSITE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mobile · forms · a11y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DATA + FMS</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formulas · scope · timeout</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SHOPIFY + CAMPAIGN</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claims · publish · spend</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REPLACE [YOUR USE CASE]  ·  KEEP THE CORE PROMPT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Presentation: link and overflow. Website: live-change boundary. Data/FMS: no writes and batch cap. Shopify/campaign: no publish or spend.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16</a:t>
            </a:r>
            <a:endParaRPr sz="900"/>
          </a:p>
        </p:txBody>
      </p:sp>
    </p:spTree>
    <p:extLst>
      <p:ext uri="{BB962C8B-B14F-4D97-AF65-F5344CB8AC3E}">
        <p14:creationId xmlns:p14="http://schemas.microsoft.com/office/powerpoint/2010/main" val="47094708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SKILL  ·  AKSHAR MARKETING SCIENCE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Buyer insight → ethical message → ship gate.</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UNDERSTAND</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MoA · NDFF · buyer evidence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CREATE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MCB · ARC · KIT · journey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REVIEW</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claims · value · sequence</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BLOCK</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hype · Gate 0 · missing proof</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MCB = MASS CONTROL BAIT  ·  ‘BED’ WAS A TRANSCRIPTION ERROR</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Use “What would Akshar say?” as a review lens—not an author voice, copied course or release approval.</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17</a:t>
            </a:r>
            <a:endParaRPr sz="900"/>
          </a:p>
        </p:txBody>
      </p:sp>
    </p:spTree>
    <p:extLst>
      <p:ext uri="{BB962C8B-B14F-4D97-AF65-F5344CB8AC3E}">
        <p14:creationId xmlns:p14="http://schemas.microsoft.com/office/powerpoint/2010/main" val="47094708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SKILL  ·  RAHUL SALES SYSTEM</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Observe → map → pilot → review.</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MAP</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NBD · CRR · stages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SEPARATE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selling · operations · handoffs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MEASURE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evidence · formulas · unknowns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PRACTISE</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SPIN · calls · roleplay</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NO INVENTED TARGETS, RATIOS, STAFFING, CONVERSION OR UPLIFT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Deep division of labour is a diagnostic principle. Reorganisation, policy, access and spend stay with the owner.</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18</a:t>
            </a:r>
            <a:endParaRPr sz="900"/>
          </a:p>
        </p:txBody>
      </p:sp>
    </p:spTree>
    <p:extLst>
      <p:ext uri="{BB962C8B-B14F-4D97-AF65-F5344CB8AC3E}">
        <p14:creationId xmlns:p14="http://schemas.microsoft.com/office/powerpoint/2010/main" val="47094708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PROVE ROLE-APPROVED SKILLS</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One release. Two explicit opt-ins.</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Verify the signed component catalog.</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ai_human.py components --latest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Install only the named role skill.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Akshar or Rahul · approved runtime · --latest</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a new session; invoke the exact skill.</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Confirm references, evidence block and one safe next action.</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Components: kairali-akshar-marketing-science · kairali-rahul-sales-system</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Upgrade or remove only at a checkpoint. The previous copy is archived; employee work is not managed.</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19</a:t>
            </a:r>
            <a:endParaRPr sz="900"/>
          </a:p>
        </p:txBody>
      </p:sp>
    </p:spTree>
    <p:extLst>
      <p:ext uri="{BB962C8B-B14F-4D97-AF65-F5344CB8AC3E}">
        <p14:creationId xmlns:p14="http://schemas.microsoft.com/office/powerpoint/2010/main" val="7397708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WHEN THE MODELS DISAGREE</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Disagreement is a gate - not a vote.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7a1a4fc861484e26"/>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Ask for exact evidence</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File, slide, line, test result and user impact.</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0540dab730d64f82"/>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Run the owned validator</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Inspect the actual artifact and repeat the relevant check.</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526c62dd7b384caa"/>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Apply the human rules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AGENTS, locked facts, owner decisions and Gate 0 outrank both models.</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Push back on nonsense. Accept a blocker only when its evidence survives the check.</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20</a:t>
            </a:r>
            <a:endParaRPr sz="900"/>
          </a:p>
        </p:txBody>
      </p:sp>
    </p:spTree>
    <p:extLst>
      <p:ext uri="{BB962C8B-B14F-4D97-AF65-F5344CB8AC3E}">
        <p14:creationId xmlns:p14="http://schemas.microsoft.com/office/powerpoint/2010/main" val="90215050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GITHUB  ·  TWO ACCESS LAYERS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Public distribution. Private work. Minimum access.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PUBLIC CORE</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ai-human-workspace · read</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PRIVATE WORK</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role-named project only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CONNECTED ACCOUNT</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approved company identity</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ORG OWNER</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separate check + recovery owner</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PUBLIC REPO = SYSTEM FILES ONLY · NO COMPANY WORK OR SECRETS</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Staff need no collaborator seat for the public kit. Private operations access remains least privilege; organization Owner is a separate recovery decision.</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21</a:t>
            </a:r>
            <a:endParaRPr sz="900"/>
          </a:p>
        </p:txBody>
      </p:sp>
    </p:spTree>
    <p:extLst>
      <p:ext uri="{BB962C8B-B14F-4D97-AF65-F5344CB8AC3E}">
        <p14:creationId xmlns:p14="http://schemas.microsoft.com/office/powerpoint/2010/main" val="47094708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591DF4-4331-4FEB-AC38-238329655F7C}"/>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CLINIC EXIT PROOF</a:t>
            </a:r>
            <a:endParaRPr sz="1050"/>
          </a:p>
        </p:txBody>
      </p:sp>
      <p:sp>
        <p:nvSpPr>
          <p:cNvPr id="3" name="Text 1">
            <a:extLst xmlns:a="http://schemas.openxmlformats.org/drawingml/2006/main">
              <a:ext uri="{FF2B5EF4-FFF2-40B4-BE49-F238E27FC236}">
                <a16:creationId xmlns:a16="http://schemas.microsoft.com/office/drawing/2014/main" id="{F204CC6B-88F9-41D3-8C19-D60EF44899FD}"/>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300" b="1">
                <a:solidFill>
                  <a:srgbClr val="172E22"/>
                </a:solidFill>
                <a:latin typeface="Arial"/>
                <a:ea typeface="Arial"/>
                <a:cs typeface="Arial"/>
              </a:rPr>
              <a:t>Leave only after the challenge loop works.</a:t>
            </a:r>
            <a:endParaRPr sz="3300"/>
          </a:p>
        </p:txBody>
      </p:sp>
      <p:sp>
        <p:nvSpPr>
          <p:cNvPr id="4" name="Shape 2">
            <a:extLst xmlns:a="http://schemas.openxmlformats.org/drawingml/2006/main">
              <a:ext uri="{FF2B5EF4-FFF2-40B4-BE49-F238E27FC236}">
                <a16:creationId xmlns:a16="http://schemas.microsoft.com/office/drawing/2014/main" id="{5CD4FE0F-F274-401A-9B94-285CEF8CD40F}"/>
              </a:ext>
            </a:extLst>
          </p:cNvPr>
          <p:cNvSpPr>
            <a:spLocks xmlns:a="http://schemas.openxmlformats.org/drawingml/2006/main" noGrp="1"/>
          </p:cNvSpPr>
          <p:nvPr/>
        </p:nvSpPr>
        <p:spPr>
          <a:xfrm xmlns:a="http://schemas.openxmlformats.org/drawingml/2006/main">
            <a:off x="640080" y="1737360"/>
            <a:ext cx="10908792" cy="868680"/>
          </a:xfrm>
          <a:prstGeom xmlns:a="http://schemas.openxmlformats.org/drawingml/2006/main" prst="roundRect">
            <a:avLst>
              <a:gd name="adj" fmla="val 9474"/>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3D71622B-EBE6-4D3A-9655-515441A1C692}"/>
              </a:ext>
            </a:extLst>
          </p:cNvPr>
          <p:cNvSpPr>
            <a:spLocks xmlns:a="http://schemas.openxmlformats.org/drawingml/2006/main" noGrp="1"/>
          </p:cNvSpPr>
          <p:nvPr/>
        </p:nvSpPr>
        <p:spPr>
          <a:xfrm xmlns:a="http://schemas.openxmlformats.org/drawingml/2006/main">
            <a:off x="960120" y="173736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Project</a:t>
            </a:r>
            <a:endParaRPr sz="1600"/>
          </a:p>
        </p:txBody>
      </p:sp>
      <p:sp>
        <p:nvSpPr>
          <p:cNvPr id="6" name="Text 4">
            <a:extLst xmlns:a="http://schemas.openxmlformats.org/drawingml/2006/main">
              <a:ext uri="{FF2B5EF4-FFF2-40B4-BE49-F238E27FC236}">
                <a16:creationId xmlns:a16="http://schemas.microsoft.com/office/drawing/2014/main" id="{393DC4F3-5D6D-4F82-A8FE-DFC42969B7C0}"/>
              </a:ext>
            </a:extLst>
          </p:cNvPr>
          <p:cNvSpPr>
            <a:spLocks xmlns:a="http://schemas.openxmlformats.org/drawingml/2006/main" noGrp="1"/>
          </p:cNvSpPr>
          <p:nvPr/>
        </p:nvSpPr>
        <p:spPr>
          <a:xfrm xmlns:a="http://schemas.openxmlformats.org/drawingml/2006/main">
            <a:off x="2926080" y="173736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v1.2.0 verified; correct approved work project; AGENTS.md and MASTER_CURSOR.md visible.</a:t>
            </a:r>
            <a:endParaRPr sz="1450"/>
          </a:p>
        </p:txBody>
      </p:sp>
      <p:sp>
        <p:nvSpPr>
          <p:cNvPr id="7" name="Shape 5">
            <a:extLst xmlns:a="http://schemas.openxmlformats.org/drawingml/2006/main">
              <a:ext uri="{FF2B5EF4-FFF2-40B4-BE49-F238E27FC236}">
                <a16:creationId xmlns:a16="http://schemas.microsoft.com/office/drawing/2014/main" id="{93D4D099-94A1-4FCF-ADA8-AFC87722319A}"/>
              </a:ext>
            </a:extLst>
          </p:cNvPr>
          <p:cNvSpPr>
            <a:spLocks xmlns:a="http://schemas.openxmlformats.org/drawingml/2006/main" noGrp="1"/>
          </p:cNvSpPr>
          <p:nvPr/>
        </p:nvSpPr>
        <p:spPr>
          <a:xfrm xmlns:a="http://schemas.openxmlformats.org/drawingml/2006/main">
            <a:off x="640080" y="278892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09FDD6C5-C950-47D5-B543-E8FA84D6BA4B}"/>
              </a:ext>
            </a:extLst>
          </p:cNvPr>
          <p:cNvSpPr>
            <a:spLocks xmlns:a="http://schemas.openxmlformats.org/drawingml/2006/main" noGrp="1"/>
          </p:cNvSpPr>
          <p:nvPr/>
        </p:nvSpPr>
        <p:spPr>
          <a:xfrm xmlns:a="http://schemas.openxmlformats.org/drawingml/2006/main">
            <a:off x="960120" y="278892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Codex</a:t>
            </a:r>
            <a:endParaRPr sz="1600"/>
          </a:p>
        </p:txBody>
      </p:sp>
      <p:sp>
        <p:nvSpPr>
          <p:cNvPr id="9" name="Text 7">
            <a:extLst xmlns:a="http://schemas.openxmlformats.org/drawingml/2006/main">
              <a:ext uri="{FF2B5EF4-FFF2-40B4-BE49-F238E27FC236}">
                <a16:creationId xmlns:a16="http://schemas.microsoft.com/office/drawing/2014/main" id="{B672F692-72F6-4A95-A38C-5A4EA63EDAEB}"/>
              </a:ext>
            </a:extLst>
          </p:cNvPr>
          <p:cNvSpPr>
            <a:spLocks xmlns:a="http://schemas.openxmlformats.org/drawingml/2006/main" noGrp="1"/>
          </p:cNvSpPr>
          <p:nvPr/>
        </p:nvSpPr>
        <p:spPr>
          <a:xfrm xmlns:a="http://schemas.openxmlformats.org/drawingml/2006/main">
            <a:off x="2926080" y="278892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One ruled batch reviewed with diff, evidence and undo.</a:t>
            </a:r>
            <a:endParaRPr sz="1450"/>
          </a:p>
        </p:txBody>
      </p:sp>
      <p:sp>
        <p:nvSpPr>
          <p:cNvPr id="10" name="Shape 8">
            <a:extLst xmlns:a="http://schemas.openxmlformats.org/drawingml/2006/main">
              <a:ext uri="{FF2B5EF4-FFF2-40B4-BE49-F238E27FC236}">
                <a16:creationId xmlns:a16="http://schemas.microsoft.com/office/drawing/2014/main" id="{455BACEF-556A-4ADE-80B7-E336DAB59986}"/>
              </a:ext>
            </a:extLst>
          </p:cNvPr>
          <p:cNvSpPr>
            <a:spLocks xmlns:a="http://schemas.openxmlformats.org/drawingml/2006/main" noGrp="1"/>
          </p:cNvSpPr>
          <p:nvPr/>
        </p:nvSpPr>
        <p:spPr>
          <a:xfrm xmlns:a="http://schemas.openxmlformats.org/drawingml/2006/main">
            <a:off x="640080" y="3840480"/>
            <a:ext cx="10908792" cy="868680"/>
          </a:xfrm>
          <a:prstGeom xmlns:a="http://schemas.openxmlformats.org/drawingml/2006/main" prst="roundRect">
            <a:avLst>
              <a:gd name="adj" fmla="val 9474"/>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4DF84FC4-CFFC-4488-9357-EEE00F6038C8}"/>
              </a:ext>
            </a:extLst>
          </p:cNvPr>
          <p:cNvSpPr>
            <a:spLocks xmlns:a="http://schemas.openxmlformats.org/drawingml/2006/main" noGrp="1"/>
          </p:cNvSpPr>
          <p:nvPr/>
        </p:nvSpPr>
        <p:spPr>
          <a:xfrm xmlns:a="http://schemas.openxmlformats.org/drawingml/2006/main">
            <a:off x="960120" y="384048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Claude</a:t>
            </a:r>
            <a:endParaRPr sz="1600"/>
          </a:p>
        </p:txBody>
      </p:sp>
      <p:sp>
        <p:nvSpPr>
          <p:cNvPr id="12" name="Text 10">
            <a:extLst xmlns:a="http://schemas.openxmlformats.org/drawingml/2006/main">
              <a:ext uri="{FF2B5EF4-FFF2-40B4-BE49-F238E27FC236}">
                <a16:creationId xmlns:a16="http://schemas.microsoft.com/office/drawing/2014/main" id="{351B626C-CB0D-4681-B7DB-E00DA141A8F9}"/>
              </a:ext>
            </a:extLst>
          </p:cNvPr>
          <p:cNvSpPr>
            <a:spLocks xmlns:a="http://schemas.openxmlformats.org/drawingml/2006/main" noGrp="1"/>
          </p:cNvSpPr>
          <p:nvPr/>
        </p:nvSpPr>
        <p:spPr>
          <a:xfrm xmlns:a="http://schemas.openxmlformats.org/drawingml/2006/main">
            <a:off x="2926080" y="384048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Approved seat or facilitator: verdict saved and one cited claim re-run.</a:t>
            </a:r>
            <a:endParaRPr sz="1450"/>
          </a:p>
        </p:txBody>
      </p:sp>
      <p:sp>
        <p:nvSpPr>
          <p:cNvPr id="13" name="Text 11">
            <a:extLst xmlns:a="http://schemas.openxmlformats.org/drawingml/2006/main">
              <a:ext uri="{FF2B5EF4-FFF2-40B4-BE49-F238E27FC236}">
                <a16:creationId xmlns:a16="http://schemas.microsoft.com/office/drawing/2014/main" id="{3BE29DD1-8E39-435F-BED4-9B26B14B9533}"/>
              </a:ext>
            </a:extLst>
          </p:cNvPr>
          <p:cNvSpPr>
            <a:spLocks xmlns:a="http://schemas.openxmlformats.org/drawingml/2006/main" noGrp="1"/>
          </p:cNvSpPr>
          <p:nvPr/>
        </p:nvSpPr>
        <p:spPr>
          <a:xfrm xmlns:a="http://schemas.openxmlformats.org/drawingml/2006/main">
            <a:off x="640080" y="4810125"/>
            <a:ext cx="10908792"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DONE MEANS VISIBLE PROOF</a:t>
            </a:r>
            <a:endParaRPr sz="900"/>
          </a:p>
        </p:txBody>
      </p:sp>
      <p:sp>
        <p:nvSpPr>
          <p:cNvPr id="14" name="Shape 12">
            <a:extLst xmlns:a="http://schemas.openxmlformats.org/drawingml/2006/main">
              <a:ext uri="{FF2B5EF4-FFF2-40B4-BE49-F238E27FC236}">
                <a16:creationId xmlns:a16="http://schemas.microsoft.com/office/drawing/2014/main" id="{9430EAA5-F9EA-4AA1-9EB8-1FE5293582A3}"/>
              </a:ext>
            </a:extLst>
          </p:cNvPr>
          <p:cNvSpPr>
            <a:spLocks xmlns:a="http://schemas.openxmlformats.org/drawingml/2006/main" noGrp="1"/>
          </p:cNvSpPr>
          <p:nvPr/>
        </p:nvSpPr>
        <p:spPr>
          <a:xfrm xmlns:a="http://schemas.openxmlformats.org/drawingml/2006/main">
            <a:off x="640080"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5" name="Text 13">
            <a:extLst xmlns:a="http://schemas.openxmlformats.org/drawingml/2006/main">
              <a:ext uri="{FF2B5EF4-FFF2-40B4-BE49-F238E27FC236}">
                <a16:creationId xmlns:a16="http://schemas.microsoft.com/office/drawing/2014/main" id="{07D1955D-53AA-484F-A391-6607A5D5B79D}"/>
              </a:ext>
            </a:extLst>
          </p:cNvPr>
          <p:cNvSpPr>
            <a:spLocks xmlns:a="http://schemas.openxmlformats.org/drawingml/2006/main" noGrp="1"/>
          </p:cNvSpPr>
          <p:nvPr/>
        </p:nvSpPr>
        <p:spPr>
          <a:xfrm xmlns:a="http://schemas.openxmlformats.org/drawingml/2006/main">
            <a:off x="914400"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REPO</a:t>
            </a:r>
            <a:endParaRPr sz="1500"/>
          </a:p>
        </p:txBody>
      </p:sp>
      <p:sp>
        <p:nvSpPr>
          <p:cNvPr id="16" name="Text 14">
            <a:extLst xmlns:a="http://schemas.openxmlformats.org/drawingml/2006/main">
              <a:ext uri="{FF2B5EF4-FFF2-40B4-BE49-F238E27FC236}">
                <a16:creationId xmlns:a16="http://schemas.microsoft.com/office/drawing/2014/main" id="{7A83D3C7-784E-4839-8180-5F4068707EB3}"/>
              </a:ext>
            </a:extLst>
          </p:cNvPr>
          <p:cNvSpPr>
            <a:spLocks xmlns:a="http://schemas.openxmlformats.org/drawingml/2006/main" noGrp="1"/>
          </p:cNvSpPr>
          <p:nvPr/>
        </p:nvSpPr>
        <p:spPr>
          <a:xfrm xmlns:a="http://schemas.openxmlformats.org/drawingml/2006/main">
            <a:off x="914400"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v1.2 + path correct</a:t>
            </a:r>
            <a:endParaRPr sz="1150"/>
          </a:p>
        </p:txBody>
      </p:sp>
      <p:sp>
        <p:nvSpPr>
          <p:cNvPr id="17" name="Shape 15">
            <a:extLst xmlns:a="http://schemas.openxmlformats.org/drawingml/2006/main">
              <a:ext uri="{FF2B5EF4-FFF2-40B4-BE49-F238E27FC236}">
                <a16:creationId xmlns:a16="http://schemas.microsoft.com/office/drawing/2014/main" id="{8910C534-65A0-4EA4-84AF-D059BDB1C6D4}"/>
              </a:ext>
            </a:extLst>
          </p:cNvPr>
          <p:cNvSpPr>
            <a:spLocks xmlns:a="http://schemas.openxmlformats.org/drawingml/2006/main" noGrp="1"/>
          </p:cNvSpPr>
          <p:nvPr/>
        </p:nvSpPr>
        <p:spPr>
          <a:xfrm xmlns:a="http://schemas.openxmlformats.org/drawingml/2006/main">
            <a:off x="4367784"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8" name="Text 16">
            <a:extLst xmlns:a="http://schemas.openxmlformats.org/drawingml/2006/main">
              <a:ext uri="{FF2B5EF4-FFF2-40B4-BE49-F238E27FC236}">
                <a16:creationId xmlns:a16="http://schemas.microsoft.com/office/drawing/2014/main" id="{031A720F-9C91-49A2-B347-BA930F18C6A7}"/>
              </a:ext>
            </a:extLst>
          </p:cNvPr>
          <p:cNvSpPr>
            <a:spLocks xmlns:a="http://schemas.openxmlformats.org/drawingml/2006/main" noGrp="1"/>
          </p:cNvSpPr>
          <p:nvPr/>
        </p:nvSpPr>
        <p:spPr>
          <a:xfrm xmlns:a="http://schemas.openxmlformats.org/drawingml/2006/main">
            <a:off x="4642104"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REVIEW</a:t>
            </a:r>
            <a:endParaRPr sz="1500"/>
          </a:p>
        </p:txBody>
      </p:sp>
      <p:sp>
        <p:nvSpPr>
          <p:cNvPr id="19" name="Text 17">
            <a:extLst xmlns:a="http://schemas.openxmlformats.org/drawingml/2006/main">
              <a:ext uri="{FF2B5EF4-FFF2-40B4-BE49-F238E27FC236}">
                <a16:creationId xmlns:a16="http://schemas.microsoft.com/office/drawing/2014/main" id="{20DA07C2-AAD3-465B-8656-0C2A61F197AE}"/>
              </a:ext>
            </a:extLst>
          </p:cNvPr>
          <p:cNvSpPr>
            <a:spLocks xmlns:a="http://schemas.openxmlformats.org/drawingml/2006/main" noGrp="1"/>
          </p:cNvSpPr>
          <p:nvPr/>
        </p:nvSpPr>
        <p:spPr>
          <a:xfrm xmlns:a="http://schemas.openxmlformats.org/drawingml/2006/main">
            <a:off x="4642104"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prompt used</a:t>
            </a:r>
            <a:endParaRPr sz="1150"/>
          </a:p>
        </p:txBody>
      </p:sp>
      <p:sp>
        <p:nvSpPr>
          <p:cNvPr id="20" name="Shape 18">
            <a:extLst xmlns:a="http://schemas.openxmlformats.org/drawingml/2006/main">
              <a:ext uri="{FF2B5EF4-FFF2-40B4-BE49-F238E27FC236}">
                <a16:creationId xmlns:a16="http://schemas.microsoft.com/office/drawing/2014/main" id="{ABAE382A-FD27-49C8-907F-6D6BB653920D}"/>
              </a:ext>
            </a:extLst>
          </p:cNvPr>
          <p:cNvSpPr>
            <a:spLocks xmlns:a="http://schemas.openxmlformats.org/drawingml/2006/main" noGrp="1"/>
          </p:cNvSpPr>
          <p:nvPr/>
        </p:nvSpPr>
        <p:spPr>
          <a:xfrm xmlns:a="http://schemas.openxmlformats.org/drawingml/2006/main">
            <a:off x="8095488"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21" name="Text 19">
            <a:extLst xmlns:a="http://schemas.openxmlformats.org/drawingml/2006/main">
              <a:ext uri="{FF2B5EF4-FFF2-40B4-BE49-F238E27FC236}">
                <a16:creationId xmlns:a16="http://schemas.microsoft.com/office/drawing/2014/main" id="{2C8A37E1-F8A3-428C-ABF2-854F58F5C585}"/>
              </a:ext>
            </a:extLst>
          </p:cNvPr>
          <p:cNvSpPr>
            <a:spLocks xmlns:a="http://schemas.openxmlformats.org/drawingml/2006/main" noGrp="1"/>
          </p:cNvSpPr>
          <p:nvPr/>
        </p:nvSpPr>
        <p:spPr>
          <a:xfrm xmlns:a="http://schemas.openxmlformats.org/drawingml/2006/main">
            <a:off x="8369808"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VERDICT</a:t>
            </a:r>
            <a:endParaRPr sz="1500"/>
          </a:p>
        </p:txBody>
      </p:sp>
      <p:sp>
        <p:nvSpPr>
          <p:cNvPr id="22" name="Text 20">
            <a:extLst xmlns:a="http://schemas.openxmlformats.org/drawingml/2006/main">
              <a:ext uri="{FF2B5EF4-FFF2-40B4-BE49-F238E27FC236}">
                <a16:creationId xmlns:a16="http://schemas.microsoft.com/office/drawing/2014/main" id="{7A6271B4-7358-4A84-ACCF-ED5B2EFD24D0}"/>
              </a:ext>
            </a:extLst>
          </p:cNvPr>
          <p:cNvSpPr>
            <a:spLocks xmlns:a="http://schemas.openxmlformats.org/drawingml/2006/main" noGrp="1"/>
          </p:cNvSpPr>
          <p:nvPr/>
        </p:nvSpPr>
        <p:spPr>
          <a:xfrm xmlns:a="http://schemas.openxmlformats.org/drawingml/2006/main">
            <a:off x="8369808"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evidence attached</a:t>
            </a:r>
            <a:endParaRPr sz="1150"/>
          </a:p>
        </p:txBody>
      </p:sp>
      <p:sp>
        <p:nvSpPr>
          <p:cNvPr id="23" name="Text 21">
            <a:extLst xmlns:a="http://schemas.openxmlformats.org/drawingml/2006/main">
              <a:ext uri="{FF2B5EF4-FFF2-40B4-BE49-F238E27FC236}">
                <a16:creationId xmlns:a16="http://schemas.microsoft.com/office/drawing/2014/main" id="{6DD1E79B-A9BA-4D28-994D-C16DE31B2DE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12 August 2026</a:t>
            </a:r>
            <a:endParaRPr sz="900"/>
          </a:p>
        </p:txBody>
      </p:sp>
      <p:sp>
        <p:nvSpPr>
          <p:cNvPr id="24" name="Text 22">
            <a:extLst xmlns:a="http://schemas.openxmlformats.org/drawingml/2006/main">
              <a:ext uri="{FF2B5EF4-FFF2-40B4-BE49-F238E27FC236}">
                <a16:creationId xmlns:a16="http://schemas.microsoft.com/office/drawing/2014/main" id="{B4BA9BB4-A70E-438C-8CA5-73E3E57E09B8}"/>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22</a:t>
            </a:r>
            <a:endParaRPr sz="900"/>
          </a:p>
        </p:txBody>
      </p:sp>
    </p:spTree>
    <p:extLst>
      <p:ext uri="{BB962C8B-B14F-4D97-AF65-F5344CB8AC3E}">
        <p14:creationId xmlns:p14="http://schemas.microsoft.com/office/powerpoint/2010/main" val="169771235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2026-08-12T17:54:11.0280000Z</dcterms:created>
  <dcterms:modified xsi:type="dcterms:W3CDTF">2026-08-12T17:54:11.0280000Z</dcterms:modified>
</coreProperties>
</file>