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60428e50e642cb" /><Relationship Type="http://schemas.openxmlformats.org/officeDocument/2006/relationships/extended-properties" Target="/docProps/app.xml" Id="Rea05c6f4b8624019" /><Relationship Type="http://schemas.openxmlformats.org/officeDocument/2006/relationships/officeDocument" Target="/ppt/presentation.xml" Id="R99955118659149f6" /></Relationships>
</file>

<file path=ppt/presentation.xml><?xml version="1.0" encoding="utf-8"?>
<p:presentation xmlns:p="http://schemas.openxmlformats.org/presentationml/2006/main">
  <p:sldMasterIdLst>
    <p:sldMasterId xmlns:r="http://schemas.openxmlformats.org/officeDocument/2006/relationships" id="2147483648" r:id="R4896c8c0838a42a3"/>
  </p:sldMasterIdLst>
  <p:notesMasterIdLst>
    <p:notesMasterId xmlns:r="http://schemas.openxmlformats.org/officeDocument/2006/relationships" r:id="R9cd876c927264812"/>
  </p:notesMasterIdLst>
  <p:sldIdLst>
    <p:sldId xmlns:r="http://schemas.openxmlformats.org/officeDocument/2006/relationships" id="256" r:id="R5f3237cb034e4828"/>
    <p:sldId xmlns:r="http://schemas.openxmlformats.org/officeDocument/2006/relationships" id="257" r:id="R595d3d84bcee4633"/>
    <p:sldId xmlns:r="http://schemas.openxmlformats.org/officeDocument/2006/relationships" id="258" r:id="Rf48184045f3a44d0"/>
    <p:sldId xmlns:r="http://schemas.openxmlformats.org/officeDocument/2006/relationships" id="259" r:id="Rae817b0ef4b94daf"/>
    <p:sldId xmlns:r="http://schemas.openxmlformats.org/officeDocument/2006/relationships" id="260" r:id="R6dab887af616480d"/>
    <p:sldId xmlns:r="http://schemas.openxmlformats.org/officeDocument/2006/relationships" id="261" r:id="Rc581d41978a3428d"/>
    <p:sldId xmlns:r="http://schemas.openxmlformats.org/officeDocument/2006/relationships" id="262" r:id="R25bff35b8f4d4351"/>
    <p:sldId xmlns:r="http://schemas.openxmlformats.org/officeDocument/2006/relationships" id="263" r:id="R935ea106bafb4fa2"/>
    <p:sldId xmlns:r="http://schemas.openxmlformats.org/officeDocument/2006/relationships" id="264" r:id="R69ce6e34c65743e1"/>
    <p:sldId xmlns:r="http://schemas.openxmlformats.org/officeDocument/2006/relationships" id="265" r:id="R8477e0e49b2442ce"/>
    <p:sldId xmlns:r="http://schemas.openxmlformats.org/officeDocument/2006/relationships" id="266" r:id="R5df921a2ae624c95"/>
    <p:sldId xmlns:r="http://schemas.openxmlformats.org/officeDocument/2006/relationships" id="267" r:id="R95d2d9e99a8d4d2a"/>
    <p:sldId xmlns:r="http://schemas.openxmlformats.org/officeDocument/2006/relationships" id="268" r:id="R3292e6c44ee74e6f"/>
    <p:sldId xmlns:r="http://schemas.openxmlformats.org/officeDocument/2006/relationships" id="269" r:id="Rcc29b1adbcf34e8a"/>
    <p:sldId xmlns:r="http://schemas.openxmlformats.org/officeDocument/2006/relationships" id="270" r:id="Re6089521818a439d"/>
    <p:sldId xmlns:r="http://schemas.openxmlformats.org/officeDocument/2006/relationships" id="271" r:id="Raf96336d57fb4eec"/>
    <p:sldId xmlns:r="http://schemas.openxmlformats.org/officeDocument/2006/relationships" id="272" r:id="R5f54ac0f019c4b50"/>
    <p:sldId xmlns:r="http://schemas.openxmlformats.org/officeDocument/2006/relationships" id="273" r:id="Rec701f14870843cb"/>
    <p:sldId xmlns:r="http://schemas.openxmlformats.org/officeDocument/2006/relationships" id="274" r:id="Rbd2c870bdf2649b6"/>
    <p:sldId xmlns:r="http://schemas.openxmlformats.org/officeDocument/2006/relationships" id="275" r:id="Rf2c580fc886940e6"/>
    <p:sldId xmlns:r="http://schemas.openxmlformats.org/officeDocument/2006/relationships" id="276" r:id="Rec365cfd9e6e4368"/>
    <p:sldId xmlns:r="http://schemas.openxmlformats.org/officeDocument/2006/relationships" id="277" r:id="R88655c9f4cc446a3"/>
    <p:sldId xmlns:r="http://schemas.openxmlformats.org/officeDocument/2006/relationships" id="278" r:id="R09cf3a82e5e44159"/>
    <p:sldId xmlns:r="http://schemas.openxmlformats.org/officeDocument/2006/relationships" id="279" r:id="Rd809d4c7a8e14d1c"/>
    <p:sldId xmlns:r="http://schemas.openxmlformats.org/officeDocument/2006/relationships" id="280" r:id="R03f092b29ab74d27"/>
    <p:sldId xmlns:r="http://schemas.openxmlformats.org/officeDocument/2006/relationships" id="281" r:id="R45e8c141f3ae4f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7b09a414414421f" /><Relationship Type="http://schemas.openxmlformats.org/officeDocument/2006/relationships/slideMaster" Target="/ppt/slideMasters/slideMaster1.xml" Id="R4896c8c0838a42a3" /><Relationship Type="http://schemas.openxmlformats.org/officeDocument/2006/relationships/notesMaster" Target="/ppt/notesMasters/notesMaster1.xml" Id="R9cd876c927264812" /><Relationship Type="http://schemas.openxmlformats.org/officeDocument/2006/relationships/presProps" Target="/ppt/presProps.xml" Id="Ree2218890a774540" /><Relationship Type="http://schemas.openxmlformats.org/officeDocument/2006/relationships/viewProps" Target="/ppt/viewProps.xml" Id="Re2190b9060d44c7c" /><Relationship Type="http://schemas.openxmlformats.org/officeDocument/2006/relationships/tableStyles" Target="/ppt/tableStyles.xml" Id="Ra389e09a6a1740eb" /><Relationship Type="http://schemas.openxmlformats.org/officeDocument/2006/relationships/slide" Target="/ppt/slides/slide1.xml" Id="R5f3237cb034e4828" /><Relationship Type="http://schemas.openxmlformats.org/officeDocument/2006/relationships/slide" Target="/ppt/slides/slide2.xml" Id="R595d3d84bcee4633" /><Relationship Type="http://schemas.openxmlformats.org/officeDocument/2006/relationships/slide" Target="/ppt/slides/slide3.xml" Id="Rf48184045f3a44d0" /><Relationship Type="http://schemas.openxmlformats.org/officeDocument/2006/relationships/slide" Target="/ppt/slides/slide4.xml" Id="Rae817b0ef4b94daf" /><Relationship Type="http://schemas.openxmlformats.org/officeDocument/2006/relationships/slide" Target="/ppt/slides/slide5.xml" Id="R6dab887af616480d" /><Relationship Type="http://schemas.openxmlformats.org/officeDocument/2006/relationships/slide" Target="/ppt/slides/slide6.xml" Id="Rc581d41978a3428d" /><Relationship Type="http://schemas.openxmlformats.org/officeDocument/2006/relationships/slide" Target="/ppt/slides/slide7.xml" Id="R25bff35b8f4d4351" /><Relationship Type="http://schemas.openxmlformats.org/officeDocument/2006/relationships/slide" Target="/ppt/slides/slide8.xml" Id="R935ea106bafb4fa2" /><Relationship Type="http://schemas.openxmlformats.org/officeDocument/2006/relationships/slide" Target="/ppt/slides/slide9.xml" Id="R69ce6e34c65743e1" /><Relationship Type="http://schemas.openxmlformats.org/officeDocument/2006/relationships/slide" Target="/ppt/slides/slide10.xml" Id="R8477e0e49b2442ce" /><Relationship Type="http://schemas.openxmlformats.org/officeDocument/2006/relationships/slide" Target="/ppt/slides/slide11.xml" Id="R5df921a2ae624c95" /><Relationship Type="http://schemas.openxmlformats.org/officeDocument/2006/relationships/slide" Target="/ppt/slides/slide12.xml" Id="R95d2d9e99a8d4d2a" /><Relationship Type="http://schemas.openxmlformats.org/officeDocument/2006/relationships/slide" Target="/ppt/slides/slide13.xml" Id="R3292e6c44ee74e6f" /><Relationship Type="http://schemas.openxmlformats.org/officeDocument/2006/relationships/slide" Target="/ppt/slides/slide14.xml" Id="Rcc29b1adbcf34e8a" /><Relationship Type="http://schemas.openxmlformats.org/officeDocument/2006/relationships/slide" Target="/ppt/slides/slide15.xml" Id="Re6089521818a439d" /><Relationship Type="http://schemas.openxmlformats.org/officeDocument/2006/relationships/slide" Target="/ppt/slides/slide16.xml" Id="Raf96336d57fb4eec" /><Relationship Type="http://schemas.openxmlformats.org/officeDocument/2006/relationships/slide" Target="/ppt/slides/slide17.xml" Id="R5f54ac0f019c4b50" /><Relationship Type="http://schemas.openxmlformats.org/officeDocument/2006/relationships/slide" Target="/ppt/slides/slide18.xml" Id="Rec701f14870843cb" /><Relationship Type="http://schemas.openxmlformats.org/officeDocument/2006/relationships/slide" Target="/ppt/slides/slide19.xml" Id="Rbd2c870bdf2649b6" /><Relationship Type="http://schemas.openxmlformats.org/officeDocument/2006/relationships/slide" Target="/ppt/slides/slide20.xml" Id="Rf2c580fc886940e6" /><Relationship Type="http://schemas.openxmlformats.org/officeDocument/2006/relationships/slide" Target="/ppt/slides/slide21.xml" Id="Rec365cfd9e6e4368" /><Relationship Type="http://schemas.openxmlformats.org/officeDocument/2006/relationships/slide" Target="/ppt/slides/slide22.xml" Id="R88655c9f4cc446a3" /><Relationship Type="http://schemas.openxmlformats.org/officeDocument/2006/relationships/slide" Target="/ppt/slides/slide23.xml" Id="R09cf3a82e5e44159" /><Relationship Type="http://schemas.openxmlformats.org/officeDocument/2006/relationships/slide" Target="/ppt/slides/slide24.xml" Id="Rd809d4c7a8e14d1c" /><Relationship Type="http://schemas.openxmlformats.org/officeDocument/2006/relationships/slide" Target="/ppt/slides/slide25.xml" Id="R03f092b29ab74d27" /><Relationship Type="http://schemas.openxmlformats.org/officeDocument/2006/relationships/slide" Target="/ppt/slides/slide26.xml" Id="R45e8c141f3ae4f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4727f582494b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bfd970b1ba40e1" /><Relationship Type="http://schemas.openxmlformats.org/officeDocument/2006/relationships/notesMaster" Target="/ppt/notesMasters/notesMaster1.xml" Id="Rc5e727482c6547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0309dddaf542f6" /><Relationship Type="http://schemas.openxmlformats.org/officeDocument/2006/relationships/notesMaster" Target="/ppt/notesMasters/notesMaster1.xml" Id="R7d7e1716449640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ecbd3197b541dd" /><Relationship Type="http://schemas.openxmlformats.org/officeDocument/2006/relationships/notesMaster" Target="/ppt/notesMasters/notesMaster1.xml" Id="Reb7481f0d8ab44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d15af6af924987" /><Relationship Type="http://schemas.openxmlformats.org/officeDocument/2006/relationships/notesMaster" Target="/ppt/notesMasters/notesMaster1.xml" Id="R1f8ceab307914a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afbd1e1def4475" /><Relationship Type="http://schemas.openxmlformats.org/officeDocument/2006/relationships/notesMaster" Target="/ppt/notesMasters/notesMaster1.xml" Id="Rc5233f2e182649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0ea443e4aa464b" /><Relationship Type="http://schemas.openxmlformats.org/officeDocument/2006/relationships/notesMaster" Target="/ppt/notesMasters/notesMaster1.xml" Id="Rd82de778bb8a4f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903ee109c94cd2" /><Relationship Type="http://schemas.openxmlformats.org/officeDocument/2006/relationships/notesMaster" Target="/ppt/notesMasters/notesMaster1.xml" Id="R868b50749e604a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e79078082f4eda" /><Relationship Type="http://schemas.openxmlformats.org/officeDocument/2006/relationships/notesMaster" Target="/ppt/notesMasters/notesMaster1.xml" Id="Rc3e67a1f6edf44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93b68eaccd4e32" /><Relationship Type="http://schemas.openxmlformats.org/officeDocument/2006/relationships/notesMaster" Target="/ppt/notesMasters/notesMaster1.xml" Id="Re96927daf5624f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356581d5cd4907" /><Relationship Type="http://schemas.openxmlformats.org/officeDocument/2006/relationships/notesMaster" Target="/ppt/notesMasters/notesMaster1.xml" Id="R37dca819c32443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74ee2a47a748e1" /><Relationship Type="http://schemas.openxmlformats.org/officeDocument/2006/relationships/notesMaster" Target="/ppt/notesMasters/notesMaster1.xml" Id="Ra49520469d2a45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36102dca734d5a" /><Relationship Type="http://schemas.openxmlformats.org/officeDocument/2006/relationships/notesMaster" Target="/ppt/notesMasters/notesMaster1.xml" Id="R49454eb5e58a49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9bce9deae043b1" /><Relationship Type="http://schemas.openxmlformats.org/officeDocument/2006/relationships/notesMaster" Target="/ppt/notesMasters/notesMaster1.xml" Id="R98615d8f7a984c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36653251984107" /><Relationship Type="http://schemas.openxmlformats.org/officeDocument/2006/relationships/notesMaster" Target="/ppt/notesMasters/notesMaster1.xml" Id="Rca5f3c05211e40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9fd5ce5312466f" /><Relationship Type="http://schemas.openxmlformats.org/officeDocument/2006/relationships/notesMaster" Target="/ppt/notesMasters/notesMaster1.xml" Id="R5b6d098404454d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983116dea6645b8" /><Relationship Type="http://schemas.openxmlformats.org/officeDocument/2006/relationships/notesMaster" Target="/ppt/notesMasters/notesMaster1.xml" Id="R5701c1148a884b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746369557e4010" /><Relationship Type="http://schemas.openxmlformats.org/officeDocument/2006/relationships/notesMaster" Target="/ppt/notesMasters/notesMaster1.xml" Id="Rf7bf50c03cc944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fc9e4f06ef4d4d" /><Relationship Type="http://schemas.openxmlformats.org/officeDocument/2006/relationships/notesMaster" Target="/ppt/notesMasters/notesMaster1.xml" Id="Re8bea60efbbd44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f85d714b324bdc" /><Relationship Type="http://schemas.openxmlformats.org/officeDocument/2006/relationships/notesMaster" Target="/ppt/notesMasters/notesMaster1.xml" Id="R1fb915fa93c741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18aed597f84c0d" /><Relationship Type="http://schemas.openxmlformats.org/officeDocument/2006/relationships/notesMaster" Target="/ppt/notesMasters/notesMaster1.xml" Id="R23b9e217fa4240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5eed452da74191" /><Relationship Type="http://schemas.openxmlformats.org/officeDocument/2006/relationships/notesMaster" Target="/ppt/notesMasters/notesMaster1.xml" Id="R19d76ee3c6404f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915b2f8ebd4c42" /><Relationship Type="http://schemas.openxmlformats.org/officeDocument/2006/relationships/notesMaster" Target="/ppt/notesMasters/notesMaster1.xml" Id="R66e8c42d253043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dc443a51bc4030" /><Relationship Type="http://schemas.openxmlformats.org/officeDocument/2006/relationships/notesMaster" Target="/ppt/notesMasters/notesMaster1.xml" Id="R2acb541a310e40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c8a4d87c944955" /><Relationship Type="http://schemas.openxmlformats.org/officeDocument/2006/relationships/notesMaster" Target="/ppt/notesMasters/notesMaster1.xml" Id="Rdd99817cbd864e0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1a7361dd864b9f" /><Relationship Type="http://schemas.openxmlformats.org/officeDocument/2006/relationships/notesMaster" Target="/ppt/notesMasters/notesMaster1.xml" Id="Rb576000afbfd4e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5532b1839d4edc" /><Relationship Type="http://schemas.openxmlformats.org/officeDocument/2006/relationships/notesMaster" Target="/ppt/notesMasters/notesMaster1.xml" Id="R4ed2dfef02084b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the link, switch to full screen, confirm sound and play the complete video before slide 2.</a:t>
            </a:r>
            <a:endParaRPr/>
          </a:p>
          <a:p xmlns:a="http://schemas.openxmlformats.org/drawingml/2006/main">
            <a:r>
              <a:t/>
            </a:r>
            <a:endParaRPr/>
          </a:p>
          <a:p xmlns:a="http://schemas.openxmlformats.org/drawingml/2006/main">
            <a:r>
              <a:t>[Sources]</a:t>
            </a:r>
            <a:endParaRPr/>
          </a:p>
          <a:p xmlns:a="http://schemas.openxmlformats.org/drawingml/2006/main">
            <a:r>
              <a:t>- https://youtu.be/eRrc1pUY5oU?si=Xb6O9dCRIE983HrU</a:t>
            </a:r>
            <a:endParaRPr/>
          </a:p>
          <a:p xmlns:a="http://schemas.openxmlformats.org/drawingml/2006/main">
            <a:r>
              <a:t>- User-supplied opening-video ruling</a:t>
            </a:r>
            <a:endParaRPr/>
          </a:p>
          <a:p xmlns:a="http://schemas.openxmlformats.org/drawingml/2006/main">
            <a:r>
              <a:t>- YouTube oEmbed title and author metadata</a:t>
            </a:r>
            <a:endParaRPr/>
          </a:p>
          <a:p xmlns:a="http://schemas.openxmlformats.org/drawingml/2006/main">
            <a:r>
              <a:t>- YouTube lengthSeconds metadata: 2528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tease, not a performance promise.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employee message: “You are learning to wear Codex like an Iron Man suit. You provide the mission and judgment. Codex performs approved work through a controlled autonomous loop.” Iron Man is a work metaphor; no Marvel artwork or copied movie visual is used.</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audience promise is a verified setup and one real first mission, not an abstract lesson.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people, not departments. Do not sum the snapshot into a new aggregate.</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locked sprint facts. The employee rollout does not claim that the whole team has reproduced the result.</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109,771 ÷ 1,967 = 55.8, displayed as approximately 56×. The two token counts, measurement method and five-file result are locked facts.</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current-state problem the inventory and durable state solve.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D-120, D-121, D-124 and D-130 are four references to one Delhi campus. The lesson is the fact lock.</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 toward 800× statement is Abilash's ambition. It is not a verified result, forecast or guarantee.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transition: “Do you want a system like this? Let me show you how.”</a:t>
            </a:r>
            <a:endParaRPr/>
          </a:p>
          <a:p xmlns:a="http://schemas.openxmlformats.org/drawingml/2006/main">
            <a:r>
              <a:t/>
            </a:r>
            <a:endParaRPr/>
          </a:p>
          <a:p xmlns:a="http://schemas.openxmlformats.org/drawingml/2006/main">
            <a:r>
              <a:t>Before people enter, open the tested YouTube watch link, let any advertisement finish, confirm it seeks to 00:40, pause there and leave the tab ready. At this slide, switch to that prepared tab. If it is not ready, click the green callout and recover at 00:40. Pause manually at 01:40 before returning immediately to the deck; do not let its audio continue under slide 12.</a:t>
            </a:r>
            <a:endParaRPr/>
          </a:p>
          <a:p xmlns:a="http://schemas.openxmlformats.org/drawingml/2006/main">
            <a:r>
              <a:t/>
            </a:r>
            <a:endParaRPr/>
          </a:p>
          <a:p xmlns:a="http://schemas.openxmlformats.org/drawingml/2006/main">
            <a:r>
              <a:t>Recovery: open https://www.youtube.com/watch?v=yc8qbcIMZVg, seek to 00:40, and pause manually at 01:40.</a:t>
            </a:r>
            <a:endParaRPr/>
          </a:p>
          <a:p xmlns:a="http://schemas.openxmlformats.org/drawingml/2006/main">
            <a:r>
              <a:t/>
            </a:r>
            <a:endParaRPr/>
          </a:p>
          <a:p xmlns:a="http://schemas.openxmlformats.org/drawingml/2006/main">
            <a:r>
              <a:t>Return line: “That is the feeling we are building: not magic and not unlimited access—one mission, a controlled loop and proof.” Advance to the controlled autonomous loop.</a:t>
            </a:r>
            <a:endParaRPr/>
          </a:p>
          <a:p xmlns:a="http://schemas.openxmlformats.org/drawingml/2006/main">
            <a:r>
              <a:t/>
            </a:r>
            <a:endParaRPr/>
          </a:p>
          <a:p xmlns:a="http://schemas.openxmlformats.org/drawingml/2006/main">
            <a:r>
              <a:t>[Sources]</a:t>
            </a:r>
            <a:endParaRPr/>
          </a:p>
          <a:p xmlns:a="http://schemas.openxmlformats.org/drawingml/2006/main">
            <a:r>
              <a:t>- https://www.youtube.com/watch?v=yc8qbcIMZVg</a:t>
            </a:r>
            <a:endParaRPr/>
          </a:p>
          <a:p xmlns:a="http://schemas.openxmlformats.org/drawingml/2006/main">
            <a:r>
              <a:t>- https://developers.google.com/youtube/player_parameters</a:t>
            </a:r>
            <a:endParaRPr/>
          </a:p>
          <a:p xmlns:a="http://schemas.openxmlformats.org/drawingml/2006/main">
            <a:r>
              <a:t>- Owner-supplied segment and presenter framing,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means continuing approved work inside declared boundaries. It never means silent permission expansion.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system appears after the outcome and operating model. Each worker owns separate state; shared facts have one owner.</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system, not the sales story.</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employee setup guide now and open it to the complete Setup Helper prompt. The employee never has to diagnose setup. The full prompt is reproduced here for the facilitator:</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[Sources]</a:t>
            </a:r>
            <a:endParaRPr/>
          </a:p>
          <a:p xmlns:a="http://schemas.openxmlformats.org/drawingml/2006/main">
            <a:r>
              <a:t>- https://learn.chatgpt.com/docs/app</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protected public repository is the clean setup and update source for every company. Beginners do not need a collaborator invitation, Git or Terminal: the Setup Helper can obtain the v1.1.0 company kit and open the correct project. Named live operations stay in a separately assigned private repository; homework and standalone work use separate local workers. Never put live company work or secrets in the public distribution repository.</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renamed connectors to Apps. Never test with a personal account. Company policy may control App availability.</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access never creates unlimited authority. The Setup Helper opens the correct settings page; the employee performs the unavoidable permission action and the helper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https://learn.chatgpt.com/docs/computer-use</a:t>
            </a:r>
            <a:endParaRPr/>
          </a:p>
          <a:p xmlns:a="http://schemas.openxmlformats.org/drawingml/2006/main">
            <a:r>
              <a:t>- https://learn.chatgpt.com/docs/chrome-extension</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Wispr is the voice input layer; the employee still reviews the transcript before sending. The Setup Helper checks, installs where safe and verifies the result.</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https://docs.wisprflow.ai/articles/1036674442-supported-devices-and-system-requirements</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voice experience should feel immediate, while approvals and project rules remain unchanged. NOT SET is a correct startup answer when no task has been ruled; it is not permission to invent work.</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 lets the phone start, guide, approve and review tasks running on a connected Mac or Windows computer. The helper shows the human pairing action and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https://learn.chatgpt.com/docs/remote</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pathway for an employee who needs to reach an approved work computer from home. Setup can require the computer password and security-setting changes. Managed company accounts or networks may restrict remote access, so Ambuj/IT approval comes first. The employee keeps the PIN private and disconnects after use.</a:t>
            </a:r>
            <a:endParaRPr/>
          </a:p>
          <a:p xmlns:a="http://schemas.openxmlformats.org/drawingml/2006/main">
            <a:r>
              <a:t/>
            </a:r>
            <a:endParaRPr/>
          </a:p>
          <a:p xmlns:a="http://schemas.openxmlformats.org/drawingml/2006/main">
            <a:r>
              <a:t>[Sources]</a:t>
            </a:r>
            <a:endParaRPr/>
          </a:p>
          <a:p xmlns:a="http://schemas.openxmlformats.org/drawingml/2006/main">
            <a:r>
              <a:t>- https://support.google.com/chrome/answer/1649523?hl=en</a:t>
            </a:r>
            <a:endParaRPr/>
          </a:p>
          <a:p xmlns:a="http://schemas.openxmlformats.org/drawingml/2006/main">
            <a:r>
              <a:t>- https://remotedesktop.google.com/access</a:t>
            </a:r>
            <a:endParaRPr/>
          </a:p>
          <a:p xmlns:a="http://schemas.openxmlformats.org/drawingml/2006/main">
            <a:r>
              <a:t>- https://support.google.com/chrome/a/answer/2799701?hl=en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Push back on “scan the whole hard drive.” Inventory only approved company work areas.</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Lines is the machine-readable file. CSV is the portable human-readable file. The Google Sheet is the shared human access copy. The scan is read-only and batched.</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https://help.openai.com/en/articles/11487775-connectors-in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Ambuj facilitates this in the room. The first success is the employee receiving one useful, bounded task recommendation after the approved inventory begins.</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Universal homework is now unambiguous: Email Triage and Drive Inventory are required; LinkedIn Draft is optional. Each assignment is a separate AI-human worker supplied in the public v1.1.0 company kit. The limits are hard safety boundaries, not targets to exceed. Collect only the named report files; employees do not send, delete, move, open attachments, open Drive file contents, edit cloud files, publish or open LinkedIn.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https://github.com/kairali-digital/ai-human-workspace/releases/tag/v1.1.0</a:t>
            </a:r>
            <a:endParaRPr/>
          </a:p>
          <a:p xmlns:a="http://schemas.openxmlformats.org/drawingml/2006/main">
            <a:r>
              <a:t>- Kairali repository: output/ROLLOUT-V1.1-REFRESH-001/homework/START-HERE.md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0df4f0480841f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97aad4cf474775" /><Relationship Type="http://schemas.openxmlformats.org/officeDocument/2006/relationships/slideLayout" Target="/ppt/slideLayouts/slideLayout1.xml" Id="R50efeaf58bc44f6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efeaf58bc44f6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69598f55fc4d74" /><Relationship Type="http://schemas.openxmlformats.org/officeDocument/2006/relationships/hyperlink" Target="https://youtu.be/eRrc1pUY5oU?si=Xb6O9dCRIE983HrU" TargetMode="External" Id="R9f71f684b0ba4cfd" /><Relationship Type="http://schemas.openxmlformats.org/officeDocument/2006/relationships/notesSlide" Target="/ppt/notesSlides/notesSlide1.xml" Id="R4834499ddc9b40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5de929dbff40ea" /><Relationship Type="http://schemas.openxmlformats.org/officeDocument/2006/relationships/notesSlide" Target="/ppt/notesSlides/notesSlide2.xml" Id="Re1a3d3bebcb24c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62384fc9f34f3c" /><Relationship Type="http://schemas.openxmlformats.org/officeDocument/2006/relationships/image" Target="/ppt/media/image.png" Id="R0e67e0961904427f" /><Relationship Type="http://schemas.openxmlformats.org/officeDocument/2006/relationships/notesSlide" Target="/ppt/notesSlides/notesSlide3.xml" Id="Rd77ce18da8bc45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a4a4a35e154321" /><Relationship Type="http://schemas.openxmlformats.org/officeDocument/2006/relationships/notesSlide" Target="/ppt/notesSlides/notesSlide4.xml" Id="Rb539241ad0cd44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2865a659e0462b" /><Relationship Type="http://schemas.openxmlformats.org/officeDocument/2006/relationships/notesSlide" Target="/ppt/notesSlides/notesSlide5.xml" Id="R0365f7e9ea4d4e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f801868f6c4da8" /><Relationship Type="http://schemas.openxmlformats.org/officeDocument/2006/relationships/notesSlide" Target="/ppt/notesSlides/notesSlide6.xml" Id="R44fe7deb415a41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b28041be67423a" /><Relationship Type="http://schemas.openxmlformats.org/officeDocument/2006/relationships/notesSlide" Target="/ppt/notesSlides/notesSlide7.xml" Id="Raa147dc3f9b64a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31182caca14917" /><Relationship Type="http://schemas.openxmlformats.org/officeDocument/2006/relationships/image" Target="/ppt/media/image2.png" Id="Rb3025aac2bb246e8" /><Relationship Type="http://schemas.openxmlformats.org/officeDocument/2006/relationships/image" Target="/ppt/media/image3.png" Id="Re2b6fabb118f4276" /><Relationship Type="http://schemas.openxmlformats.org/officeDocument/2006/relationships/image" Target="/ppt/media/image4.png" Id="R00c85677c2074cde" /><Relationship Type="http://schemas.openxmlformats.org/officeDocument/2006/relationships/notesSlide" Target="/ppt/notesSlides/notesSlide8.xml" Id="R6f9383fb85004d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16580e85d34392" /><Relationship Type="http://schemas.openxmlformats.org/officeDocument/2006/relationships/image" Target="/ppt/media/image2.png" Id="Rfcb4ba21848b4816" /><Relationship Type="http://schemas.openxmlformats.org/officeDocument/2006/relationships/image" Target="/ppt/media/image3.png" Id="R4909f7e5798c4bc6" /><Relationship Type="http://schemas.openxmlformats.org/officeDocument/2006/relationships/image" Target="/ppt/media/image4.png" Id="R3ae0c2d3145e441e" /><Relationship Type="http://schemas.openxmlformats.org/officeDocument/2006/relationships/notesSlide" Target="/ppt/notesSlides/notesSlide9.xml" Id="Re76616e3d1e346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b7dd9458d246e2" /><Relationship Type="http://schemas.openxmlformats.org/officeDocument/2006/relationships/image" Target="/ppt/media/image.png" Id="Rd79d90dc657349f5" /><Relationship Type="http://schemas.openxmlformats.org/officeDocument/2006/relationships/notesSlide" Target="/ppt/notesSlides/notesSlide10.xml" Id="R3cd44d31b63e45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f5c534fabe40ac" /><Relationship Type="http://schemas.openxmlformats.org/officeDocument/2006/relationships/image" Target="/ppt/media/image.png" Id="R50348c6c89db4748" /><Relationship Type="http://schemas.openxmlformats.org/officeDocument/2006/relationships/hyperlink" Target="https://www.youtube.com/watch?v=yc8qbcIMZVg&amp;t=40s" TargetMode="External" Id="R9ad7450698e748fd" /><Relationship Type="http://schemas.openxmlformats.org/officeDocument/2006/relationships/notesSlide" Target="/ppt/notesSlides/notesSlide11.xml" Id="Rebf1e480bdee46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8263dc88e54643" /><Relationship Type="http://schemas.openxmlformats.org/officeDocument/2006/relationships/image" Target="/ppt/media/image.png" Id="Rc4264bcde8604e3f" /><Relationship Type="http://schemas.openxmlformats.org/officeDocument/2006/relationships/notesSlide" Target="/ppt/notesSlides/notesSlide12.xml" Id="R8620bda94e174b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e0120d3f394313" /><Relationship Type="http://schemas.openxmlformats.org/officeDocument/2006/relationships/notesSlide" Target="/ppt/notesSlides/notesSlide13.xml" Id="Re388629f5e174c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e44dfcabe240b8" /><Relationship Type="http://schemas.openxmlformats.org/officeDocument/2006/relationships/image" Target="/ppt/media/image2.png" Id="Rf0f9ec5425944119" /><Relationship Type="http://schemas.openxmlformats.org/officeDocument/2006/relationships/image" Target="/ppt/media/image3.png" Id="R093c8bd3d0a14b3f" /><Relationship Type="http://schemas.openxmlformats.org/officeDocument/2006/relationships/image" Target="/ppt/media/image4.png" Id="R6ccfb3ba4440438c" /><Relationship Type="http://schemas.openxmlformats.org/officeDocument/2006/relationships/notesSlide" Target="/ppt/notesSlides/notesSlide14.xml" Id="R2fc82b927d2247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50c5c627844462" /><Relationship Type="http://schemas.openxmlformats.org/officeDocument/2006/relationships/notesSlide" Target="/ppt/notesSlides/notesSlide15.xml" Id="R5504ea63359f4b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fefe4cbbf54887" /><Relationship Type="http://schemas.openxmlformats.org/officeDocument/2006/relationships/image" Target="/ppt/media/image5.png" Id="R1ad33b123af44b8c" /><Relationship Type="http://schemas.openxmlformats.org/officeDocument/2006/relationships/notesSlide" Target="/ppt/notesSlides/notesSlide16.xml" Id="Rec6cf01c47e542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09f1e1861c473a" /><Relationship Type="http://schemas.openxmlformats.org/officeDocument/2006/relationships/notesSlide" Target="/ppt/notesSlides/notesSlide17.xml" Id="R3561d0d747a949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d25baabf344756" /><Relationship Type="http://schemas.openxmlformats.org/officeDocument/2006/relationships/image" Target="/ppt/media/image6.png" Id="Ra05b701818fd46d4" /><Relationship Type="http://schemas.openxmlformats.org/officeDocument/2006/relationships/notesSlide" Target="/ppt/notesSlides/notesSlide18.xml" Id="R71cec6a43b22475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f9ca9bfa29c46af" /><Relationship Type="http://schemas.openxmlformats.org/officeDocument/2006/relationships/image" Target="/ppt/media/image6.png" Id="Rc552dc57d69944b1" /><Relationship Type="http://schemas.openxmlformats.org/officeDocument/2006/relationships/notesSlide" Target="/ppt/notesSlides/notesSlide19.xml" Id="Rf908b28a1bcb47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9bd202a8f1494b" /><Relationship Type="http://schemas.openxmlformats.org/officeDocument/2006/relationships/notesSlide" Target="/ppt/notesSlides/notesSlide20.xml" Id="R246be9279fad4f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88f97df35814ccf" /><Relationship Type="http://schemas.openxmlformats.org/officeDocument/2006/relationships/image" Target="/ppt/media/image5.png" Id="Raf2348cbe6fd45d4" /><Relationship Type="http://schemas.openxmlformats.org/officeDocument/2006/relationships/notesSlide" Target="/ppt/notesSlides/notesSlide21.xml" Id="R69053b70d83b43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7ae1db3a3394638" /><Relationship Type="http://schemas.openxmlformats.org/officeDocument/2006/relationships/image" Target="/ppt/media/image2.png" Id="R2f7468099d464032" /><Relationship Type="http://schemas.openxmlformats.org/officeDocument/2006/relationships/image" Target="/ppt/media/image3.png" Id="R2142118d85384573" /><Relationship Type="http://schemas.openxmlformats.org/officeDocument/2006/relationships/image" Target="/ppt/media/image4.png" Id="Rb6c15e6bafcf477f" /><Relationship Type="http://schemas.openxmlformats.org/officeDocument/2006/relationships/notesSlide" Target="/ppt/notesSlides/notesSlide22.xml" Id="Rc7dc832a6b064f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7a6bdc850714fe8" /><Relationship Type="http://schemas.openxmlformats.org/officeDocument/2006/relationships/image" Target="/ppt/media/image2.png" Id="R6e3aa55499634640" /><Relationship Type="http://schemas.openxmlformats.org/officeDocument/2006/relationships/image" Target="/ppt/media/image3.png" Id="R4a5c72af74984942" /><Relationship Type="http://schemas.openxmlformats.org/officeDocument/2006/relationships/image" Target="/ppt/media/image4.png" Id="R80967821541b457f" /><Relationship Type="http://schemas.openxmlformats.org/officeDocument/2006/relationships/notesSlide" Target="/ppt/notesSlides/notesSlide23.xml" Id="Rab57acfbd0cf4c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afc2b8c7c2641d1" /><Relationship Type="http://schemas.openxmlformats.org/officeDocument/2006/relationships/notesSlide" Target="/ppt/notesSlides/notesSlide24.xml" Id="Rbca3de2ae1114f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80bec89f094cc9" /><Relationship Type="http://schemas.openxmlformats.org/officeDocument/2006/relationships/image" Target="/ppt/media/image7.png" Id="R6fa749f92a854b9e" /><Relationship Type="http://schemas.openxmlformats.org/officeDocument/2006/relationships/image" Target="/ppt/media/image8.png" Id="Rcd3c3d8d060f4638" /><Relationship Type="http://schemas.openxmlformats.org/officeDocument/2006/relationships/image" Target="/ppt/media/image9.png" Id="R96d6a64dee8c4bf1" /><Relationship Type="http://schemas.openxmlformats.org/officeDocument/2006/relationships/notesSlide" Target="/ppt/notesSlides/notesSlide25.xml" Id="R5123f09721de435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3ed3090a704425" /><Relationship Type="http://schemas.openxmlformats.org/officeDocument/2006/relationships/notesSlide" Target="/ppt/notesSlides/notesSlide26.xml" Id="R0794b3930e2845ac"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PLAY THIS FIRST  ·  DO NOT SKIP</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Garry Tan: Own Your Intelligence</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Y Combinator</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42 minutes 08 seconds. Play the full video before the presentation begins.</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9f71f684b0ba4cfd"/>
              </a:rPr>
              <a:t>CLICK HERE TO OPEN THE VIDEO</a:t>
            </a:r>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KAIRALI AI METHOD  ·  12 AUGUST 2026</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your work to keep moving?</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Give Codex one real mission.</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Today: connect the project, map the work, speak the task and approve the first batch.</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You keep judgment and approval.</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415748415"/>
      </p:ext>
    </p:extLst>
  </p:cSld>
</p:sld>
</file>

<file path=ppt/slides/slide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IRON MAN OPERATING MODEL</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You are the mission owner.</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is the suit.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e67e0961904427f"/>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You provide the mission, judgment, creativity, responsibility and approvals.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Codex researches, plans, creates, checks, documents and continues approved work.</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3</a:t>
            </a:r>
            <a:endParaRPr sz="900"/>
          </a:p>
        </p:txBody>
      </p:sp>
    </p:spTree>
    <p:extLst>
      <p:ext uri="{BB962C8B-B14F-4D97-AF65-F5344CB8AC3E}">
        <p14:creationId xmlns:p14="http://schemas.microsoft.com/office/powerpoint/2010/main" val="8646290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8C7F63-FF63-4337-8C22-EB44003ABC41}"/>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WHAT IS IN IT FOR YOU</a:t>
            </a:r>
            <a:endParaRPr sz="1050"/>
          </a:p>
        </p:txBody>
      </p:sp>
      <p:sp>
        <p:nvSpPr>
          <p:cNvPr id="3" name="Text 1">
            <a:extLst xmlns:a="http://schemas.openxmlformats.org/drawingml/2006/main">
              <a:ext uri="{FF2B5EF4-FFF2-40B4-BE49-F238E27FC236}">
                <a16:creationId xmlns:a16="http://schemas.microsoft.com/office/drawing/2014/main" id="{6D365F64-646A-40E9-B328-C4656DB3169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You leave with your suit working.</a:t>
            </a:r>
            <a:endParaRPr sz="3600"/>
          </a:p>
        </p:txBody>
      </p:sp>
      <p:sp>
        <p:nvSpPr>
          <p:cNvPr id="4" name="Shape 2">
            <a:extLst xmlns:a="http://schemas.openxmlformats.org/drawingml/2006/main">
              <a:ext uri="{FF2B5EF4-FFF2-40B4-BE49-F238E27FC236}">
                <a16:creationId xmlns:a16="http://schemas.microsoft.com/office/drawing/2014/main" id="{38F4A3E0-97E6-4079-8072-83E5527856BB}"/>
              </a:ext>
            </a:extLst>
          </p:cNvPr>
          <p:cNvSpPr>
            <a:spLocks xmlns:a="http://schemas.openxmlformats.org/drawingml/2006/main" noGrp="1"/>
          </p:cNvSpPr>
          <p:nvPr/>
        </p:nvSpPr>
        <p:spPr>
          <a:xfrm xmlns:a="http://schemas.openxmlformats.org/drawingml/2006/main">
            <a:off x="640080" y="1828800"/>
            <a:ext cx="3422904" cy="2651760"/>
          </a:xfrm>
          <a:prstGeom xmlns:a="http://schemas.openxmlformats.org/drawingml/2006/main" prst="roundRect">
            <a:avLst>
              <a:gd name="adj" fmla="val 3103"/>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15B9DB5-2192-4E15-AB64-08557D75B384}"/>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ellipse">
            <a:avLst/>
          </a:prstGeom>
          <a:solidFill xmlns:a="http://schemas.openxmlformats.org/drawingml/2006/main">
            <a:srgbClr val="2E6B37"/>
          </a:solidFill>
        </p:spPr>
      </p:sp>
      <p:sp>
        <p:nvSpPr>
          <p:cNvPr id="6" name="Text 4">
            <a:extLst xmlns:a="http://schemas.openxmlformats.org/drawingml/2006/main">
              <a:ext uri="{FF2B5EF4-FFF2-40B4-BE49-F238E27FC236}">
                <a16:creationId xmlns:a16="http://schemas.microsoft.com/office/drawing/2014/main" id="{EF803F3B-BC49-4C2A-8E5C-D62307998DA7}"/>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7" name="Text 5">
            <a:extLst xmlns:a="http://schemas.openxmlformats.org/drawingml/2006/main">
              <a:ext uri="{FF2B5EF4-FFF2-40B4-BE49-F238E27FC236}">
                <a16:creationId xmlns:a16="http://schemas.microsoft.com/office/drawing/2014/main" id="{E1B26B39-DD6B-420F-A333-895BC6C09BB1}"/>
              </a:ext>
            </a:extLst>
          </p:cNvPr>
          <p:cNvSpPr>
            <a:spLocks xmlns:a="http://schemas.openxmlformats.org/drawingml/2006/main" noGrp="1"/>
          </p:cNvSpPr>
          <p:nvPr/>
        </p:nvSpPr>
        <p:spPr>
          <a:xfrm xmlns:a="http://schemas.openxmlformats.org/drawingml/2006/main">
            <a:off x="960120"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project opens</a:t>
            </a:r>
            <a:endParaRPr sz="1800"/>
          </a:p>
        </p:txBody>
      </p:sp>
      <p:sp>
        <p:nvSpPr>
          <p:cNvPr id="8" name="Text 6">
            <a:extLst xmlns:a="http://schemas.openxmlformats.org/drawingml/2006/main">
              <a:ext uri="{FF2B5EF4-FFF2-40B4-BE49-F238E27FC236}">
                <a16:creationId xmlns:a16="http://schemas.microsoft.com/office/drawing/2014/main" id="{4C726426-AFE3-4A9A-84B5-9081A69F49DA}"/>
              </a:ext>
            </a:extLst>
          </p:cNvPr>
          <p:cNvSpPr>
            <a:spLocks xmlns:a="http://schemas.openxmlformats.org/drawingml/2006/main" noGrp="1"/>
          </p:cNvSpPr>
          <p:nvPr/>
        </p:nvSpPr>
        <p:spPr>
          <a:xfrm xmlns:a="http://schemas.openxmlformats.org/drawingml/2006/main">
            <a:off x="960120"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Company account, correct project and startup test passed.</a:t>
            </a:r>
            <a:endParaRPr sz="1300"/>
          </a:p>
        </p:txBody>
      </p:sp>
      <p:sp>
        <p:nvSpPr>
          <p:cNvPr id="9" name="Shape 7">
            <a:extLst xmlns:a="http://schemas.openxmlformats.org/drawingml/2006/main">
              <a:ext uri="{FF2B5EF4-FFF2-40B4-BE49-F238E27FC236}">
                <a16:creationId xmlns:a16="http://schemas.microsoft.com/office/drawing/2014/main" id="{EEDBBEF7-4519-498F-AB6F-E1F2FD47008F}"/>
              </a:ext>
            </a:extLst>
          </p:cNvPr>
          <p:cNvSpPr>
            <a:spLocks xmlns:a="http://schemas.openxmlformats.org/drawingml/2006/main" noGrp="1"/>
          </p:cNvSpPr>
          <p:nvPr/>
        </p:nvSpPr>
        <p:spPr>
          <a:xfrm xmlns:a="http://schemas.openxmlformats.org/drawingml/2006/main">
            <a:off x="4383024" y="1828800"/>
            <a:ext cx="3422904" cy="2651760"/>
          </a:xfrm>
          <a:prstGeom xmlns:a="http://schemas.openxmlformats.org/drawingml/2006/main" prst="roundRect">
            <a:avLst>
              <a:gd name="adj" fmla="val 3103"/>
            </a:avLst>
          </a:prstGeom>
          <a:solidFill xmlns:a="http://schemas.openxmlformats.org/drawingml/2006/main">
            <a:srgbClr val="FBF2DC"/>
          </a:solidFill>
        </p:spPr>
      </p:sp>
      <p:sp>
        <p:nvSpPr>
          <p:cNvPr id="10" name="Shape 8">
            <a:extLst xmlns:a="http://schemas.openxmlformats.org/drawingml/2006/main">
              <a:ext uri="{FF2B5EF4-FFF2-40B4-BE49-F238E27FC236}">
                <a16:creationId xmlns:a16="http://schemas.microsoft.com/office/drawing/2014/main" id="{0CE38E33-A0CC-4558-B79B-EA0F537BCD7C}"/>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ellipse">
            <a:avLst/>
          </a:prstGeom>
          <a:solidFill xmlns:a="http://schemas.openxmlformats.org/drawingml/2006/main">
            <a:srgbClr val="2E6B37"/>
          </a:solidFill>
        </p:spPr>
      </p:sp>
      <p:sp>
        <p:nvSpPr>
          <p:cNvPr id="11" name="Text 9">
            <a:extLst xmlns:a="http://schemas.openxmlformats.org/drawingml/2006/main">
              <a:ext uri="{FF2B5EF4-FFF2-40B4-BE49-F238E27FC236}">
                <a16:creationId xmlns:a16="http://schemas.microsoft.com/office/drawing/2014/main" id="{8C46E115-A11E-45AA-967A-1B3F10A73B06}"/>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2" name="Text 10">
            <a:extLst xmlns:a="http://schemas.openxmlformats.org/drawingml/2006/main">
              <a:ext uri="{FF2B5EF4-FFF2-40B4-BE49-F238E27FC236}">
                <a16:creationId xmlns:a16="http://schemas.microsoft.com/office/drawing/2014/main" id="{3CF25313-5946-48A0-BC27-C98E4F2E6470}"/>
              </a:ext>
            </a:extLst>
          </p:cNvPr>
          <p:cNvSpPr>
            <a:spLocks xmlns:a="http://schemas.openxmlformats.org/drawingml/2006/main" noGrp="1"/>
          </p:cNvSpPr>
          <p:nvPr/>
        </p:nvSpPr>
        <p:spPr>
          <a:xfrm xmlns:a="http://schemas.openxmlformats.org/drawingml/2006/main">
            <a:off x="4703064"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work becomes visible</a:t>
            </a:r>
            <a:endParaRPr sz="1800"/>
          </a:p>
        </p:txBody>
      </p:sp>
      <p:sp>
        <p:nvSpPr>
          <p:cNvPr id="13" name="Text 11">
            <a:extLst xmlns:a="http://schemas.openxmlformats.org/drawingml/2006/main">
              <a:ext uri="{FF2B5EF4-FFF2-40B4-BE49-F238E27FC236}">
                <a16:creationId xmlns:a16="http://schemas.microsoft.com/office/drawing/2014/main" id="{022CB0FC-9181-47B3-B550-605A1C6CAE4F}"/>
              </a:ext>
            </a:extLst>
          </p:cNvPr>
          <p:cNvSpPr>
            <a:spLocks xmlns:a="http://schemas.openxmlformats.org/drawingml/2006/main" noGrp="1"/>
          </p:cNvSpPr>
          <p:nvPr/>
        </p:nvSpPr>
        <p:spPr>
          <a:xfrm xmlns:a="http://schemas.openxmlformats.org/drawingml/2006/main">
            <a:off x="4703064"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Approved folders, Drive files and delegation rows become one inventory.</a:t>
            </a:r>
            <a:endParaRPr sz="1300"/>
          </a:p>
        </p:txBody>
      </p:sp>
      <p:sp>
        <p:nvSpPr>
          <p:cNvPr id="14" name="Shape 12">
            <a:extLst xmlns:a="http://schemas.openxmlformats.org/drawingml/2006/main">
              <a:ext uri="{FF2B5EF4-FFF2-40B4-BE49-F238E27FC236}">
                <a16:creationId xmlns:a16="http://schemas.microsoft.com/office/drawing/2014/main" id="{4C4C19E8-9ECE-4A75-81DF-F70E4FCE4978}"/>
              </a:ext>
            </a:extLst>
          </p:cNvPr>
          <p:cNvSpPr>
            <a:spLocks xmlns:a="http://schemas.openxmlformats.org/drawingml/2006/main" noGrp="1"/>
          </p:cNvSpPr>
          <p:nvPr/>
        </p:nvSpPr>
        <p:spPr>
          <a:xfrm xmlns:a="http://schemas.openxmlformats.org/drawingml/2006/main">
            <a:off x="8125968" y="1828800"/>
            <a:ext cx="3422904" cy="2651760"/>
          </a:xfrm>
          <a:prstGeom xmlns:a="http://schemas.openxmlformats.org/drawingml/2006/main" prst="roundRect">
            <a:avLst>
              <a:gd name="adj" fmla="val 3103"/>
            </a:avLst>
          </a:prstGeom>
          <a:solidFill xmlns:a="http://schemas.openxmlformats.org/drawingml/2006/main">
            <a:srgbClr val="F2D9C9"/>
          </a:solidFill>
        </p:spPr>
      </p:sp>
      <p:sp>
        <p:nvSpPr>
          <p:cNvPr id="15" name="Shape 13">
            <a:extLst xmlns:a="http://schemas.openxmlformats.org/drawingml/2006/main">
              <a:ext uri="{FF2B5EF4-FFF2-40B4-BE49-F238E27FC236}">
                <a16:creationId xmlns:a16="http://schemas.microsoft.com/office/drawing/2014/main" id="{5C85A513-996B-43D1-A420-006776988409}"/>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ellipse">
            <a:avLst/>
          </a:prstGeom>
          <a:solidFill xmlns:a="http://schemas.openxmlformats.org/drawingml/2006/main">
            <a:srgbClr val="2E6B37"/>
          </a:solidFill>
        </p:spPr>
      </p:sp>
      <p:sp>
        <p:nvSpPr>
          <p:cNvPr id="16" name="Text 14">
            <a:extLst xmlns:a="http://schemas.openxmlformats.org/drawingml/2006/main">
              <a:ext uri="{FF2B5EF4-FFF2-40B4-BE49-F238E27FC236}">
                <a16:creationId xmlns:a16="http://schemas.microsoft.com/office/drawing/2014/main" id="{0AD43F12-7735-4289-AD25-12A195985E9B}"/>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7" name="Text 15">
            <a:extLst xmlns:a="http://schemas.openxmlformats.org/drawingml/2006/main">
              <a:ext uri="{FF2B5EF4-FFF2-40B4-BE49-F238E27FC236}">
                <a16:creationId xmlns:a16="http://schemas.microsoft.com/office/drawing/2014/main" id="{34233FA0-EA2F-4155-88A5-8A3CB9474E18}"/>
              </a:ext>
            </a:extLst>
          </p:cNvPr>
          <p:cNvSpPr>
            <a:spLocks xmlns:a="http://schemas.openxmlformats.org/drawingml/2006/main" noGrp="1"/>
          </p:cNvSpPr>
          <p:nvPr/>
        </p:nvSpPr>
        <p:spPr>
          <a:xfrm xmlns:a="http://schemas.openxmlformats.org/drawingml/2006/main">
            <a:off x="8446008"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One mission starts</a:t>
            </a:r>
            <a:endParaRPr sz="1800"/>
          </a:p>
        </p:txBody>
      </p:sp>
      <p:sp>
        <p:nvSpPr>
          <p:cNvPr id="18" name="Text 16">
            <a:extLst xmlns:a="http://schemas.openxmlformats.org/drawingml/2006/main">
              <a:ext uri="{FF2B5EF4-FFF2-40B4-BE49-F238E27FC236}">
                <a16:creationId xmlns:a16="http://schemas.microsoft.com/office/drawing/2014/main" id="{C0A3A010-8734-4F04-AB91-BBB0E5337F65}"/>
              </a:ext>
            </a:extLst>
          </p:cNvPr>
          <p:cNvSpPr>
            <a:spLocks xmlns:a="http://schemas.openxmlformats.org/drawingml/2006/main" noGrp="1"/>
          </p:cNvSpPr>
          <p:nvPr/>
        </p:nvSpPr>
        <p:spPr>
          <a:xfrm xmlns:a="http://schemas.openxmlformats.org/drawingml/2006/main">
            <a:off x="8446008"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Codex recommends one real task and a bounded first batch.</a:t>
            </a:r>
            <a:endParaRPr sz="1300"/>
          </a:p>
        </p:txBody>
      </p:sp>
      <p:sp>
        <p:nvSpPr>
          <p:cNvPr id="19" name="Shape 17">
            <a:extLst xmlns:a="http://schemas.openxmlformats.org/drawingml/2006/main">
              <a:ext uri="{FF2B5EF4-FFF2-40B4-BE49-F238E27FC236}">
                <a16:creationId xmlns:a16="http://schemas.microsoft.com/office/drawing/2014/main" id="{DB6D0D28-BF87-4F70-B411-AC5FA8349D05}"/>
              </a:ext>
            </a:extLst>
          </p:cNvPr>
          <p:cNvSpPr>
            <a:spLocks xmlns:a="http://schemas.openxmlformats.org/drawingml/2006/main" noGrp="1"/>
          </p:cNvSpPr>
          <p:nvPr/>
        </p:nvSpPr>
        <p:spPr>
          <a:xfrm xmlns:a="http://schemas.openxmlformats.org/drawingml/2006/main">
            <a:off x="640080" y="4754880"/>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C737FE05-B165-411D-8F1A-6EC6CAC55404}"/>
              </a:ext>
            </a:extLst>
          </p:cNvPr>
          <p:cNvSpPr>
            <a:spLocks xmlns:a="http://schemas.openxmlformats.org/drawingml/2006/main" noGrp="1"/>
          </p:cNvSpPr>
          <p:nvPr/>
        </p:nvSpPr>
        <p:spPr>
          <a:xfrm xmlns:a="http://schemas.openxmlformats.org/drawingml/2006/main">
            <a:off x="1005840" y="4754880"/>
            <a:ext cx="1017727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B4A05"/>
                </a:solidFill>
                <a:latin typeface="Arial"/>
                <a:ea typeface="Arial"/>
                <a:cs typeface="Arial"/>
              </a:rPr>
              <a:t>Ambuj runs the group. The Setup Helper handles the machinery.</a:t>
            </a:r>
            <a:endParaRPr sz="1600"/>
          </a:p>
        </p:txBody>
      </p:sp>
      <p:sp>
        <p:nvSpPr>
          <p:cNvPr id="21" name="Text 19">
            <a:extLst xmlns:a="http://schemas.openxmlformats.org/drawingml/2006/main">
              <a:ext uri="{FF2B5EF4-FFF2-40B4-BE49-F238E27FC236}">
                <a16:creationId xmlns:a16="http://schemas.microsoft.com/office/drawing/2014/main" id="{7E5B27B6-DA91-4C01-9228-378EAE17512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20">
            <a:extLst xmlns:a="http://schemas.openxmlformats.org/drawingml/2006/main">
              <a:ext uri="{FF2B5EF4-FFF2-40B4-BE49-F238E27FC236}">
                <a16:creationId xmlns:a16="http://schemas.microsoft.com/office/drawing/2014/main" id="{951AC1B5-BB18-4BF0-B748-C21BA1A979E0}"/>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3336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YOUR OWN WORK BECOMES THE MISSION</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Codex can help close your own assigned list.</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357</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Sunaj</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318</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Anupam</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269</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Astha</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263</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Deepu</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194</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Satyam</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124</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Vikash</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42</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Shadab</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15</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Rohan</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5F7268"/>
                </a:solidFill>
                <a:latin typeface="Arial"/>
                <a:ea typeface="Arial"/>
                <a:cs typeface="Arial"/>
              </a:rPr>
              <a:t>Locked rollout snapshot. Trusha: 2. Shadab also has 51 Shopify tasks on the specialist sheet.</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Choose the task. Codex works. Proof closes it.</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No invented exercises. Start from work already assigned to you.</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579645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RESULTS ALREADY ACHIEVED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Two Shopify stores. Four days. One person.</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82</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verified line items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200+</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discrete actions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4</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days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stores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Zero money spent without approval. Every change has proof.</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Abilash ran this himself. The rollout exists so each employee can apply the pattern to their own work.</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SAME BRIEF, ≈56× LIGHTER</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operating files ended repeated cold starts.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250" b="1">
                <a:solidFill>
                  <a:srgbClr val="2E6B37"/>
                </a:solidFill>
              </a:defRPr>
            </a:pPr>
            <a:r>
              <a:rPr sz="2250" b="1">
                <a:solidFill>
                  <a:srgbClr val="2E6B37"/>
                </a:solidFill>
                <a:latin typeface="Arial"/>
                <a:ea typeface="Arial"/>
                <a:cs typeface="Arial"/>
              </a:rPr>
              <a:t>109,771</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before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1,967</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after</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≈56×</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reduction</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common files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Measured with the o200k_base tokenizer after the restructure.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The files remember operating state, so a new session does not start from zero.</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WHERE WE ARE NOW</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Three things keep wasting our time.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b3025aac2bb246e8"/>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Work is scattered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Drive, local folders and delegation rows are not yet one map.</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e2b6fabb118f4276"/>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Decisions repeat</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answer sits in memory or an old chat, so the same question returns.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00c85677c2074cde"/>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Done has no proof</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 change is called complete before the result is checked.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First make the work visible. Then let Codex act inside approved boundaries.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9021505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D-130 LOOP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recorded fact ended the repeated question.</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fcb4ba21848b4816"/>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question returned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Four references to one campus kept reappearing in new chats.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4909f7e5798c4bc6"/>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fact was locked</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authoritative answer moved from memory into shared context.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3ae0c2d3145e441e"/>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Contradictions now stop</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New evidence can reopen the decision; repetition cannot.</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Write the decision once. Future sessions spend time on the next real task.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902150507"/>
      </p:ext>
    </p:extLst>
  </p:cSld>
</p:sld>
</file>

<file path=ppt/slides/slide10.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OWNER AMBITION  ·  NOT A RESULT</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From 1× toward 800× capability.</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Not 800× more typing. More approved work completed through repeatable workers.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d79d90dc657349f5"/>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AMBITION ONLY  ·  NOT ACHIEVED OR GUARANTEED</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We will measure completed work, time, proof and errors—not slogans.</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10</a:t>
            </a:r>
            <a:endParaRPr sz="900"/>
          </a:p>
        </p:txBody>
      </p:sp>
    </p:spTree>
    <p:extLst>
      <p:ext uri="{BB962C8B-B14F-4D97-AF65-F5344CB8AC3E}">
        <p14:creationId xmlns:p14="http://schemas.microsoft.com/office/powerpoint/2010/main" val="864629065"/>
      </p:ext>
    </p:extLst>
  </p:cSld>
</p:sld>
</file>

<file path=ppt/slides/slide1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60-SECOND DEMONSTRATION</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Do you want a system like this?</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Watch one minute. Then see how Kairali makes it controlled and repeatable.</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50348c6c89db4748"/>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LET ME SHOW YOU HOW  ·  PLAY 00:40–01:40</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9ad7450698e748fd"/>
              </a:rPr>
              <a:t>PLAY THE 60-SECOND DEMONSTRATION</a:t>
            </a:r>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11</a:t>
            </a:r>
            <a:endParaRPr sz="900"/>
          </a:p>
        </p:txBody>
      </p:sp>
    </p:spTree>
    <p:extLst>
      <p:ext uri="{BB962C8B-B14F-4D97-AF65-F5344CB8AC3E}">
        <p14:creationId xmlns:p14="http://schemas.microsoft.com/office/powerpoint/2010/main" val="864629065"/>
      </p:ext>
    </p:extLst>
  </p:cSld>
</p:sld>
</file>

<file path=ppt/slides/slide1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CONTROLLED AUTONOMOUS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Mission → work → proof → next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continues only inside the task, sources, tools and permissions you approved.</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c4264bcde8604e3f"/>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HUMAN RULES  ·  THE SUIT EXECUTES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Stop for access, publishing, deletion, security, Gate 0 or any new authority.</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12</a:t>
            </a:r>
            <a:endParaRPr sz="900"/>
          </a:p>
        </p:txBody>
      </p:sp>
    </p:spTree>
    <p:extLst>
      <p:ext uri="{BB962C8B-B14F-4D97-AF65-F5344CB8AC3E}">
        <p14:creationId xmlns:p14="http://schemas.microsoft.com/office/powerpoint/2010/main" val="864629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SUIT'S CONTROL SYSTEM</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Five files hold the work. Three rules hold the line.</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CURSOR</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one mission live</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REGISTER</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every open row</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TODAY</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current batch</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LEDGER</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closed result</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EVIDENCE</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proof attached</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ONE</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task at a time</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≤25</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per batch</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PROOF</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or not done</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975">
                <a:solidFill>
                  <a:srgbClr val="5B6C60"/>
                </a:solidFill>
              </a:defRPr>
            </a:pPr>
            <a:r>
              <a:rPr sz="975">
                <a:solidFill>
                  <a:srgbClr val="5B6C60"/>
                </a:solidFill>
                <a:latin typeface="Arial"/>
                <a:ea typeface="Arial"/>
                <a:cs typeface="Arial"/>
              </a:rPr>
              <a:t>Separate state per worker. Shared facts stay read-only.</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These files make autonomy resumable.</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One worker, one live task. A supervisor reports drift; it does not silently rewrite.</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13</a:t>
            </a:r>
            <a:endParaRPr sz="900"/>
          </a:p>
        </p:txBody>
      </p:sp>
    </p:spTree>
    <p:extLst>
      <p:ext uri="{BB962C8B-B14F-4D97-AF65-F5344CB8AC3E}">
        <p14:creationId xmlns:p14="http://schemas.microsoft.com/office/powerpoint/2010/main" val="5796457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 HAS HARD STOPS</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Evidence, locked facts and Gate 0 prevent drift.</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f0f9ec5425944119"/>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Evidence proves done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Before, after and undo. A saved setting is not proof.</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93c8bd3d0a14b3f"/>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Locked facts stop loops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owned source. New evidence may reopen it; repetition may not.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6ccfb3ba4440438c"/>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are flagged—never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Autonomy ends wherever human judgment or new authority begins.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THE HELPER RUNS FIRST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Do not troubleshoot the machinery yourself.</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ChatGPT or chatgpt.com.</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blank chat with the approved company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complete Setup Helper card.</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Paste the full message exactly. Do not shorten it.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Follow one visible action at a time.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checks, acts and verifies. You do only the login, account choice or permission it cannot.</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I am stuck setting up my Kairali AI workspace.</a:t>
            </a:r>
            <a:endParaRPr sz="1300"/>
          </a:p>
          <a:p xmlns:a="http://schemas.openxmlformats.org/drawingml/2006/main">
            <a:pPr marL="0" indent="0">
              <a:lnSpc>
                <a:spcPct val="135000"/>
              </a:lnSpc>
              <a:buNone/>
            </a:pPr>
            <a:r>
              <a:rPr sz="1300">
                <a:solidFill>
                  <a:srgbClr val="F0C05A"/>
                </a:solidFill>
                <a:latin typeface="Courier New"/>
                <a:ea typeface="Courier New"/>
                <a:cs typeface="Courier New"/>
              </a:rPr>
              <a:t>Be my Setup Helper.</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the helper checks what is already installed and names only the next visible action.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739770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ONE PUBLIC KIT</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public kit opens the right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Start with the protected v1.1 release.</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Setup Helper gets the all-in-one Kairali kit. No invitation or Git knowledge needed.</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Keep each worker separate.</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Named private operations: GitHub Desktop. Homework or Sheet/local work: a separate local worker from the kit.</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ad33b123af44b8c"/>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AGENTS.md is visible and Codex reads the correct separate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Upgrades happen only at a safe checkpoint. Managed system files update; employee state stays.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12388373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COMPANY APPS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Connect approved Gmail and Google Drive Apps.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Settings → Apps.</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searches for the approved company App. If Apps is disabled, it records the workspace blocker.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Gmail.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You choose the company Google account and read the requested access before approving.</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Google Drive.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new Codex task after both Apps are connected.</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Confirm Gmail and Google Drive are connected. Name one approved company item from each.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Codex names one approved company item from each App.</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7397708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EYES AND HANDS</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Give access only where the work lives.</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System Settings. You approve one requested ChatGPT permission.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ASK FOR APPROVAL</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keeps the company folder and target app visible. You approve one named target.</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VISIBLE TARGET APP</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Below the prompt, keep permissions on Ask for approval.</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only the company folder, app or website you understand.</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a05b701818fd46d4"/>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reads the project and asks before leaving the approved scope.</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treat tool availability as permission.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2773235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IN-ROOM VOICE</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Let the helper prepare Wispr Flow.</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Applications first. If missing, it opens the official download.</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Start first. If missing, it opens the official download.</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You use the company-approved sign-in choice shown by Ambuj.</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Microphone and Accessibility only when the selected feature requests them.</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c552dc57d69944b1"/>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one short spoken sentence appears correctly in a safe text box.</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dictate passwords, one-time codes, private HR, banking or Gate 0 content.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2773235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SPEAK TO THE SUIT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Speak. Review. Then send.</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Click inside the Codex message box.</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Make sure the cursor is blinking where the words should appear.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Wispr shortcut shown in its tutorial.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Say the mission slowly. Stop speaking when finished.</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transcript before sending.</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Fix names, numbers and task IDs. Then press Return.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You speak the mission. Codex executes only after you send and inside the approved task.</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7397708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IN-ROOM REMOTE</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Put ChatGPT on your phone. Pair Remote.</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Let the helper confirm the official mobile app.</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App Store or Google Play. Install ChatGPT by OpenAI and sign in to the same company workspace.</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Pair the computer.</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Settings → Connections → Control this Mac or PC. You approve and scan the QR code with the phone.</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af2348cbe6fd45d4"/>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Remote on the phone shows this computer and opens a safe task.</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Keep the computer awake and online, with ChatGPT/Codex running. Availability may depend on company settings.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12388373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OPTIONAL  ·  CHROME REMOTE DESKTOP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Reach your work computer from home.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2f7468099d464032"/>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1  ·  Set up on the work computer</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Ask Ambuj/IT. Open Chrome → remotedesktop.google.com/access → Download → install → create a private PIN.</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2142118d85384573"/>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2  ·  Leave it ready before going home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Keep the work computer powered on, awake and online. Lock the screen; never share the PIN.</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b6c15e6bafcf477f"/>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3  ·  Connect from the home computer</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the same address in Chrome → sign in to the approved company Google account → choose the computer → enter the PIN.</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OPTIONAL · Full remote control. Use only with company approval. Disconnect when finished. A dimmed computer is offline or unavailable.</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9021505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BEFORE THE SCAN</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Approve work areas. Exclude personal data.</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6e3aa55499634640"/>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Include company work only</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Approved local work folders and approved Drive locations.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4a5c72af74984942"/>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Exclude sensitive areas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Personal folders, passwords, HR, banking and private records.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80967821541b457f"/>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 here</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material is flagged—not inventoried or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Read-only means: no rename, move, delete, edit, upload or sharing changes.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23</a:t>
            </a:r>
            <a:endParaRPr sz="900"/>
          </a:p>
        </p:txBody>
      </p:sp>
    </p:spTree>
    <p:extLst>
      <p:ext uri="{BB962C8B-B14F-4D97-AF65-F5344CB8AC3E}">
        <p14:creationId xmlns:p14="http://schemas.microsoft.com/office/powerpoint/2010/main" val="9021505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AFTER SCOPE IS APPROVED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scan. Two files. One shared Sheet.</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JSONL</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AI-readable inventory</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CSV</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human-readable inventory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GOOGLE SHEET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shared human copy</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25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items per batch</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PROMPT  ·  INVENTORY APPROVED LOCATIONS</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Inventory only the approved company locations in batches of 25. Record source, path or link, name, type, owner, modified date and category. Save data-inventory.jsonl and data-inventory.csv. Create a Google Sheet named My Work Inventory. Change nothing else.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24</a:t>
            </a:r>
            <a:endParaRPr sz="900"/>
          </a:p>
        </p:txBody>
      </p:sp>
    </p:spTree>
    <p:extLst>
      <p:ext uri="{BB962C8B-B14F-4D97-AF65-F5344CB8AC3E}">
        <p14:creationId xmlns:p14="http://schemas.microsoft.com/office/powerpoint/2010/main" val="4709470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EE9924-20F8-4B2A-A659-A136545DEF12}"/>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FIRST SUCCESS  ·  IN THE ROOM</a:t>
            </a:r>
            <a:endParaRPr sz="1050"/>
          </a:p>
        </p:txBody>
      </p:sp>
      <p:sp>
        <p:nvSpPr>
          <p:cNvPr id="3" name="Text 1">
            <a:extLst xmlns:a="http://schemas.openxmlformats.org/drawingml/2006/main">
              <a:ext uri="{FF2B5EF4-FFF2-40B4-BE49-F238E27FC236}">
                <a16:creationId xmlns:a16="http://schemas.microsoft.com/office/drawing/2014/main" id="{1B95941D-909E-4C34-83A3-4E362DCE5EF5}"/>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scan starts. Then Codex recommends one real mission.</a:t>
            </a:r>
            <a:endParaRPr sz="3600"/>
          </a:p>
        </p:txBody>
      </p:sp>
      <p:sp>
        <p:nvSpPr>
          <p:cNvPr id="4" name="Shape 2">
            <a:extLst xmlns:a="http://schemas.openxmlformats.org/drawingml/2006/main">
              <a:ext uri="{FF2B5EF4-FFF2-40B4-BE49-F238E27FC236}">
                <a16:creationId xmlns:a16="http://schemas.microsoft.com/office/drawing/2014/main" id="{9734DB07-C81D-45C5-B4F0-84A63F389034}"/>
              </a:ext>
            </a:extLst>
          </p:cNvPr>
          <p:cNvSpPr>
            <a:spLocks xmlns:a="http://schemas.openxmlformats.org/drawingml/2006/main" noGrp="1"/>
          </p:cNvSpPr>
          <p:nvPr/>
        </p:nvSpPr>
        <p:spPr>
          <a:xfrm xmlns:a="http://schemas.openxmlformats.org/drawingml/2006/main">
            <a:off x="640080" y="1828800"/>
            <a:ext cx="3422904" cy="2286000"/>
          </a:xfrm>
          <a:prstGeom xmlns:a="http://schemas.openxmlformats.org/drawingml/2006/main" prst="roundRect">
            <a:avLst>
              <a:gd name="adj" fmla="val 36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58C3C5DE-293F-49F5-8B3C-E025A0A15DE2}"/>
              </a:ext>
            </a:extLst>
          </p:cNvPr>
          <p:cNvSpPr>
            <a:spLocks xmlns:a="http://schemas.openxmlformats.org/drawingml/2006/main" noGrp="1"/>
          </p:cNvSpPr>
          <p:nvPr/>
        </p:nvSpPr>
        <p:spPr>
          <a:xfrm xmlns:a="http://schemas.openxmlformats.org/drawingml/2006/main">
            <a:off x="960120" y="2103120"/>
            <a:ext cx="548640" cy="548640"/>
          </a:xfrm>
          <a:prstGeom xmlns:a="http://schemas.openxmlformats.org/drawingml/2006/main" prst="ellipse">
            <a:avLst/>
          </a:prstGeom>
          <a:solidFill xmlns:a="http://schemas.openxmlformats.org/drawingml/2006/main">
            <a:srgbClr val="2E6B37"/>
          </a:solidFill>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6fa749f92a854b9e"/>
          <a:stretch xmlns:a="http://schemas.openxmlformats.org/drawingml/2006/main">
            <a:fillRect l="0" t="0" r="0" b="0"/>
          </a:stretch>
        </p:blipFill>
        <p:spPr>
          <a:xfrm xmlns:a="http://schemas.openxmlformats.org/drawingml/2006/main">
            <a:off x="1102766" y="224576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57CCF50-E958-4C9A-8E98-D18341D4AA0B}"/>
              </a:ext>
            </a:extLst>
          </p:cNvPr>
          <p:cNvSpPr>
            <a:spLocks xmlns:a="http://schemas.openxmlformats.org/drawingml/2006/main" noGrp="1"/>
          </p:cNvSpPr>
          <p:nvPr/>
        </p:nvSpPr>
        <p:spPr>
          <a:xfrm xmlns:a="http://schemas.openxmlformats.org/drawingml/2006/main">
            <a:off x="960120"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Employee</a:t>
            </a:r>
            <a:endParaRPr sz="1500"/>
          </a:p>
        </p:txBody>
      </p:sp>
      <p:sp>
        <p:nvSpPr>
          <p:cNvPr id="8" name="Text 5">
            <a:extLst xmlns:a="http://schemas.openxmlformats.org/drawingml/2006/main">
              <a:ext uri="{FF2B5EF4-FFF2-40B4-BE49-F238E27FC236}">
                <a16:creationId xmlns:a16="http://schemas.microsoft.com/office/drawing/2014/main" id="{EA4191E4-4CEF-40E5-9F09-A779BE2AD2DE}"/>
              </a:ext>
            </a:extLst>
          </p:cNvPr>
          <p:cNvSpPr>
            <a:spLocks xmlns:a="http://schemas.openxmlformats.org/drawingml/2006/main" noGrp="1"/>
          </p:cNvSpPr>
          <p:nvPr/>
        </p:nvSpPr>
        <p:spPr>
          <a:xfrm xmlns:a="http://schemas.openxmlformats.org/drawingml/2006/main">
            <a:off x="960120"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Approves locations, reviews Codex’s recommendation and approves the ruled task.</a:t>
            </a:r>
            <a:endParaRPr sz="1250"/>
          </a:p>
        </p:txBody>
      </p:sp>
      <p:sp>
        <p:nvSpPr>
          <p:cNvPr id="9" name="Shape 6">
            <a:extLst xmlns:a="http://schemas.openxmlformats.org/drawingml/2006/main">
              <a:ext uri="{FF2B5EF4-FFF2-40B4-BE49-F238E27FC236}">
                <a16:creationId xmlns:a16="http://schemas.microsoft.com/office/drawing/2014/main" id="{047C6490-89BE-41CE-A1BD-99B7C465312B}"/>
              </a:ext>
            </a:extLst>
          </p:cNvPr>
          <p:cNvSpPr>
            <a:spLocks xmlns:a="http://schemas.openxmlformats.org/drawingml/2006/main" noGrp="1"/>
          </p:cNvSpPr>
          <p:nvPr/>
        </p:nvSpPr>
        <p:spPr>
          <a:xfrm xmlns:a="http://schemas.openxmlformats.org/drawingml/2006/main">
            <a:off x="4383024" y="1828800"/>
            <a:ext cx="3422904" cy="2286000"/>
          </a:xfrm>
          <a:prstGeom xmlns:a="http://schemas.openxmlformats.org/drawingml/2006/main" prst="roundRect">
            <a:avLst>
              <a:gd name="adj" fmla="val 36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13AE496D-03AB-4134-A4F6-4E658CE998A8}"/>
              </a:ext>
            </a:extLst>
          </p:cNvPr>
          <p:cNvSpPr>
            <a:spLocks xmlns:a="http://schemas.openxmlformats.org/drawingml/2006/main" noGrp="1"/>
          </p:cNvSpPr>
          <p:nvPr/>
        </p:nvSpPr>
        <p:spPr>
          <a:xfrm xmlns:a="http://schemas.openxmlformats.org/drawingml/2006/main">
            <a:off x="4703064" y="2103120"/>
            <a:ext cx="548640" cy="548640"/>
          </a:xfrm>
          <a:prstGeom xmlns:a="http://schemas.openxmlformats.org/drawingml/2006/main" prst="ellipse">
            <a:avLst/>
          </a:prstGeom>
          <a:solidFill xmlns:a="http://schemas.openxmlformats.org/drawingml/2006/main">
            <a:srgbClr val="2E6B37"/>
          </a:solidFill>
        </p:spPr>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cd3c3d8d060f4638"/>
          <a:stretch xmlns:a="http://schemas.openxmlformats.org/drawingml/2006/main">
            <a:fillRect l="0" t="0" r="0" b="0"/>
          </a:stretch>
        </p:blipFill>
        <p:spPr>
          <a:xfrm xmlns:a="http://schemas.openxmlformats.org/drawingml/2006/main">
            <a:off x="4845710" y="2245766"/>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EC5D1103-46B5-44A7-9054-2766F802118E}"/>
              </a:ext>
            </a:extLst>
          </p:cNvPr>
          <p:cNvSpPr>
            <a:spLocks xmlns:a="http://schemas.openxmlformats.org/drawingml/2006/main" noGrp="1"/>
          </p:cNvSpPr>
          <p:nvPr/>
        </p:nvSpPr>
        <p:spPr>
          <a:xfrm xmlns:a="http://schemas.openxmlformats.org/drawingml/2006/main">
            <a:off x="4703064"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Codex</a:t>
            </a:r>
            <a:endParaRPr sz="1800"/>
          </a:p>
        </p:txBody>
      </p:sp>
      <p:sp>
        <p:nvSpPr>
          <p:cNvPr id="13" name="Text 9">
            <a:extLst xmlns:a="http://schemas.openxmlformats.org/drawingml/2006/main">
              <a:ext uri="{FF2B5EF4-FFF2-40B4-BE49-F238E27FC236}">
                <a16:creationId xmlns:a16="http://schemas.microsoft.com/office/drawing/2014/main" id="{59D108C2-5EDA-44B3-B1C0-B92EB6E750FA}"/>
              </a:ext>
            </a:extLst>
          </p:cNvPr>
          <p:cNvSpPr>
            <a:spLocks xmlns:a="http://schemas.openxmlformats.org/drawingml/2006/main" noGrp="1"/>
          </p:cNvSpPr>
          <p:nvPr/>
        </p:nvSpPr>
        <p:spPr>
          <a:xfrm xmlns:a="http://schemas.openxmlformats.org/drawingml/2006/main">
            <a:off x="4703064"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Reads the inventory and delegation. Sorts: autonomous, needs review, or blocked.</a:t>
            </a:r>
            <a:endParaRPr sz="1250"/>
          </a:p>
        </p:txBody>
      </p:sp>
      <p:sp>
        <p:nvSpPr>
          <p:cNvPr id="14" name="Shape 10">
            <a:extLst xmlns:a="http://schemas.openxmlformats.org/drawingml/2006/main">
              <a:ext uri="{FF2B5EF4-FFF2-40B4-BE49-F238E27FC236}">
                <a16:creationId xmlns:a16="http://schemas.microsoft.com/office/drawing/2014/main" id="{2BCB652C-8519-4716-AAD5-24699DB03CD4}"/>
              </a:ext>
            </a:extLst>
          </p:cNvPr>
          <p:cNvSpPr>
            <a:spLocks xmlns:a="http://schemas.openxmlformats.org/drawingml/2006/main" noGrp="1"/>
          </p:cNvSpPr>
          <p:nvPr/>
        </p:nvSpPr>
        <p:spPr>
          <a:xfrm xmlns:a="http://schemas.openxmlformats.org/drawingml/2006/main">
            <a:off x="8125968" y="1828800"/>
            <a:ext cx="3422904" cy="2286000"/>
          </a:xfrm>
          <a:prstGeom xmlns:a="http://schemas.openxmlformats.org/drawingml/2006/main" prst="roundRect">
            <a:avLst>
              <a:gd name="adj" fmla="val 3600"/>
            </a:avLst>
          </a:prstGeom>
          <a:solidFill xmlns:a="http://schemas.openxmlformats.org/drawingml/2006/main">
            <a:srgbClr val="DDE9ED"/>
          </a:solidFill>
        </p:spPr>
      </p:sp>
      <p:sp>
        <p:nvSpPr>
          <p:cNvPr id="15" name="Shape 11">
            <a:extLst xmlns:a="http://schemas.openxmlformats.org/drawingml/2006/main">
              <a:ext uri="{FF2B5EF4-FFF2-40B4-BE49-F238E27FC236}">
                <a16:creationId xmlns:a16="http://schemas.microsoft.com/office/drawing/2014/main" id="{286FE7CA-C516-4B6B-9623-E096D800374D}"/>
              </a:ext>
            </a:extLst>
          </p:cNvPr>
          <p:cNvSpPr>
            <a:spLocks xmlns:a="http://schemas.openxmlformats.org/drawingml/2006/main" noGrp="1"/>
          </p:cNvSpPr>
          <p:nvPr/>
        </p:nvSpPr>
        <p:spPr>
          <a:xfrm xmlns:a="http://schemas.openxmlformats.org/drawingml/2006/main">
            <a:off x="8446008" y="2103120"/>
            <a:ext cx="548640" cy="548640"/>
          </a:xfrm>
          <a:prstGeom xmlns:a="http://schemas.openxmlformats.org/drawingml/2006/main" prst="ellipse">
            <a:avLst/>
          </a:prstGeom>
          <a:solidFill xmlns:a="http://schemas.openxmlformats.org/drawingml/2006/main">
            <a:srgbClr val="2E6B37"/>
          </a:solidFill>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96d6a64dee8c4bf1"/>
          <a:stretch xmlns:a="http://schemas.openxmlformats.org/drawingml/2006/main">
            <a:fillRect l="0" t="0" r="0" b="0"/>
          </a:stretch>
        </p:blipFill>
        <p:spPr>
          <a:xfrm xmlns:a="http://schemas.openxmlformats.org/drawingml/2006/main">
            <a:off x="8588654" y="2245766"/>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18C05F78-F1F8-41EB-8A3D-7679155A6571}"/>
              </a:ext>
            </a:extLst>
          </p:cNvPr>
          <p:cNvSpPr>
            <a:spLocks xmlns:a="http://schemas.openxmlformats.org/drawingml/2006/main" noGrp="1"/>
          </p:cNvSpPr>
          <p:nvPr/>
        </p:nvSpPr>
        <p:spPr>
          <a:xfrm xmlns:a="http://schemas.openxmlformats.org/drawingml/2006/main">
            <a:off x="8446008"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Ambuj</a:t>
            </a:r>
            <a:endParaRPr sz="1800"/>
          </a:p>
        </p:txBody>
      </p:sp>
      <p:sp>
        <p:nvSpPr>
          <p:cNvPr id="18" name="Text 13">
            <a:extLst xmlns:a="http://schemas.openxmlformats.org/drawingml/2006/main">
              <a:ext uri="{FF2B5EF4-FFF2-40B4-BE49-F238E27FC236}">
                <a16:creationId xmlns:a16="http://schemas.microsoft.com/office/drawing/2014/main" id="{7965057D-B7F1-4F52-AED8-EA86D9015580}"/>
              </a:ext>
            </a:extLst>
          </p:cNvPr>
          <p:cNvSpPr>
            <a:spLocks xmlns:a="http://schemas.openxmlformats.org/drawingml/2006/main" noGrp="1"/>
          </p:cNvSpPr>
          <p:nvPr/>
        </p:nvSpPr>
        <p:spPr>
          <a:xfrm xmlns:a="http://schemas.openxmlformats.org/drawingml/2006/main">
            <a:off x="8446008"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Runs the group, troubleshoots access and keeps everyone on the same step.</a:t>
            </a:r>
            <a:endParaRPr sz="1250"/>
          </a:p>
        </p:txBody>
      </p:sp>
      <p:sp>
        <p:nvSpPr>
          <p:cNvPr id="19" name="Shape 14">
            <a:extLst xmlns:a="http://schemas.openxmlformats.org/drawingml/2006/main">
              <a:ext uri="{FF2B5EF4-FFF2-40B4-BE49-F238E27FC236}">
                <a16:creationId xmlns:a16="http://schemas.microsoft.com/office/drawing/2014/main" id="{91EF9622-EE2C-4B55-8076-F672D6B675F5}"/>
              </a:ext>
            </a:extLst>
          </p:cNvPr>
          <p:cNvSpPr>
            <a:spLocks xmlns:a="http://schemas.openxmlformats.org/drawingml/2006/main" noGrp="1"/>
          </p:cNvSpPr>
          <p:nvPr/>
        </p:nvSpPr>
        <p:spPr>
          <a:xfrm xmlns:a="http://schemas.openxmlformats.org/drawingml/2006/main">
            <a:off x="640080" y="4434840"/>
            <a:ext cx="10908792" cy="1051560"/>
          </a:xfrm>
          <a:prstGeom xmlns:a="http://schemas.openxmlformats.org/drawingml/2006/main" prst="roundRect">
            <a:avLst>
              <a:gd name="adj" fmla="val 7826"/>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DE2A0B8B-050F-422B-9EF5-029CA54D798E}"/>
              </a:ext>
            </a:extLst>
          </p:cNvPr>
          <p:cNvSpPr>
            <a:spLocks xmlns:a="http://schemas.openxmlformats.org/drawingml/2006/main" noGrp="1"/>
          </p:cNvSpPr>
          <p:nvPr/>
        </p:nvSpPr>
        <p:spPr>
          <a:xfrm xmlns:a="http://schemas.openxmlformats.org/drawingml/2006/main">
            <a:off x="1005840" y="4434840"/>
            <a:ext cx="1017727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defRPr sz="1350" b="1">
                <a:solidFill>
                  <a:srgbClr val="FFFFFF"/>
                </a:solidFill>
              </a:defRPr>
            </a:pPr>
            <a:r>
              <a:rPr sz="1350" b="1">
                <a:solidFill>
                  <a:srgbClr val="FFFFFF"/>
                </a:solidFill>
                <a:latin typeface="Arial"/>
                <a:ea typeface="Arial"/>
                <a:cs typeface="Arial"/>
              </a:rPr>
              <a:t>PROMPT: Read my delegation rows and My Work Inventory. Recommend one task ID and a first batch of no more than 25. Change nothing yet.</a:t>
            </a:r>
            <a:endParaRPr sz="1650"/>
          </a:p>
        </p:txBody>
      </p:sp>
      <p:sp>
        <p:nvSpPr>
          <p:cNvPr id="21" name="Text 16">
            <a:extLst xmlns:a="http://schemas.openxmlformats.org/drawingml/2006/main">
              <a:ext uri="{FF2B5EF4-FFF2-40B4-BE49-F238E27FC236}">
                <a16:creationId xmlns:a16="http://schemas.microsoft.com/office/drawing/2014/main" id="{2818DCDF-CC49-4A33-AC03-CE83210CB3F6}"/>
              </a:ext>
            </a:extLst>
          </p:cNvPr>
          <p:cNvSpPr>
            <a:spLocks xmlns:a="http://schemas.openxmlformats.org/drawingml/2006/main" noGrp="1"/>
          </p:cNvSpPr>
          <p:nvPr/>
        </p:nvSpPr>
        <p:spPr>
          <a:xfrm xmlns:a="http://schemas.openxmlformats.org/drawingml/2006/main">
            <a:off x="640080" y="5669280"/>
            <a:ext cx="10908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Setup Helper handles machinery. Abilash rules owner and Gate 0 decisions.</a:t>
            </a:r>
            <a:endParaRPr sz="1300"/>
          </a:p>
        </p:txBody>
      </p:sp>
      <p:sp>
        <p:nvSpPr>
          <p:cNvPr id="22" name="Text 17">
            <a:extLst xmlns:a="http://schemas.openxmlformats.org/drawingml/2006/main">
              <a:ext uri="{FF2B5EF4-FFF2-40B4-BE49-F238E27FC236}">
                <a16:creationId xmlns:a16="http://schemas.microsoft.com/office/drawing/2014/main" id="{C2FE4C50-5990-442A-99AF-2CD7D7EA7BD4}"/>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3" name="Text 18">
            <a:extLst xmlns:a="http://schemas.openxmlformats.org/drawingml/2006/main">
              <a:ext uri="{FF2B5EF4-FFF2-40B4-BE49-F238E27FC236}">
                <a16:creationId xmlns:a16="http://schemas.microsoft.com/office/drawing/2014/main" id="{92958A43-2A29-4C36-A96D-00186108F3A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25</a:t>
            </a:r>
            <a:endParaRPr sz="900"/>
          </a:p>
        </p:txBody>
      </p:sp>
    </p:spTree>
    <p:extLst>
      <p:ext uri="{BB962C8B-B14F-4D97-AF65-F5344CB8AC3E}">
        <p14:creationId xmlns:p14="http://schemas.microsoft.com/office/powerpoint/2010/main" val="14329817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COMPULSORY HOMEWORK</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Build two workers. Bring both reports.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EMAIL</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At most 25 messages → EMAIL-TRIAGE-REPORT.md. No send, delete, move or attachment open.</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DRIVE</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At most 25 metadata rows → DRIVE-INVENTORY.md. No file opened or changed.</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OPTIONAL</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LinkedIn draft from supplied facts only. DRAFT - NOT PUBLISHED. Never open LinkedIn.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EMAIL</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No email sent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DRIVE</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Metadata only</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LINKEDIN</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Optional draft</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12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26</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2026-08-12T15:31:20.6770000Z</dcterms:created>
  <dcterms:modified xsi:type="dcterms:W3CDTF">2026-08-12T15:31:20.6770000Z</dcterms:modified>
</coreProperties>
</file>