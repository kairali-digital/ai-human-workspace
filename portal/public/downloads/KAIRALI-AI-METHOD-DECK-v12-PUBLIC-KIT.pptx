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4540190605479d" /><Relationship Type="http://schemas.openxmlformats.org/officeDocument/2006/relationships/extended-properties" Target="/docProps/app.xml" Id="R72a5aa31d179457f" /><Relationship Type="http://schemas.openxmlformats.org/officeDocument/2006/relationships/officeDocument" Target="/ppt/presentation.xml" Id="R76e28d16e97c4cbf" /></Relationships>
</file>

<file path=ppt/presentation.xml><?xml version="1.0" encoding="utf-8"?>
<p:presentation xmlns:p="http://schemas.openxmlformats.org/presentationml/2006/main">
  <p:sldMasterIdLst>
    <p:sldMasterId xmlns:r="http://schemas.openxmlformats.org/officeDocument/2006/relationships" id="2147483648" r:id="R85542af97b8c4758"/>
  </p:sldMasterIdLst>
  <p:notesMasterIdLst>
    <p:notesMasterId xmlns:r="http://schemas.openxmlformats.org/officeDocument/2006/relationships" r:id="R7dc1c43dbd3c4da1"/>
  </p:notesMasterIdLst>
  <p:sldIdLst>
    <p:sldId xmlns:r="http://schemas.openxmlformats.org/officeDocument/2006/relationships" id="256" r:id="Rb54e437e38394ec0"/>
    <p:sldId xmlns:r="http://schemas.openxmlformats.org/officeDocument/2006/relationships" id="257" r:id="R47709a75111b4d41"/>
    <p:sldId xmlns:r="http://schemas.openxmlformats.org/officeDocument/2006/relationships" id="258" r:id="Rdf12a5ba288c4163"/>
    <p:sldId xmlns:r="http://schemas.openxmlformats.org/officeDocument/2006/relationships" id="259" r:id="Rf44df08ad2174515"/>
    <p:sldId xmlns:r="http://schemas.openxmlformats.org/officeDocument/2006/relationships" id="260" r:id="R4bea12760a434f1c"/>
    <p:sldId xmlns:r="http://schemas.openxmlformats.org/officeDocument/2006/relationships" id="261" r:id="Rc0fd9325080044c7"/>
    <p:sldId xmlns:r="http://schemas.openxmlformats.org/officeDocument/2006/relationships" id="262" r:id="R2ad2ed227a964b84"/>
    <p:sldId xmlns:r="http://schemas.openxmlformats.org/officeDocument/2006/relationships" id="263" r:id="R50b145d2efb44c3b"/>
    <p:sldId xmlns:r="http://schemas.openxmlformats.org/officeDocument/2006/relationships" id="264" r:id="Rf691271ed1704cf6"/>
    <p:sldId xmlns:r="http://schemas.openxmlformats.org/officeDocument/2006/relationships" id="265" r:id="R830219ecced94dec"/>
    <p:sldId xmlns:r="http://schemas.openxmlformats.org/officeDocument/2006/relationships" id="266" r:id="Ra609c909893c4b88"/>
    <p:sldId xmlns:r="http://schemas.openxmlformats.org/officeDocument/2006/relationships" id="267" r:id="Rc33d46ea78874a5b"/>
    <p:sldId xmlns:r="http://schemas.openxmlformats.org/officeDocument/2006/relationships" id="268" r:id="R9950958fa51c43fb"/>
    <p:sldId xmlns:r="http://schemas.openxmlformats.org/officeDocument/2006/relationships" id="269" r:id="R03b493c7b7524fb7"/>
    <p:sldId xmlns:r="http://schemas.openxmlformats.org/officeDocument/2006/relationships" id="270" r:id="R448c5a7cf5014dcf"/>
    <p:sldId xmlns:r="http://schemas.openxmlformats.org/officeDocument/2006/relationships" id="271" r:id="Red3261478c1a46ed"/>
    <p:sldId xmlns:r="http://schemas.openxmlformats.org/officeDocument/2006/relationships" id="272" r:id="R1bb5d2e93c1444f0"/>
    <p:sldId xmlns:r="http://schemas.openxmlformats.org/officeDocument/2006/relationships" id="273" r:id="R2d87b41e1c89482d"/>
    <p:sldId xmlns:r="http://schemas.openxmlformats.org/officeDocument/2006/relationships" id="274" r:id="Rdeb95e828fa641a0"/>
    <p:sldId xmlns:r="http://schemas.openxmlformats.org/officeDocument/2006/relationships" id="275" r:id="Rb8d14d6440fc4f67"/>
    <p:sldId xmlns:r="http://schemas.openxmlformats.org/officeDocument/2006/relationships" id="276" r:id="Rf7385080b6694b5c"/>
    <p:sldId xmlns:r="http://schemas.openxmlformats.org/officeDocument/2006/relationships" id="277" r:id="R2bc93f82db204e71"/>
    <p:sldId xmlns:r="http://schemas.openxmlformats.org/officeDocument/2006/relationships" id="278" r:id="Rfafdc882d42341ec"/>
    <p:sldId xmlns:r="http://schemas.openxmlformats.org/officeDocument/2006/relationships" id="279" r:id="R8228253573084eee"/>
    <p:sldId xmlns:r="http://schemas.openxmlformats.org/officeDocument/2006/relationships" id="280" r:id="R183de3b6960942d3"/>
    <p:sldId xmlns:r="http://schemas.openxmlformats.org/officeDocument/2006/relationships" id="281" r:id="R1bc6f2e7d60746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2c1026a1734e85" /><Relationship Type="http://schemas.openxmlformats.org/officeDocument/2006/relationships/slideMaster" Target="/ppt/slideMasters/slideMaster1.xml" Id="R85542af97b8c4758" /><Relationship Type="http://schemas.openxmlformats.org/officeDocument/2006/relationships/notesMaster" Target="/ppt/notesMasters/notesMaster1.xml" Id="R7dc1c43dbd3c4da1" /><Relationship Type="http://schemas.openxmlformats.org/officeDocument/2006/relationships/presProps" Target="/ppt/presProps.xml" Id="R5134cf119e89446e" /><Relationship Type="http://schemas.openxmlformats.org/officeDocument/2006/relationships/viewProps" Target="/ppt/viewProps.xml" Id="R4c8d4b4db17a4f3d" /><Relationship Type="http://schemas.openxmlformats.org/officeDocument/2006/relationships/tableStyles" Target="/ppt/tableStyles.xml" Id="Re74e8d8e485f463b" /><Relationship Type="http://schemas.openxmlformats.org/officeDocument/2006/relationships/slide" Target="/ppt/slides/slide1.xml" Id="Rb54e437e38394ec0" /><Relationship Type="http://schemas.openxmlformats.org/officeDocument/2006/relationships/slide" Target="/ppt/slides/slide2.xml" Id="R47709a75111b4d41" /><Relationship Type="http://schemas.openxmlformats.org/officeDocument/2006/relationships/slide" Target="/ppt/slides/slide3.xml" Id="Rdf12a5ba288c4163" /><Relationship Type="http://schemas.openxmlformats.org/officeDocument/2006/relationships/slide" Target="/ppt/slides/slide4.xml" Id="Rf44df08ad2174515" /><Relationship Type="http://schemas.openxmlformats.org/officeDocument/2006/relationships/slide" Target="/ppt/slides/slide5.xml" Id="R4bea12760a434f1c" /><Relationship Type="http://schemas.openxmlformats.org/officeDocument/2006/relationships/slide" Target="/ppt/slides/slide6.xml" Id="Rc0fd9325080044c7" /><Relationship Type="http://schemas.openxmlformats.org/officeDocument/2006/relationships/slide" Target="/ppt/slides/slide7.xml" Id="R2ad2ed227a964b84" /><Relationship Type="http://schemas.openxmlformats.org/officeDocument/2006/relationships/slide" Target="/ppt/slides/slide8.xml" Id="R50b145d2efb44c3b" /><Relationship Type="http://schemas.openxmlformats.org/officeDocument/2006/relationships/slide" Target="/ppt/slides/slide9.xml" Id="Rf691271ed1704cf6" /><Relationship Type="http://schemas.openxmlformats.org/officeDocument/2006/relationships/slide" Target="/ppt/slides/slide10.xml" Id="R830219ecced94dec" /><Relationship Type="http://schemas.openxmlformats.org/officeDocument/2006/relationships/slide" Target="/ppt/slides/slide11.xml" Id="Ra609c909893c4b88" /><Relationship Type="http://schemas.openxmlformats.org/officeDocument/2006/relationships/slide" Target="/ppt/slides/slide12.xml" Id="Rc33d46ea78874a5b" /><Relationship Type="http://schemas.openxmlformats.org/officeDocument/2006/relationships/slide" Target="/ppt/slides/slide13.xml" Id="R9950958fa51c43fb" /><Relationship Type="http://schemas.openxmlformats.org/officeDocument/2006/relationships/slide" Target="/ppt/slides/slide14.xml" Id="R03b493c7b7524fb7" /><Relationship Type="http://schemas.openxmlformats.org/officeDocument/2006/relationships/slide" Target="/ppt/slides/slide15.xml" Id="R448c5a7cf5014dcf" /><Relationship Type="http://schemas.openxmlformats.org/officeDocument/2006/relationships/slide" Target="/ppt/slides/slide16.xml" Id="Red3261478c1a46ed" /><Relationship Type="http://schemas.openxmlformats.org/officeDocument/2006/relationships/slide" Target="/ppt/slides/slide17.xml" Id="R1bb5d2e93c1444f0" /><Relationship Type="http://schemas.openxmlformats.org/officeDocument/2006/relationships/slide" Target="/ppt/slides/slide18.xml" Id="R2d87b41e1c89482d" /><Relationship Type="http://schemas.openxmlformats.org/officeDocument/2006/relationships/slide" Target="/ppt/slides/slide19.xml" Id="Rdeb95e828fa641a0" /><Relationship Type="http://schemas.openxmlformats.org/officeDocument/2006/relationships/slide" Target="/ppt/slides/slide20.xml" Id="Rb8d14d6440fc4f67" /><Relationship Type="http://schemas.openxmlformats.org/officeDocument/2006/relationships/slide" Target="/ppt/slides/slide21.xml" Id="Rf7385080b6694b5c" /><Relationship Type="http://schemas.openxmlformats.org/officeDocument/2006/relationships/slide" Target="/ppt/slides/slide22.xml" Id="R2bc93f82db204e71" /><Relationship Type="http://schemas.openxmlformats.org/officeDocument/2006/relationships/slide" Target="/ppt/slides/slide23.xml" Id="Rfafdc882d42341ec" /><Relationship Type="http://schemas.openxmlformats.org/officeDocument/2006/relationships/slide" Target="/ppt/slides/slide24.xml" Id="R8228253573084eee" /><Relationship Type="http://schemas.openxmlformats.org/officeDocument/2006/relationships/slide" Target="/ppt/slides/slide25.xml" Id="R183de3b6960942d3" /><Relationship Type="http://schemas.openxmlformats.org/officeDocument/2006/relationships/slide" Target="/ppt/slides/slide26.xml" Id="R1bc6f2e7d60746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b642dbeb5a43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8428309b0d474b" /><Relationship Type="http://schemas.openxmlformats.org/officeDocument/2006/relationships/notesMaster" Target="/ppt/notesMasters/notesMaster1.xml" Id="R4d0ed247b61941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f524a24a0540b6" /><Relationship Type="http://schemas.openxmlformats.org/officeDocument/2006/relationships/notesMaster" Target="/ppt/notesMasters/notesMaster1.xml" Id="Rce2357d07bdb48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897d2c010347b2" /><Relationship Type="http://schemas.openxmlformats.org/officeDocument/2006/relationships/notesMaster" Target="/ppt/notesMasters/notesMaster1.xml" Id="Rb07d65323aa646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e40aaaa2f142cd" /><Relationship Type="http://schemas.openxmlformats.org/officeDocument/2006/relationships/notesMaster" Target="/ppt/notesMasters/notesMaster1.xml" Id="Rbb75340e13c34f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52ff424113486b" /><Relationship Type="http://schemas.openxmlformats.org/officeDocument/2006/relationships/notesMaster" Target="/ppt/notesMasters/notesMaster1.xml" Id="R7006a5c7b2824d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e204c6e6a14957" /><Relationship Type="http://schemas.openxmlformats.org/officeDocument/2006/relationships/notesMaster" Target="/ppt/notesMasters/notesMaster1.xml" Id="R6c7e8b4942674e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edb585da5542e0" /><Relationship Type="http://schemas.openxmlformats.org/officeDocument/2006/relationships/notesMaster" Target="/ppt/notesMasters/notesMaster1.xml" Id="R87010956383748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fff3e2550148c7" /><Relationship Type="http://schemas.openxmlformats.org/officeDocument/2006/relationships/notesMaster" Target="/ppt/notesMasters/notesMaster1.xml" Id="Re7cd87aadc6e4d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8e3dbbd5f04965" /><Relationship Type="http://schemas.openxmlformats.org/officeDocument/2006/relationships/notesMaster" Target="/ppt/notesMasters/notesMaster1.xml" Id="R3b8cd3d43b384e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9d036f545d4f51" /><Relationship Type="http://schemas.openxmlformats.org/officeDocument/2006/relationships/notesMaster" Target="/ppt/notesMasters/notesMaster1.xml" Id="R4262b7876ff8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9af0b093e24a41" /><Relationship Type="http://schemas.openxmlformats.org/officeDocument/2006/relationships/notesMaster" Target="/ppt/notesMasters/notesMaster1.xml" Id="R0764dcaec2264d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b35bfde1134868" /><Relationship Type="http://schemas.openxmlformats.org/officeDocument/2006/relationships/notesMaster" Target="/ppt/notesMasters/notesMaster1.xml" Id="Rdd45b5d4553f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da89159bd74a1d" /><Relationship Type="http://schemas.openxmlformats.org/officeDocument/2006/relationships/notesMaster" Target="/ppt/notesMasters/notesMaster1.xml" Id="R6fe583a8c2c442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7cd7e6418b47ae" /><Relationship Type="http://schemas.openxmlformats.org/officeDocument/2006/relationships/notesMaster" Target="/ppt/notesMasters/notesMaster1.xml" Id="Raba5fbf2af7047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6a5d76316b4f3d" /><Relationship Type="http://schemas.openxmlformats.org/officeDocument/2006/relationships/notesMaster" Target="/ppt/notesMasters/notesMaster1.xml" Id="R0cae79cdffbd40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cb3e2736f84522" /><Relationship Type="http://schemas.openxmlformats.org/officeDocument/2006/relationships/notesMaster" Target="/ppt/notesMasters/notesMaster1.xml" Id="Ref9ad8ed2ee64c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8bed799986435e" /><Relationship Type="http://schemas.openxmlformats.org/officeDocument/2006/relationships/notesMaster" Target="/ppt/notesMasters/notesMaster1.xml" Id="Rbf728c8b5eb849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4d98a193a4409e" /><Relationship Type="http://schemas.openxmlformats.org/officeDocument/2006/relationships/notesMaster" Target="/ppt/notesMasters/notesMaster1.xml" Id="R17b7f786c15641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4da65954ce4d7b" /><Relationship Type="http://schemas.openxmlformats.org/officeDocument/2006/relationships/notesMaster" Target="/ppt/notesMasters/notesMaster1.xml" Id="Re9e5bd980b3448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a1e8d427dc47d1" /><Relationship Type="http://schemas.openxmlformats.org/officeDocument/2006/relationships/notesMaster" Target="/ppt/notesMasters/notesMaster1.xml" Id="Rdce9a5004fa942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200f1c0508449d" /><Relationship Type="http://schemas.openxmlformats.org/officeDocument/2006/relationships/notesMaster" Target="/ppt/notesMasters/notesMaster1.xml" Id="Rd126021c6a7246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8f91ad63834e9c" /><Relationship Type="http://schemas.openxmlformats.org/officeDocument/2006/relationships/notesMaster" Target="/ppt/notesMasters/notesMaster1.xml" Id="R6366de1abe18485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36e8a2642e4129" /><Relationship Type="http://schemas.openxmlformats.org/officeDocument/2006/relationships/notesMaster" Target="/ppt/notesMasters/notesMaster1.xml" Id="R03bd212e0e6449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bb9ea29bc44cdb" /><Relationship Type="http://schemas.openxmlformats.org/officeDocument/2006/relationships/notesMaster" Target="/ppt/notesMasters/notesMaster1.xml" Id="R61537326357e40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14466620614879" /><Relationship Type="http://schemas.openxmlformats.org/officeDocument/2006/relationships/notesMaster" Target="/ppt/notesMasters/notesMaster1.xml" Id="R301d125f056343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a1653282e054270" /><Relationship Type="http://schemas.openxmlformats.org/officeDocument/2006/relationships/notesMaster" Target="/ppt/notesMasters/notesMaster1.xml" Id="Raaa401dd997649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the link, switch to full screen, confirm sound and play the complete video before slide 2.</a:t>
            </a:r>
            <a:endParaRPr/>
          </a:p>
          <a:p xmlns:a="http://schemas.openxmlformats.org/drawingml/2006/main">
            <a:r>
              <a:t/>
            </a:r>
            <a:endParaRPr/>
          </a:p>
          <a:p xmlns:a="http://schemas.openxmlformats.org/drawingml/2006/main">
            <a:r>
              <a:t>[Sources]</a:t>
            </a:r>
            <a:endParaRPr/>
          </a:p>
          <a:p xmlns:a="http://schemas.openxmlformats.org/drawingml/2006/main">
            <a:r>
              <a:t>- https://youtu.be/eRrc1pUY5oU?si=Xb6O9dCRIE983HrU</a:t>
            </a:r>
            <a:endParaRPr/>
          </a:p>
          <a:p xmlns:a="http://schemas.openxmlformats.org/drawingml/2006/main">
            <a:r>
              <a:t>- User-supplied opening-video ruling</a:t>
            </a:r>
            <a:endParaRPr/>
          </a:p>
          <a:p xmlns:a="http://schemas.openxmlformats.org/drawingml/2006/main">
            <a:r>
              <a:t>- YouTube oEmbed title and author metadata</a:t>
            </a:r>
            <a:endParaRPr/>
          </a:p>
          <a:p xmlns:a="http://schemas.openxmlformats.org/drawingml/2006/main">
            <a:r>
              <a:t>- YouTube lengthSeconds metadata: 2528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tease, not a performance promise.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employee message: “You are learning to wear Codex like an Iron Man suit. You provide the mission and judgment. Codex performs approved work through a controlled autonomous loop.” Iron Man is a work metaphor; no Marvel artwork or copied movie visual is used.</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audience promise is a verified setup and one real first mission, not an abstract lesson.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people, not departments. Do not sum the snapshot into a new aggregate.</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locked sprint facts. The employee rollout does not claim that the whole team has reproduced the result.</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109,771 ÷ 1,967 = 55.8, displayed as approximately 56×. The two token counts, measurement method and five-file result are locked facts.</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problem the inventory and durable state solve.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D-120, D-121, D-124 and D-130 are four references to one Delhi campus. The lesson is the fact lock.</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 toward 800× statement is Abilash's ambition. It is not a verified result, forecast or guarantee.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transition: “Do you want a system like this? Let me show you how.”</a:t>
            </a:r>
            <a:endParaRPr/>
          </a:p>
          <a:p xmlns:a="http://schemas.openxmlformats.org/drawingml/2006/main">
            <a:r>
              <a:t/>
            </a:r>
            <a:endParaRPr/>
          </a:p>
          <a:p xmlns:a="http://schemas.openxmlformats.org/drawingml/2006/main">
            <a:r>
              <a:t>Before people enter, open the tested YouTube watch link, let any advertisement finish, confirm it seeks to 00:40, pause there and leave the tab ready. At this slide, switch to that prepared tab. If it is not ready, click the green callout and recover at 00:40. Pause manually at 01:40 before returning immediately to the deck; do not let its audio continue under slide 12.</a:t>
            </a:r>
            <a:endParaRPr/>
          </a:p>
          <a:p xmlns:a="http://schemas.openxmlformats.org/drawingml/2006/main">
            <a:r>
              <a:t/>
            </a:r>
            <a:endParaRPr/>
          </a:p>
          <a:p xmlns:a="http://schemas.openxmlformats.org/drawingml/2006/main">
            <a:r>
              <a:t>Recovery: open https://www.youtube.com/watch?v=yc8qbcIMZVg, seek to 00:40, and pause manually at 01:40.</a:t>
            </a:r>
            <a:endParaRPr/>
          </a:p>
          <a:p xmlns:a="http://schemas.openxmlformats.org/drawingml/2006/main">
            <a:r>
              <a:t/>
            </a:r>
            <a:endParaRPr/>
          </a:p>
          <a:p xmlns:a="http://schemas.openxmlformats.org/drawingml/2006/main">
            <a:r>
              <a:t>Return line: “That is the feeling we are building: not magic and not unlimited access—one mission, a controlled loop and proof.” Advance to the controlled autonomous loop.</a:t>
            </a:r>
            <a:endParaRPr/>
          </a:p>
          <a:p xmlns:a="http://schemas.openxmlformats.org/drawingml/2006/main">
            <a:r>
              <a:t/>
            </a:r>
            <a:endParaRPr/>
          </a:p>
          <a:p xmlns:a="http://schemas.openxmlformats.org/drawingml/2006/main">
            <a:r>
              <a:t>[Sources]</a:t>
            </a:r>
            <a:endParaRPr/>
          </a:p>
          <a:p xmlns:a="http://schemas.openxmlformats.org/drawingml/2006/main">
            <a:r>
              <a:t>- https://www.youtube.com/watch?v=yc8qbcIMZVg</a:t>
            </a:r>
            <a:endParaRPr/>
          </a:p>
          <a:p xmlns:a="http://schemas.openxmlformats.org/drawingml/2006/main">
            <a:r>
              <a:t>- https://developers.google.com/youtube/player_parameters</a:t>
            </a:r>
            <a:endParaRPr/>
          </a:p>
          <a:p xmlns:a="http://schemas.openxmlformats.org/drawingml/2006/main">
            <a:r>
              <a:t>- Owner-supplied segment and presenter framing,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continuing approved work inside declared boundaries. It never means silent permission expansion.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system appears after the outcome and operating model. Each worker owns separate state; shared facts have one owner.</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system, not the sales story.</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employee setup guide now and open it to the complete Setup Helper prompt. The employee never has to diagnose setup. The full prompt is reproduced here for the facilitator:</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[Sources]</a:t>
            </a:r>
            <a:endParaRPr/>
          </a:p>
          <a:p xmlns:a="http://schemas.openxmlformats.org/drawingml/2006/main">
            <a:r>
              <a:t>- https://learn.chatgpt.com/docs/app</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protected public repository is the clean setup and update source for every company. Beginners do not need a collaborator invitation, Git or Terminal: the Setup Helper can obtain the v1.2.0 company kit and open the correct project. Named live operations stay in a separately assigned private repository; homework and standalone work use separate local workers. Never put live company work or secrets in the public distribution repository.</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renamed connectors to Apps. Never test with a personal account. Company policy may control App availability.</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access never creates unlimited authority. The Setup Helper opens the correct settings page; the employee performs the unavoidable permission action and the helper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https://learn.chatgpt.com/docs/computer-use</a:t>
            </a:r>
            <a:endParaRPr/>
          </a:p>
          <a:p xmlns:a="http://schemas.openxmlformats.org/drawingml/2006/main">
            <a:r>
              <a:t>- https://learn.chatgpt.com/docs/chrome-extension</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Wispr is the voice input layer; the employee still reviews the transcript before sending. The Setup Helper checks, installs where safe and verifies the result.</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https://docs.wisprflow.ai/articles/1036674442-supported-devices-and-system-requirements</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voice experience should feel immediate, while approvals and project rules remain unchanged. NOT SET is a correct startup answer when no task has been ruled; it is not permission to invent work.</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lets the phone start, guide, approve and review tasks running on a connected Mac or Windows computer. The helper shows the human pairing action and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https://learn.chatgpt.com/docs/remote</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pathway for an employee who needs to reach an approved work computer from home. Setup can require the computer password and security-setting changes. Managed company accounts or networks may restrict remote access, so Ambuj/IT approval comes first. The employee keeps the PIN private and disconnects after use.</a:t>
            </a:r>
            <a:endParaRPr/>
          </a:p>
          <a:p xmlns:a="http://schemas.openxmlformats.org/drawingml/2006/main">
            <a:r>
              <a:t/>
            </a:r>
            <a:endParaRPr/>
          </a:p>
          <a:p xmlns:a="http://schemas.openxmlformats.org/drawingml/2006/main">
            <a:r>
              <a:t>[Sources]</a:t>
            </a:r>
            <a:endParaRPr/>
          </a:p>
          <a:p xmlns:a="http://schemas.openxmlformats.org/drawingml/2006/main">
            <a:r>
              <a:t>- https://support.google.com/chrome/answer/1649523?hl=en</a:t>
            </a:r>
            <a:endParaRPr/>
          </a:p>
          <a:p xmlns:a="http://schemas.openxmlformats.org/drawingml/2006/main">
            <a:r>
              <a:t>- https://remotedesktop.google.com/access</a:t>
            </a:r>
            <a:endParaRPr/>
          </a:p>
          <a:p xmlns:a="http://schemas.openxmlformats.org/drawingml/2006/main">
            <a:r>
              <a:t>- https://support.google.com/chrome/a/answer/2799701?hl=en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scan the whole computer. Local inventory stays limited to exact approved company folders. The connected company Drive may use TEST 25 or FULL DRIVE INDEX; full mode is still metadata-only, works in batches of at most 25 and checkpoints before continuing.</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is the future-searchable metadata index. The Markdown summary records coverage and gives plain-language search examples. The cursor makes the task resumable without duplicates. TEST 25 stops after one batch and says the full Drive was not indexed. FULL DRIVE INDEX continues after every durable checkpoint until all connector-supported scopes have no next page; unsupported scopes remain explicit coverage gaps. No file content is opened and Drive is not changed.</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repository: output/ROLLOUT-V1.2-DRIVE-INDEX-001/homework/AI-HUMAN-STARTERS/02-Drive-Inventory-AI-Human/START-HERE.md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Ambuj facilitates this in the room. The first success is the employee receiving one useful, bounded task recommendation after the approved inventory begins.</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Universal homework is now unambiguous: Email Triage and Drive Index are required; LinkedIn Draft is optional. Each assignment is a separate AI-human worker supplied in the public v1.2.0 company kit. Drive offers TEST 25 or FULL DRIVE INDEX. Full mode may cover the entire connector-visible account, but it never removes the hard batch cap: every batch is at most 25 and writes a durable checkpoint before continuing. The local metadata index supports future file finding; opening content later still requires current Drive permission and a new approved task. Employees do not send, delete, move, open attachments, open Drive file contents, edit cloud files, publish or open LinkedIn.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repository: output/ROLLOUT-V1.2-DRIVE-INDEX-001/homework/START-HERE.md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9cc44d8d8e42f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6a0b510b974cb2" /><Relationship Type="http://schemas.openxmlformats.org/officeDocument/2006/relationships/slideLayout" Target="/ppt/slideLayouts/slideLayout1.xml" Id="Rb8252faefb92493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252faefb92493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bf7f59bd4b4223" /><Relationship Type="http://schemas.openxmlformats.org/officeDocument/2006/relationships/hyperlink" Target="https://youtu.be/eRrc1pUY5oU?si=Xb6O9dCRIE983HrU" TargetMode="External" Id="R8ba49ac30f1145cf" /><Relationship Type="http://schemas.openxmlformats.org/officeDocument/2006/relationships/notesSlide" Target="/ppt/notesSlides/notesSlide1.xml" Id="Ra693d86807d14d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52be13c2d746ec" /><Relationship Type="http://schemas.openxmlformats.org/officeDocument/2006/relationships/notesSlide" Target="/ppt/notesSlides/notesSlide2.xml" Id="R789caaa328834c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9ae75cc7b6429a" /><Relationship Type="http://schemas.openxmlformats.org/officeDocument/2006/relationships/image" Target="/ppt/media/image.png" Id="Rebb7e0921bbd42ab" /><Relationship Type="http://schemas.openxmlformats.org/officeDocument/2006/relationships/notesSlide" Target="/ppt/notesSlides/notesSlide3.xml" Id="R10183f0ba2454b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89ca8bf79e4d30" /><Relationship Type="http://schemas.openxmlformats.org/officeDocument/2006/relationships/notesSlide" Target="/ppt/notesSlides/notesSlide4.xml" Id="R2bca685fcefd49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b5488254ef4c5d" /><Relationship Type="http://schemas.openxmlformats.org/officeDocument/2006/relationships/notesSlide" Target="/ppt/notesSlides/notesSlide5.xml" Id="R086bc18c9e3444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8ad475f0ea494b" /><Relationship Type="http://schemas.openxmlformats.org/officeDocument/2006/relationships/notesSlide" Target="/ppt/notesSlides/notesSlide6.xml" Id="R900ea241b4d844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1bff7523b44638" /><Relationship Type="http://schemas.openxmlformats.org/officeDocument/2006/relationships/notesSlide" Target="/ppt/notesSlides/notesSlide7.xml" Id="R74a4cec1fe1144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407369465e4b0a" /><Relationship Type="http://schemas.openxmlformats.org/officeDocument/2006/relationships/image" Target="/ppt/media/image2.png" Id="R0286b4401cc1424f" /><Relationship Type="http://schemas.openxmlformats.org/officeDocument/2006/relationships/image" Target="/ppt/media/image3.png" Id="Ra0b8dd1276344370" /><Relationship Type="http://schemas.openxmlformats.org/officeDocument/2006/relationships/image" Target="/ppt/media/image4.png" Id="R1180a1c2ec1b4165" /><Relationship Type="http://schemas.openxmlformats.org/officeDocument/2006/relationships/notesSlide" Target="/ppt/notesSlides/notesSlide8.xml" Id="R365fbc6f33d44f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f18229690047d8" /><Relationship Type="http://schemas.openxmlformats.org/officeDocument/2006/relationships/image" Target="/ppt/media/image2.png" Id="R8293606b683f4312" /><Relationship Type="http://schemas.openxmlformats.org/officeDocument/2006/relationships/image" Target="/ppt/media/image3.png" Id="Re6f4b58f1ea84b40" /><Relationship Type="http://schemas.openxmlformats.org/officeDocument/2006/relationships/image" Target="/ppt/media/image4.png" Id="R0be54c5ac0cc439d" /><Relationship Type="http://schemas.openxmlformats.org/officeDocument/2006/relationships/notesSlide" Target="/ppt/notesSlides/notesSlide9.xml" Id="R7b9a05de2f5345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e024443a1245f8" /><Relationship Type="http://schemas.openxmlformats.org/officeDocument/2006/relationships/image" Target="/ppt/media/image.png" Id="Rf1ee8bf9e63b4738" /><Relationship Type="http://schemas.openxmlformats.org/officeDocument/2006/relationships/notesSlide" Target="/ppt/notesSlides/notesSlide10.xml" Id="R392dc843778e4f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6eeca548f843bf" /><Relationship Type="http://schemas.openxmlformats.org/officeDocument/2006/relationships/image" Target="/ppt/media/image.png" Id="Refa040b9d6764e5b" /><Relationship Type="http://schemas.openxmlformats.org/officeDocument/2006/relationships/hyperlink" Target="https://www.youtube.com/watch?v=yc8qbcIMZVg&amp;t=40s" TargetMode="External" Id="R49c9a1ef199444c8" /><Relationship Type="http://schemas.openxmlformats.org/officeDocument/2006/relationships/notesSlide" Target="/ppt/notesSlides/notesSlide11.xml" Id="Rc284e9a9bb254d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b90c909b684fac" /><Relationship Type="http://schemas.openxmlformats.org/officeDocument/2006/relationships/image" Target="/ppt/media/image.png" Id="R87a533f70f6f4f8a" /><Relationship Type="http://schemas.openxmlformats.org/officeDocument/2006/relationships/notesSlide" Target="/ppt/notesSlides/notesSlide12.xml" Id="Rb8d4a3a128e34a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6b2adecfc44646" /><Relationship Type="http://schemas.openxmlformats.org/officeDocument/2006/relationships/notesSlide" Target="/ppt/notesSlides/notesSlide13.xml" Id="R7e2366ed645e47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ddfd5a98aa4a0e" /><Relationship Type="http://schemas.openxmlformats.org/officeDocument/2006/relationships/image" Target="/ppt/media/image2.png" Id="Ra08709ff7dc24a2f" /><Relationship Type="http://schemas.openxmlformats.org/officeDocument/2006/relationships/image" Target="/ppt/media/image3.png" Id="Rd09dc420f1fd4dc8" /><Relationship Type="http://schemas.openxmlformats.org/officeDocument/2006/relationships/image" Target="/ppt/media/image4.png" Id="R38faf54bcbbd4689" /><Relationship Type="http://schemas.openxmlformats.org/officeDocument/2006/relationships/notesSlide" Target="/ppt/notesSlides/notesSlide14.xml" Id="R2341b07ca7824f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a880f2a3438499f" /><Relationship Type="http://schemas.openxmlformats.org/officeDocument/2006/relationships/notesSlide" Target="/ppt/notesSlides/notesSlide15.xml" Id="R7b8947ab964c49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d7d95d22e7431c" /><Relationship Type="http://schemas.openxmlformats.org/officeDocument/2006/relationships/image" Target="/ppt/media/image5.png" Id="R5cb5a64d56c6420f" /><Relationship Type="http://schemas.openxmlformats.org/officeDocument/2006/relationships/notesSlide" Target="/ppt/notesSlides/notesSlide16.xml" Id="R2b252413a29f45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01aa8e0f1d443ac" /><Relationship Type="http://schemas.openxmlformats.org/officeDocument/2006/relationships/notesSlide" Target="/ppt/notesSlides/notesSlide17.xml" Id="R8ddda32b600242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1304d4fcfa470e" /><Relationship Type="http://schemas.openxmlformats.org/officeDocument/2006/relationships/image" Target="/ppt/media/image6.png" Id="R8309a2aa0fe44f1f" /><Relationship Type="http://schemas.openxmlformats.org/officeDocument/2006/relationships/notesSlide" Target="/ppt/notesSlides/notesSlide18.xml" Id="Re67c3010fe2c49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a9b79dfeeaa4f8c" /><Relationship Type="http://schemas.openxmlformats.org/officeDocument/2006/relationships/image" Target="/ppt/media/image6.png" Id="R88e20a9d28174325" /><Relationship Type="http://schemas.openxmlformats.org/officeDocument/2006/relationships/notesSlide" Target="/ppt/notesSlides/notesSlide19.xml" Id="R97c36562a1bd44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e20e74bb94b4b5b" /><Relationship Type="http://schemas.openxmlformats.org/officeDocument/2006/relationships/notesSlide" Target="/ppt/notesSlides/notesSlide20.xml" Id="Rd19df0c44bc94b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420c2fec5c2481a" /><Relationship Type="http://schemas.openxmlformats.org/officeDocument/2006/relationships/image" Target="/ppt/media/image5.png" Id="R1d5498cce6f54c86" /><Relationship Type="http://schemas.openxmlformats.org/officeDocument/2006/relationships/notesSlide" Target="/ppt/notesSlides/notesSlide21.xml" Id="R05fdecf1ff9444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fc424d789474cc8" /><Relationship Type="http://schemas.openxmlformats.org/officeDocument/2006/relationships/image" Target="/ppt/media/image2.png" Id="R61341e3c9f9e42f0" /><Relationship Type="http://schemas.openxmlformats.org/officeDocument/2006/relationships/image" Target="/ppt/media/image3.png" Id="R31f393584dfe4250" /><Relationship Type="http://schemas.openxmlformats.org/officeDocument/2006/relationships/image" Target="/ppt/media/image4.png" Id="Rbb1a70c72a4d42e8" /><Relationship Type="http://schemas.openxmlformats.org/officeDocument/2006/relationships/notesSlide" Target="/ppt/notesSlides/notesSlide22.xml" Id="R80830514c05741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687e4ebd6b444b8" /><Relationship Type="http://schemas.openxmlformats.org/officeDocument/2006/relationships/image" Target="/ppt/media/image2.png" Id="R8113dc0f1ecb475e" /><Relationship Type="http://schemas.openxmlformats.org/officeDocument/2006/relationships/image" Target="/ppt/media/image3.png" Id="R9dbfd17feeaa454e" /><Relationship Type="http://schemas.openxmlformats.org/officeDocument/2006/relationships/image" Target="/ppt/media/image4.png" Id="Rc9df720d56bb4c99" /><Relationship Type="http://schemas.openxmlformats.org/officeDocument/2006/relationships/notesSlide" Target="/ppt/notesSlides/notesSlide23.xml" Id="R704775cea9d343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5883895ba24861" /><Relationship Type="http://schemas.openxmlformats.org/officeDocument/2006/relationships/notesSlide" Target="/ppt/notesSlides/notesSlide24.xml" Id="R3e3652296d1a43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bc11361fd014514" /><Relationship Type="http://schemas.openxmlformats.org/officeDocument/2006/relationships/image" Target="/ppt/media/image7.png" Id="Rc32bf872ff2d475a" /><Relationship Type="http://schemas.openxmlformats.org/officeDocument/2006/relationships/image" Target="/ppt/media/image8.png" Id="R5394247a15d24665" /><Relationship Type="http://schemas.openxmlformats.org/officeDocument/2006/relationships/image" Target="/ppt/media/image9.png" Id="R7822d921d7c84f0f" /><Relationship Type="http://schemas.openxmlformats.org/officeDocument/2006/relationships/notesSlide" Target="/ppt/notesSlides/notesSlide25.xml" Id="R262211b417524fb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7a6f7d57c734c6a" /><Relationship Type="http://schemas.openxmlformats.org/officeDocument/2006/relationships/notesSlide" Target="/ppt/notesSlides/notesSlide26.xml" Id="R3ba0c1b672014caa"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PLAY THIS FIRST  ·  DO NOT SKIP</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Garry Tan: Own Your Intelligence</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Y Combinator</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42 minutes 08 seconds. Play the full video before the presentation begins.</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8ba49ac30f1145cf"/>
              </a:rPr>
              <a:t>CLICK HERE TO OPEN THE VIDEO</a:t>
            </a:r>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KAIRALI AI METHOD  ·  12 AUGUST 2026</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your work to keep moving?</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Give Codex one real mission.</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Today: connect the project, map the work, speak the task and approve the first batch.</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You keep judgment and approval.</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415748415"/>
      </p:ext>
    </p:extLst>
  </p:cSld>
</p:sld>
</file>

<file path=ppt/slides/slide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IRON MAN OPERATING MODEL</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You are the mission owner.</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is the suit.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ebb7e0921bbd42ab"/>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You provide the mission, judgment, creativity, responsibility and approvals.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Codex researches, plans, creates, checks, documents and continues approved work.</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3</a:t>
            </a:r>
            <a:endParaRPr sz="900"/>
          </a:p>
        </p:txBody>
      </p:sp>
    </p:spTree>
    <p:extLst>
      <p:ext uri="{BB962C8B-B14F-4D97-AF65-F5344CB8AC3E}">
        <p14:creationId xmlns:p14="http://schemas.microsoft.com/office/powerpoint/2010/main" val="864629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C7F63-FF63-4337-8C22-EB44003ABC41}"/>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WHAT IS IN IT FOR YOU</a:t>
            </a:r>
            <a:endParaRPr sz="1050"/>
          </a:p>
        </p:txBody>
      </p:sp>
      <p:sp>
        <p:nvSpPr>
          <p:cNvPr id="3" name="Text 1">
            <a:extLst xmlns:a="http://schemas.openxmlformats.org/drawingml/2006/main">
              <a:ext uri="{FF2B5EF4-FFF2-40B4-BE49-F238E27FC236}">
                <a16:creationId xmlns:a16="http://schemas.microsoft.com/office/drawing/2014/main" id="{6D365F64-646A-40E9-B328-C4656DB3169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You leave with your suit working.</a:t>
            </a:r>
            <a:endParaRPr sz="3600"/>
          </a:p>
        </p:txBody>
      </p:sp>
      <p:sp>
        <p:nvSpPr>
          <p:cNvPr id="4" name="Shape 2">
            <a:extLst xmlns:a="http://schemas.openxmlformats.org/drawingml/2006/main">
              <a:ext uri="{FF2B5EF4-FFF2-40B4-BE49-F238E27FC236}">
                <a16:creationId xmlns:a16="http://schemas.microsoft.com/office/drawing/2014/main" id="{38F4A3E0-97E6-4079-8072-83E5527856BB}"/>
              </a:ext>
            </a:extLst>
          </p:cNvPr>
          <p:cNvSpPr>
            <a:spLocks xmlns:a="http://schemas.openxmlformats.org/drawingml/2006/main" noGrp="1"/>
          </p:cNvSpPr>
          <p:nvPr/>
        </p:nvSpPr>
        <p:spPr>
          <a:xfrm xmlns:a="http://schemas.openxmlformats.org/drawingml/2006/main">
            <a:off x="640080" y="1828800"/>
            <a:ext cx="3422904" cy="2651760"/>
          </a:xfrm>
          <a:prstGeom xmlns:a="http://schemas.openxmlformats.org/drawingml/2006/main" prst="roundRect">
            <a:avLst>
              <a:gd name="adj" fmla="val 3103"/>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15B9DB5-2192-4E15-AB64-08557D75B384}"/>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ellipse">
            <a:avLst/>
          </a:prstGeom>
          <a:solidFill xmlns:a="http://schemas.openxmlformats.org/drawingml/2006/main">
            <a:srgbClr val="2E6B37"/>
          </a:solidFill>
        </p:spPr>
      </p:sp>
      <p:sp>
        <p:nvSpPr>
          <p:cNvPr id="6" name="Text 4">
            <a:extLst xmlns:a="http://schemas.openxmlformats.org/drawingml/2006/main">
              <a:ext uri="{FF2B5EF4-FFF2-40B4-BE49-F238E27FC236}">
                <a16:creationId xmlns:a16="http://schemas.microsoft.com/office/drawing/2014/main" id="{EF803F3B-BC49-4C2A-8E5C-D62307998DA7}"/>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7" name="Text 5">
            <a:extLst xmlns:a="http://schemas.openxmlformats.org/drawingml/2006/main">
              <a:ext uri="{FF2B5EF4-FFF2-40B4-BE49-F238E27FC236}">
                <a16:creationId xmlns:a16="http://schemas.microsoft.com/office/drawing/2014/main" id="{E1B26B39-DD6B-420F-A333-895BC6C09BB1}"/>
              </a:ext>
            </a:extLst>
          </p:cNvPr>
          <p:cNvSpPr>
            <a:spLocks xmlns:a="http://schemas.openxmlformats.org/drawingml/2006/main" noGrp="1"/>
          </p:cNvSpPr>
          <p:nvPr/>
        </p:nvSpPr>
        <p:spPr>
          <a:xfrm xmlns:a="http://schemas.openxmlformats.org/drawingml/2006/main">
            <a:off x="960120"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project opens</a:t>
            </a:r>
            <a:endParaRPr sz="1800"/>
          </a:p>
        </p:txBody>
      </p:sp>
      <p:sp>
        <p:nvSpPr>
          <p:cNvPr id="8" name="Text 6">
            <a:extLst xmlns:a="http://schemas.openxmlformats.org/drawingml/2006/main">
              <a:ext uri="{FF2B5EF4-FFF2-40B4-BE49-F238E27FC236}">
                <a16:creationId xmlns:a16="http://schemas.microsoft.com/office/drawing/2014/main" id="{4C726426-AFE3-4A9A-84B5-9081A69F49DA}"/>
              </a:ext>
            </a:extLst>
          </p:cNvPr>
          <p:cNvSpPr>
            <a:spLocks xmlns:a="http://schemas.openxmlformats.org/drawingml/2006/main" noGrp="1"/>
          </p:cNvSpPr>
          <p:nvPr/>
        </p:nvSpPr>
        <p:spPr>
          <a:xfrm xmlns:a="http://schemas.openxmlformats.org/drawingml/2006/main">
            <a:off x="960120"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Company account, correct project and startup test passed.</a:t>
            </a:r>
            <a:endParaRPr sz="1300"/>
          </a:p>
        </p:txBody>
      </p:sp>
      <p:sp>
        <p:nvSpPr>
          <p:cNvPr id="9" name="Shape 7">
            <a:extLst xmlns:a="http://schemas.openxmlformats.org/drawingml/2006/main">
              <a:ext uri="{FF2B5EF4-FFF2-40B4-BE49-F238E27FC236}">
                <a16:creationId xmlns:a16="http://schemas.microsoft.com/office/drawing/2014/main" id="{EEDBBEF7-4519-498F-AB6F-E1F2FD47008F}"/>
              </a:ext>
            </a:extLst>
          </p:cNvPr>
          <p:cNvSpPr>
            <a:spLocks xmlns:a="http://schemas.openxmlformats.org/drawingml/2006/main" noGrp="1"/>
          </p:cNvSpPr>
          <p:nvPr/>
        </p:nvSpPr>
        <p:spPr>
          <a:xfrm xmlns:a="http://schemas.openxmlformats.org/drawingml/2006/main">
            <a:off x="4383024" y="1828800"/>
            <a:ext cx="3422904" cy="2651760"/>
          </a:xfrm>
          <a:prstGeom xmlns:a="http://schemas.openxmlformats.org/drawingml/2006/main" prst="roundRect">
            <a:avLst>
              <a:gd name="adj" fmla="val 3103"/>
            </a:avLst>
          </a:prstGeom>
          <a:solidFill xmlns:a="http://schemas.openxmlformats.org/drawingml/2006/main">
            <a:srgbClr val="FBF2DC"/>
          </a:solidFill>
        </p:spPr>
      </p:sp>
      <p:sp>
        <p:nvSpPr>
          <p:cNvPr id="10" name="Shape 8">
            <a:extLst xmlns:a="http://schemas.openxmlformats.org/drawingml/2006/main">
              <a:ext uri="{FF2B5EF4-FFF2-40B4-BE49-F238E27FC236}">
                <a16:creationId xmlns:a16="http://schemas.microsoft.com/office/drawing/2014/main" id="{0CE38E33-A0CC-4558-B79B-EA0F537BCD7C}"/>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ellipse">
            <a:avLst/>
          </a:prstGeom>
          <a:solidFill xmlns:a="http://schemas.openxmlformats.org/drawingml/2006/main">
            <a:srgbClr val="2E6B37"/>
          </a:solidFill>
        </p:spPr>
      </p:sp>
      <p:sp>
        <p:nvSpPr>
          <p:cNvPr id="11" name="Text 9">
            <a:extLst xmlns:a="http://schemas.openxmlformats.org/drawingml/2006/main">
              <a:ext uri="{FF2B5EF4-FFF2-40B4-BE49-F238E27FC236}">
                <a16:creationId xmlns:a16="http://schemas.microsoft.com/office/drawing/2014/main" id="{8C46E115-A11E-45AA-967A-1B3F10A73B06}"/>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2" name="Text 10">
            <a:extLst xmlns:a="http://schemas.openxmlformats.org/drawingml/2006/main">
              <a:ext uri="{FF2B5EF4-FFF2-40B4-BE49-F238E27FC236}">
                <a16:creationId xmlns:a16="http://schemas.microsoft.com/office/drawing/2014/main" id="{3CF25313-5946-48A0-BC27-C98E4F2E6470}"/>
              </a:ext>
            </a:extLst>
          </p:cNvPr>
          <p:cNvSpPr>
            <a:spLocks xmlns:a="http://schemas.openxmlformats.org/drawingml/2006/main" noGrp="1"/>
          </p:cNvSpPr>
          <p:nvPr/>
        </p:nvSpPr>
        <p:spPr>
          <a:xfrm xmlns:a="http://schemas.openxmlformats.org/drawingml/2006/main">
            <a:off x="4703064"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work becomes visible</a:t>
            </a:r>
            <a:endParaRPr sz="1800"/>
          </a:p>
        </p:txBody>
      </p:sp>
      <p:sp>
        <p:nvSpPr>
          <p:cNvPr id="13" name="Text 11">
            <a:extLst xmlns:a="http://schemas.openxmlformats.org/drawingml/2006/main">
              <a:ext uri="{FF2B5EF4-FFF2-40B4-BE49-F238E27FC236}">
                <a16:creationId xmlns:a16="http://schemas.microsoft.com/office/drawing/2014/main" id="{022CB0FC-9181-47B3-B550-605A1C6CAE4F}"/>
              </a:ext>
            </a:extLst>
          </p:cNvPr>
          <p:cNvSpPr>
            <a:spLocks xmlns:a="http://schemas.openxmlformats.org/drawingml/2006/main" noGrp="1"/>
          </p:cNvSpPr>
          <p:nvPr/>
        </p:nvSpPr>
        <p:spPr>
          <a:xfrm xmlns:a="http://schemas.openxmlformats.org/drawingml/2006/main">
            <a:off x="4703064"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folders, Drive files and delegation rows become one inventory.</a:t>
            </a:r>
            <a:endParaRPr sz="1300"/>
          </a:p>
        </p:txBody>
      </p:sp>
      <p:sp>
        <p:nvSpPr>
          <p:cNvPr id="14" name="Shape 12">
            <a:extLst xmlns:a="http://schemas.openxmlformats.org/drawingml/2006/main">
              <a:ext uri="{FF2B5EF4-FFF2-40B4-BE49-F238E27FC236}">
                <a16:creationId xmlns:a16="http://schemas.microsoft.com/office/drawing/2014/main" id="{4C4C19E8-9ECE-4A75-81DF-F70E4FCE4978}"/>
              </a:ext>
            </a:extLst>
          </p:cNvPr>
          <p:cNvSpPr>
            <a:spLocks xmlns:a="http://schemas.openxmlformats.org/drawingml/2006/main" noGrp="1"/>
          </p:cNvSpPr>
          <p:nvPr/>
        </p:nvSpPr>
        <p:spPr>
          <a:xfrm xmlns:a="http://schemas.openxmlformats.org/drawingml/2006/main">
            <a:off x="8125968" y="1828800"/>
            <a:ext cx="3422904" cy="2651760"/>
          </a:xfrm>
          <a:prstGeom xmlns:a="http://schemas.openxmlformats.org/drawingml/2006/main" prst="roundRect">
            <a:avLst>
              <a:gd name="adj" fmla="val 3103"/>
            </a:avLst>
          </a:prstGeom>
          <a:solidFill xmlns:a="http://schemas.openxmlformats.org/drawingml/2006/main">
            <a:srgbClr val="F2D9C9"/>
          </a:solidFill>
        </p:spPr>
      </p:sp>
      <p:sp>
        <p:nvSpPr>
          <p:cNvPr id="15" name="Shape 13">
            <a:extLst xmlns:a="http://schemas.openxmlformats.org/drawingml/2006/main">
              <a:ext uri="{FF2B5EF4-FFF2-40B4-BE49-F238E27FC236}">
                <a16:creationId xmlns:a16="http://schemas.microsoft.com/office/drawing/2014/main" id="{5C85A513-996B-43D1-A420-006776988409}"/>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ellipse">
            <a:avLst/>
          </a:prstGeom>
          <a:solidFill xmlns:a="http://schemas.openxmlformats.org/drawingml/2006/main">
            <a:srgbClr val="2E6B37"/>
          </a:solidFill>
        </p:spPr>
      </p:sp>
      <p:sp>
        <p:nvSpPr>
          <p:cNvPr id="16" name="Text 14">
            <a:extLst xmlns:a="http://schemas.openxmlformats.org/drawingml/2006/main">
              <a:ext uri="{FF2B5EF4-FFF2-40B4-BE49-F238E27FC236}">
                <a16:creationId xmlns:a16="http://schemas.microsoft.com/office/drawing/2014/main" id="{0AD43F12-7735-4289-AD25-12A195985E9B}"/>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7" name="Text 15">
            <a:extLst xmlns:a="http://schemas.openxmlformats.org/drawingml/2006/main">
              <a:ext uri="{FF2B5EF4-FFF2-40B4-BE49-F238E27FC236}">
                <a16:creationId xmlns:a16="http://schemas.microsoft.com/office/drawing/2014/main" id="{34233FA0-EA2F-4155-88A5-8A3CB9474E18}"/>
              </a:ext>
            </a:extLst>
          </p:cNvPr>
          <p:cNvSpPr>
            <a:spLocks xmlns:a="http://schemas.openxmlformats.org/drawingml/2006/main" noGrp="1"/>
          </p:cNvSpPr>
          <p:nvPr/>
        </p:nvSpPr>
        <p:spPr>
          <a:xfrm xmlns:a="http://schemas.openxmlformats.org/drawingml/2006/main">
            <a:off x="8446008"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One mission starts</a:t>
            </a:r>
            <a:endParaRPr sz="1800"/>
          </a:p>
        </p:txBody>
      </p:sp>
      <p:sp>
        <p:nvSpPr>
          <p:cNvPr id="18" name="Text 16">
            <a:extLst xmlns:a="http://schemas.openxmlformats.org/drawingml/2006/main">
              <a:ext uri="{FF2B5EF4-FFF2-40B4-BE49-F238E27FC236}">
                <a16:creationId xmlns:a16="http://schemas.microsoft.com/office/drawing/2014/main" id="{C0A3A010-8734-4F04-AB91-BBB0E5337F65}"/>
              </a:ext>
            </a:extLst>
          </p:cNvPr>
          <p:cNvSpPr>
            <a:spLocks xmlns:a="http://schemas.openxmlformats.org/drawingml/2006/main" noGrp="1"/>
          </p:cNvSpPr>
          <p:nvPr/>
        </p:nvSpPr>
        <p:spPr>
          <a:xfrm xmlns:a="http://schemas.openxmlformats.org/drawingml/2006/main">
            <a:off x="8446008"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Codex recommends one real task and a bounded first batch.</a:t>
            </a:r>
            <a:endParaRPr sz="1300"/>
          </a:p>
        </p:txBody>
      </p:sp>
      <p:sp>
        <p:nvSpPr>
          <p:cNvPr id="19" name="Shape 17">
            <a:extLst xmlns:a="http://schemas.openxmlformats.org/drawingml/2006/main">
              <a:ext uri="{FF2B5EF4-FFF2-40B4-BE49-F238E27FC236}">
                <a16:creationId xmlns:a16="http://schemas.microsoft.com/office/drawing/2014/main" id="{DB6D0D28-BF87-4F70-B411-AC5FA8349D05}"/>
              </a:ext>
            </a:extLst>
          </p:cNvPr>
          <p:cNvSpPr>
            <a:spLocks xmlns:a="http://schemas.openxmlformats.org/drawingml/2006/main" noGrp="1"/>
          </p:cNvSpPr>
          <p:nvPr/>
        </p:nvSpPr>
        <p:spPr>
          <a:xfrm xmlns:a="http://schemas.openxmlformats.org/drawingml/2006/main">
            <a:off x="640080" y="4754880"/>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C737FE05-B165-411D-8F1A-6EC6CAC55404}"/>
              </a:ext>
            </a:extLst>
          </p:cNvPr>
          <p:cNvSpPr>
            <a:spLocks xmlns:a="http://schemas.openxmlformats.org/drawingml/2006/main" noGrp="1"/>
          </p:cNvSpPr>
          <p:nvPr/>
        </p:nvSpPr>
        <p:spPr>
          <a:xfrm xmlns:a="http://schemas.openxmlformats.org/drawingml/2006/main">
            <a:off x="1005840" y="4754880"/>
            <a:ext cx="1017727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B4A05"/>
                </a:solidFill>
                <a:latin typeface="Arial"/>
                <a:ea typeface="Arial"/>
                <a:cs typeface="Arial"/>
              </a:rPr>
              <a:t>Ambuj runs the group. The Setup Helper handles the machinery.</a:t>
            </a:r>
            <a:endParaRPr sz="1600"/>
          </a:p>
        </p:txBody>
      </p:sp>
      <p:sp>
        <p:nvSpPr>
          <p:cNvPr id="21" name="Text 19">
            <a:extLst xmlns:a="http://schemas.openxmlformats.org/drawingml/2006/main">
              <a:ext uri="{FF2B5EF4-FFF2-40B4-BE49-F238E27FC236}">
                <a16:creationId xmlns:a16="http://schemas.microsoft.com/office/drawing/2014/main" id="{7E5B27B6-DA91-4C01-9228-378EAE17512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20">
            <a:extLst xmlns:a="http://schemas.openxmlformats.org/drawingml/2006/main">
              <a:ext uri="{FF2B5EF4-FFF2-40B4-BE49-F238E27FC236}">
                <a16:creationId xmlns:a16="http://schemas.microsoft.com/office/drawing/2014/main" id="{951AC1B5-BB18-4BF0-B748-C21BA1A979E0}"/>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3336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YOUR OWN WORK BECOMES THE MISSION</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Codex can help close your own assigned list.</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357</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Sunaj</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318</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Anupam</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269</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Astha</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263</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Deepu</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194</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Satyam</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124</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Vikash</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42</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Shadab</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15</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Rohan</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F7268"/>
                </a:solidFill>
                <a:latin typeface="Arial"/>
                <a:ea typeface="Arial"/>
                <a:cs typeface="Arial"/>
              </a:rPr>
              <a:t>Locked rollout snapshot. Trusha: 2. Shadab also has 51 Shopify tasks on the specialist sheet.</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Choose the task. Codex works. Proof closes it.</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No invented exercises. Start from work already assigned to you.</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579645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RESULTS ALREADY ACHIEVED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Two Shopify stores. Four days. One person.</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82</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verified line items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200+</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discrete actions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4</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days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stores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Zero money spent without approval. Every change has proof.</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Abilash ran this himself. The rollout exists so each employee can apply the pattern to their own work.</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SAME BRIEF, ≈56× LIGHTER</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operating files ended repeated cold starts.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250" b="1">
                <a:solidFill>
                  <a:srgbClr val="2E6B37"/>
                </a:solidFill>
              </a:defRPr>
            </a:pPr>
            <a:r>
              <a:rPr sz="2250" b="1">
                <a:solidFill>
                  <a:srgbClr val="2E6B37"/>
                </a:solidFill>
                <a:latin typeface="Arial"/>
                <a:ea typeface="Arial"/>
                <a:cs typeface="Arial"/>
              </a:rPr>
              <a:t>109,771</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before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1,967</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after</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≈56×</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reduction</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common files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Measured with the o200k_base tokenizer after the restructure.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The files remember operating state, so a new session does not start from zero.</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WHERE WE ARE NOW</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Three things keep wasting our time.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286b4401cc1424f"/>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Work is scattered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Drive, local folders and delegation rows are not yet one map.</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a0b8dd1276344370"/>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Decisions repeat</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answer sits in memory or an old chat, so the same question returns.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1180a1c2ec1b416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Done has no proof</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 change is called complete before the result is checked.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First make the work visible. Then let Codex act inside approved boundaries.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9021505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D-130 LOOP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recorded fact ended the repeated question.</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8293606b683f4312"/>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question returned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Four references to one campus kept reappearing in new chats.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e6f4b58f1ea84b40"/>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fact was locked</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authoritative answer moved from memory into shared context.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0be54c5ac0cc439d"/>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Contradictions now stop</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New evidence can reopen the decision; repetition cannot.</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Write the decision once. Future sessions spend time on the next real task.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902150507"/>
      </p:ext>
    </p:extLst>
  </p:cSld>
</p:sld>
</file>

<file path=ppt/slides/slide10.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OWNER AMBITION  ·  NOT A RESULT</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From 1× toward 800× capability.</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Not 800× more typing. More approved work completed through repeatable workers.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f1ee8bf9e63b4738"/>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AMBITION ONLY  ·  NOT ACHIEVED OR GUARANTEED</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We will measure completed work, time, proof and errors—not slogans.</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10</a:t>
            </a:r>
            <a:endParaRPr sz="900"/>
          </a:p>
        </p:txBody>
      </p:sp>
    </p:spTree>
    <p:extLst>
      <p:ext uri="{BB962C8B-B14F-4D97-AF65-F5344CB8AC3E}">
        <p14:creationId xmlns:p14="http://schemas.microsoft.com/office/powerpoint/2010/main" val="864629065"/>
      </p:ext>
    </p:extLst>
  </p:cSld>
</p:sld>
</file>

<file path=ppt/slides/slide1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60-SECOND DEMONSTRATION</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Do you want a system like this?</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Watch one minute. Then see how Kairali makes it controlled and repeatable.</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efa040b9d6764e5b"/>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LET ME SHOW YOU HOW  ·  PLAY 00:40–01:40</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49c9a1ef199444c8"/>
              </a:rPr>
              <a:t>PLAY THE 60-SECOND DEMONSTRATION</a:t>
            </a:r>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11</a:t>
            </a:r>
            <a:endParaRPr sz="900"/>
          </a:p>
        </p:txBody>
      </p:sp>
    </p:spTree>
    <p:extLst>
      <p:ext uri="{BB962C8B-B14F-4D97-AF65-F5344CB8AC3E}">
        <p14:creationId xmlns:p14="http://schemas.microsoft.com/office/powerpoint/2010/main" val="864629065"/>
      </p:ext>
    </p:extLst>
  </p:cSld>
</p:sld>
</file>

<file path=ppt/slides/slide1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CONTROLLED AUTONOMOUS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Mission → work → proof → next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continues only inside the task, sources, tools and permissions you approved.</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87a533f70f6f4f8a"/>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HUMAN RULES  ·  THE SUIT EXECUTES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Stop for access, publishing, deletion, security, Gate 0 or any new authority.</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12</a:t>
            </a:r>
            <a:endParaRPr sz="900"/>
          </a:p>
        </p:txBody>
      </p:sp>
    </p:spTree>
    <p:extLst>
      <p:ext uri="{BB962C8B-B14F-4D97-AF65-F5344CB8AC3E}">
        <p14:creationId xmlns:p14="http://schemas.microsoft.com/office/powerpoint/2010/main" val="864629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SUIT'S CONTROL SYSTEM</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Five files hold the work. Three rules hold the line.</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CURSOR</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one mission live</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REGISTER</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every open row</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TODAY</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current batch</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LEDGER</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closed result</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EVIDENCE</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proof attached</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ONE</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task at a time</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≤25</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per batch</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PROOF</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or not done</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975">
                <a:solidFill>
                  <a:srgbClr val="5B6C60"/>
                </a:solidFill>
              </a:defRPr>
            </a:pPr>
            <a:r>
              <a:rPr sz="975">
                <a:solidFill>
                  <a:srgbClr val="5B6C60"/>
                </a:solidFill>
                <a:latin typeface="Arial"/>
                <a:ea typeface="Arial"/>
                <a:cs typeface="Arial"/>
              </a:rPr>
              <a:t>Separate state per worker. Shared facts stay read-only.</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These files make autonomy resumable.</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One worker, one live task. A supervisor reports drift; it does not silently rewrite.</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13</a:t>
            </a:r>
            <a:endParaRPr sz="900"/>
          </a:p>
        </p:txBody>
      </p:sp>
    </p:spTree>
    <p:extLst>
      <p:ext uri="{BB962C8B-B14F-4D97-AF65-F5344CB8AC3E}">
        <p14:creationId xmlns:p14="http://schemas.microsoft.com/office/powerpoint/2010/main" val="5796457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 HAS HARD STOPS</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Evidence, locked facts and Gate 0 prevent drift.</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a08709ff7dc24a2f"/>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Evidence proves done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Before, after and undo. A saved setting is not proof.</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d09dc420f1fd4dc8"/>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Locked facts stop loops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owned source. New evidence may reopen it; repetition may not.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8faf54bcbbd4689"/>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are flagged—never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Autonomy ends wherever human judgment or new authority begins.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THE HELPER RUNS FIRST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Do not troubleshoot the machinery yourself.</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ChatGPT or chatgpt.com.</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blank chat with the approved company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complete Setup Helper card.</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Paste the full message exactly. Do not shorten it.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Follow one visible action at a time.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checks, acts and verifies. You do only the login, account choice or permission it cannot.</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I am stuck setting up my Kairali AI workspace.</a:t>
            </a:r>
            <a:endParaRPr sz="1300"/>
          </a:p>
          <a:p xmlns:a="http://schemas.openxmlformats.org/drawingml/2006/main">
            <a:pPr marL="0" indent="0">
              <a:lnSpc>
                <a:spcPct val="135000"/>
              </a:lnSpc>
              <a:buNone/>
            </a:pPr>
            <a:r>
              <a:rPr sz="1300">
                <a:solidFill>
                  <a:srgbClr val="F0C05A"/>
                </a:solidFill>
                <a:latin typeface="Courier New"/>
                <a:ea typeface="Courier New"/>
                <a:cs typeface="Courier New"/>
              </a:rPr>
              <a:t>Be my Setup Helper.</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the helper checks what is already installed and names only the next visible action.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739770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ONE PUBLIC KIT</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public kit opens the right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Start with the protected v1.2 release.</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Setup Helper gets the all-in-one Kairali kit. No invitation or Git knowledge needed.</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Keep each worker separate.</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Named private operations: GitHub Desktop. Homework or Sheet/local work: a separate local worker from the kit.</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cb5a64d56c6420f"/>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AGENTS.md is visible and Codex reads the correct separate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Upgrades happen only at a safe checkpoint. Managed system files update; employee state stays.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1238837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COMPANY APPS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Connect approved Gmail and Google Drive Apps.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Settings → Apps.</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searches for the approved company App. If Apps is disabled, it records the workspace blocker.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Gmail.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You choose the company Google account and read the requested access before approving.</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Google Drive.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new Codex task after both Apps are connected.</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Confirm Gmail and Google Drive are connected. Name one approved company item from each.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Codex names one approved company item from each App.</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7397708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EYES AND HANDS</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Give access only where the work lives.</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System Settings. You approve one requested ChatGPT permission.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ASK FOR APPROVAL</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keeps the company folder and target app visible. You approve one named target.</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VISIBLE TARGET APP</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Below the prompt, keep permissions on Ask for approval.</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only the company folder, app or website you understand.</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8309a2aa0fe44f1f"/>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reads the project and asks before leaving the approved scope.</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treat tool availability as permission.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2773235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IN-ROOM VOICE</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Let the helper prepare Wispr Flow.</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Applications first. If missing, it opens the official download.</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Start first. If missing, it opens the official download.</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You use the company-approved sign-in choice shown by Ambuj.</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Microphone and Accessibility only when the selected feature requests them.</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88e20a9d28174325"/>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one short spoken sentence appears correctly in a safe text box.</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dictate passwords, one-time codes, private HR, banking or Gate 0 content.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277323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SPEAK TO THE SUIT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Speak. Review. Then send.</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Click inside the Codex message box.</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Make sure the cursor is blinking where the words should appear.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Wispr shortcut shown in its tutorial.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Say the mission slowly. Stop speaking when finished.</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transcript before sending.</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Fix names, numbers and task IDs. Then press Return.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You speak the mission. Codex executes only after you send and inside the approved task.</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7397708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IN-ROOM REMOTE</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Put ChatGPT on your phone. Pair Remote.</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Let the helper confirm the official mobile app.</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App Store or Google Play. Install ChatGPT by OpenAI and sign in to the same company workspace.</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Pair the computer.</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Settings → Connections → Control this Mac or PC. You approve and scan the QR code with the phone.</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d5498cce6f54c86"/>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Remote on the phone shows this computer and opens a safe task.</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Keep the computer awake and online, with ChatGPT/Codex running. Availability may depend on company settings.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1238837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OPTIONAL  ·  CHROME REMOTE DESKTOP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Reach your work computer from home.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1341e3c9f9e42f0"/>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1  ·  Set up on the work computer</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Ask Ambuj/IT. Open Chrome → remotedesktop.google.com/access → Download → install → create a private PIN.</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31f393584dfe4250"/>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2  ·  Leave it ready before going home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Keep the work computer powered on, awake and online. Lock the screen; never share the PIN.</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bb1a70c72a4d42e8"/>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3  ·  Connect from the home computer</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the same address in Chrome → sign in to the approved company Google account → choose the computer → enter the PIN.</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OPTIONAL · Full remote control. Use only with company approval. Disconnect when finished. A dimmed computer is offline or unavailable.</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902150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BEFORE THE SCAN</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Approve work areas. Exclude personal data.</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8113dc0f1ecb475e"/>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Include approved company sources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Exact local work folders; connected company Drive account.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9dbfd17feeaa454e"/>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Exclude sensitive areas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Personal folders, passwords, HR, banking and private records.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c9df720d56bb4c99"/>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 here</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material is flagged—not inventoried or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Read-only means: no rename, move, delete, edit, upload or sharing changes.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23</a:t>
            </a:r>
            <a:endParaRPr sz="900"/>
          </a:p>
        </p:txBody>
      </p:sp>
    </p:spTree>
    <p:extLst>
      <p:ext uri="{BB962C8B-B14F-4D97-AF65-F5344CB8AC3E}">
        <p14:creationId xmlns:p14="http://schemas.microsoft.com/office/powerpoint/2010/main" val="9021505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AFTER SCOPE IS APPROVED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index. Three local files. Durable cursor.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CSV</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future-searchable index</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SUMMARY</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coverage + query guide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CURSOR</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safe resume point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25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items per batch</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PROMPT  ·  TEST 25 OR FULL DRIVE INDEX</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Metadata only. Use stable item IDs, batch ≤25, checkpoint every batch, and resume full mode until each supported scope has no next page. Save CSV + summary + cursor. Change nothing in Drive.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24</a:t>
            </a:r>
            <a:endParaRPr sz="900"/>
          </a:p>
        </p:txBody>
      </p:sp>
    </p:spTree>
    <p:extLst>
      <p:ext uri="{BB962C8B-B14F-4D97-AF65-F5344CB8AC3E}">
        <p14:creationId xmlns:p14="http://schemas.microsoft.com/office/powerpoint/2010/main" val="4709470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E9924-20F8-4B2A-A659-A136545DEF12}"/>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FIRST SUCCESS  ·  IN THE ROOM</a:t>
            </a:r>
            <a:endParaRPr sz="1050"/>
          </a:p>
        </p:txBody>
      </p:sp>
      <p:sp>
        <p:nvSpPr>
          <p:cNvPr id="3" name="Text 1">
            <a:extLst xmlns:a="http://schemas.openxmlformats.org/drawingml/2006/main">
              <a:ext uri="{FF2B5EF4-FFF2-40B4-BE49-F238E27FC236}">
                <a16:creationId xmlns:a16="http://schemas.microsoft.com/office/drawing/2014/main" id="{1B95941D-909E-4C34-83A3-4E362DCE5EF5}"/>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scan starts. Then Codex recommends one real mission.</a:t>
            </a:r>
            <a:endParaRPr sz="3600"/>
          </a:p>
        </p:txBody>
      </p:sp>
      <p:sp>
        <p:nvSpPr>
          <p:cNvPr id="4" name="Shape 2">
            <a:extLst xmlns:a="http://schemas.openxmlformats.org/drawingml/2006/main">
              <a:ext uri="{FF2B5EF4-FFF2-40B4-BE49-F238E27FC236}">
                <a16:creationId xmlns:a16="http://schemas.microsoft.com/office/drawing/2014/main" id="{9734DB07-C81D-45C5-B4F0-84A63F389034}"/>
              </a:ext>
            </a:extLst>
          </p:cNvPr>
          <p:cNvSpPr>
            <a:spLocks xmlns:a="http://schemas.openxmlformats.org/drawingml/2006/main" noGrp="1"/>
          </p:cNvSpPr>
          <p:nvPr/>
        </p:nvSpPr>
        <p:spPr>
          <a:xfrm xmlns:a="http://schemas.openxmlformats.org/drawingml/2006/main">
            <a:off x="640080" y="1828800"/>
            <a:ext cx="3422904" cy="2286000"/>
          </a:xfrm>
          <a:prstGeom xmlns:a="http://schemas.openxmlformats.org/drawingml/2006/main" prst="roundRect">
            <a:avLst>
              <a:gd name="adj" fmla="val 36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58C3C5DE-293F-49F5-8B3C-E025A0A15DE2}"/>
              </a:ext>
            </a:extLst>
          </p:cNvPr>
          <p:cNvSpPr>
            <a:spLocks xmlns:a="http://schemas.openxmlformats.org/drawingml/2006/main" noGrp="1"/>
          </p:cNvSpPr>
          <p:nvPr/>
        </p:nvSpPr>
        <p:spPr>
          <a:xfrm xmlns:a="http://schemas.openxmlformats.org/drawingml/2006/main">
            <a:off x="960120" y="2103120"/>
            <a:ext cx="548640" cy="548640"/>
          </a:xfrm>
          <a:prstGeom xmlns:a="http://schemas.openxmlformats.org/drawingml/2006/main" prst="ellipse">
            <a:avLst/>
          </a:prstGeom>
          <a:solidFill xmlns:a="http://schemas.openxmlformats.org/drawingml/2006/main">
            <a:srgbClr val="2E6B37"/>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c32bf872ff2d475a"/>
          <a:stretch xmlns:a="http://schemas.openxmlformats.org/drawingml/2006/main">
            <a:fillRect l="0" t="0" r="0" b="0"/>
          </a:stretch>
        </p:blipFill>
        <p:spPr>
          <a:xfrm xmlns:a="http://schemas.openxmlformats.org/drawingml/2006/main">
            <a:off x="1102766" y="224576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57CCF50-E958-4C9A-8E98-D18341D4AA0B}"/>
              </a:ext>
            </a:extLst>
          </p:cNvPr>
          <p:cNvSpPr>
            <a:spLocks xmlns:a="http://schemas.openxmlformats.org/drawingml/2006/main" noGrp="1"/>
          </p:cNvSpPr>
          <p:nvPr/>
        </p:nvSpPr>
        <p:spPr>
          <a:xfrm xmlns:a="http://schemas.openxmlformats.org/drawingml/2006/main">
            <a:off x="960120"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Employee</a:t>
            </a:r>
            <a:endParaRPr sz="1500"/>
          </a:p>
        </p:txBody>
      </p:sp>
      <p:sp>
        <p:nvSpPr>
          <p:cNvPr id="8" name="Text 5">
            <a:extLst xmlns:a="http://schemas.openxmlformats.org/drawingml/2006/main">
              <a:ext uri="{FF2B5EF4-FFF2-40B4-BE49-F238E27FC236}">
                <a16:creationId xmlns:a16="http://schemas.microsoft.com/office/drawing/2014/main" id="{EA4191E4-4CEF-40E5-9F09-A779BE2AD2DE}"/>
              </a:ext>
            </a:extLst>
          </p:cNvPr>
          <p:cNvSpPr>
            <a:spLocks xmlns:a="http://schemas.openxmlformats.org/drawingml/2006/main" noGrp="1"/>
          </p:cNvSpPr>
          <p:nvPr/>
        </p:nvSpPr>
        <p:spPr>
          <a:xfrm xmlns:a="http://schemas.openxmlformats.org/drawingml/2006/main">
            <a:off x="960120"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Approves locations, reviews Codex’s recommendation and approves the ruled task.</a:t>
            </a:r>
            <a:endParaRPr sz="1250"/>
          </a:p>
        </p:txBody>
      </p:sp>
      <p:sp>
        <p:nvSpPr>
          <p:cNvPr id="9" name="Shape 6">
            <a:extLst xmlns:a="http://schemas.openxmlformats.org/drawingml/2006/main">
              <a:ext uri="{FF2B5EF4-FFF2-40B4-BE49-F238E27FC236}">
                <a16:creationId xmlns:a16="http://schemas.microsoft.com/office/drawing/2014/main" id="{047C6490-89BE-41CE-A1BD-99B7C465312B}"/>
              </a:ext>
            </a:extLst>
          </p:cNvPr>
          <p:cNvSpPr>
            <a:spLocks xmlns:a="http://schemas.openxmlformats.org/drawingml/2006/main" noGrp="1"/>
          </p:cNvSpPr>
          <p:nvPr/>
        </p:nvSpPr>
        <p:spPr>
          <a:xfrm xmlns:a="http://schemas.openxmlformats.org/drawingml/2006/main">
            <a:off x="4383024" y="1828800"/>
            <a:ext cx="3422904" cy="2286000"/>
          </a:xfrm>
          <a:prstGeom xmlns:a="http://schemas.openxmlformats.org/drawingml/2006/main" prst="roundRect">
            <a:avLst>
              <a:gd name="adj" fmla="val 36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13AE496D-03AB-4134-A4F6-4E658CE998A8}"/>
              </a:ext>
            </a:extLst>
          </p:cNvPr>
          <p:cNvSpPr>
            <a:spLocks xmlns:a="http://schemas.openxmlformats.org/drawingml/2006/main" noGrp="1"/>
          </p:cNvSpPr>
          <p:nvPr/>
        </p:nvSpPr>
        <p:spPr>
          <a:xfrm xmlns:a="http://schemas.openxmlformats.org/drawingml/2006/main">
            <a:off x="4703064" y="2103120"/>
            <a:ext cx="548640" cy="548640"/>
          </a:xfrm>
          <a:prstGeom xmlns:a="http://schemas.openxmlformats.org/drawingml/2006/main" prst="ellipse">
            <a:avLst/>
          </a:prstGeom>
          <a:solidFill xmlns:a="http://schemas.openxmlformats.org/drawingml/2006/main">
            <a:srgbClr val="2E6B37"/>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5394247a15d24665"/>
          <a:stretch xmlns:a="http://schemas.openxmlformats.org/drawingml/2006/main">
            <a:fillRect l="0" t="0" r="0" b="0"/>
          </a:stretch>
        </p:blipFill>
        <p:spPr>
          <a:xfrm xmlns:a="http://schemas.openxmlformats.org/drawingml/2006/main">
            <a:off x="4845710" y="2245766"/>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EC5D1103-46B5-44A7-9054-2766F802118E}"/>
              </a:ext>
            </a:extLst>
          </p:cNvPr>
          <p:cNvSpPr>
            <a:spLocks xmlns:a="http://schemas.openxmlformats.org/drawingml/2006/main" noGrp="1"/>
          </p:cNvSpPr>
          <p:nvPr/>
        </p:nvSpPr>
        <p:spPr>
          <a:xfrm xmlns:a="http://schemas.openxmlformats.org/drawingml/2006/main">
            <a:off x="4703064"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Codex</a:t>
            </a:r>
            <a:endParaRPr sz="1800"/>
          </a:p>
        </p:txBody>
      </p:sp>
      <p:sp>
        <p:nvSpPr>
          <p:cNvPr id="13" name="Text 9">
            <a:extLst xmlns:a="http://schemas.openxmlformats.org/drawingml/2006/main">
              <a:ext uri="{FF2B5EF4-FFF2-40B4-BE49-F238E27FC236}">
                <a16:creationId xmlns:a16="http://schemas.microsoft.com/office/drawing/2014/main" id="{59D108C2-5EDA-44B3-B1C0-B92EB6E750FA}"/>
              </a:ext>
            </a:extLst>
          </p:cNvPr>
          <p:cNvSpPr>
            <a:spLocks xmlns:a="http://schemas.openxmlformats.org/drawingml/2006/main" noGrp="1"/>
          </p:cNvSpPr>
          <p:nvPr/>
        </p:nvSpPr>
        <p:spPr>
          <a:xfrm xmlns:a="http://schemas.openxmlformats.org/drawingml/2006/main">
            <a:off x="4703064"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Reads the inventory and delegation. Sorts: autonomous, needs review, or blocked.</a:t>
            </a:r>
            <a:endParaRPr sz="1250"/>
          </a:p>
        </p:txBody>
      </p:sp>
      <p:sp>
        <p:nvSpPr>
          <p:cNvPr id="14" name="Shape 10">
            <a:extLst xmlns:a="http://schemas.openxmlformats.org/drawingml/2006/main">
              <a:ext uri="{FF2B5EF4-FFF2-40B4-BE49-F238E27FC236}">
                <a16:creationId xmlns:a16="http://schemas.microsoft.com/office/drawing/2014/main" id="{2BCB652C-8519-4716-AAD5-24699DB03CD4}"/>
              </a:ext>
            </a:extLst>
          </p:cNvPr>
          <p:cNvSpPr>
            <a:spLocks xmlns:a="http://schemas.openxmlformats.org/drawingml/2006/main" noGrp="1"/>
          </p:cNvSpPr>
          <p:nvPr/>
        </p:nvSpPr>
        <p:spPr>
          <a:xfrm xmlns:a="http://schemas.openxmlformats.org/drawingml/2006/main">
            <a:off x="8125968" y="1828800"/>
            <a:ext cx="3422904" cy="2286000"/>
          </a:xfrm>
          <a:prstGeom xmlns:a="http://schemas.openxmlformats.org/drawingml/2006/main" prst="roundRect">
            <a:avLst>
              <a:gd name="adj" fmla="val 3600"/>
            </a:avLst>
          </a:prstGeom>
          <a:solidFill xmlns:a="http://schemas.openxmlformats.org/drawingml/2006/main">
            <a:srgbClr val="DDE9ED"/>
          </a:solidFill>
        </p:spPr>
      </p:sp>
      <p:sp>
        <p:nvSpPr>
          <p:cNvPr id="15" name="Shape 11">
            <a:extLst xmlns:a="http://schemas.openxmlformats.org/drawingml/2006/main">
              <a:ext uri="{FF2B5EF4-FFF2-40B4-BE49-F238E27FC236}">
                <a16:creationId xmlns:a16="http://schemas.microsoft.com/office/drawing/2014/main" id="{286FE7CA-C516-4B6B-9623-E096D800374D}"/>
              </a:ext>
            </a:extLst>
          </p:cNvPr>
          <p:cNvSpPr>
            <a:spLocks xmlns:a="http://schemas.openxmlformats.org/drawingml/2006/main" noGrp="1"/>
          </p:cNvSpPr>
          <p:nvPr/>
        </p:nvSpPr>
        <p:spPr>
          <a:xfrm xmlns:a="http://schemas.openxmlformats.org/drawingml/2006/main">
            <a:off x="8446008" y="2103120"/>
            <a:ext cx="548640" cy="548640"/>
          </a:xfrm>
          <a:prstGeom xmlns:a="http://schemas.openxmlformats.org/drawingml/2006/main" prst="ellipse">
            <a:avLst/>
          </a:prstGeom>
          <a:solidFill xmlns:a="http://schemas.openxmlformats.org/drawingml/2006/main">
            <a:srgbClr val="2E6B37"/>
          </a:solidFill>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7822d921d7c84f0f"/>
          <a:stretch xmlns:a="http://schemas.openxmlformats.org/drawingml/2006/main">
            <a:fillRect l="0" t="0" r="0" b="0"/>
          </a:stretch>
        </p:blipFill>
        <p:spPr>
          <a:xfrm xmlns:a="http://schemas.openxmlformats.org/drawingml/2006/main">
            <a:off x="8588654" y="2245766"/>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8C05F78-F1F8-41EB-8A3D-7679155A6571}"/>
              </a:ext>
            </a:extLst>
          </p:cNvPr>
          <p:cNvSpPr>
            <a:spLocks xmlns:a="http://schemas.openxmlformats.org/drawingml/2006/main" noGrp="1"/>
          </p:cNvSpPr>
          <p:nvPr/>
        </p:nvSpPr>
        <p:spPr>
          <a:xfrm xmlns:a="http://schemas.openxmlformats.org/drawingml/2006/main">
            <a:off x="8446008"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Ambuj</a:t>
            </a:r>
            <a:endParaRPr sz="1800"/>
          </a:p>
        </p:txBody>
      </p:sp>
      <p:sp>
        <p:nvSpPr>
          <p:cNvPr id="18" name="Text 13">
            <a:extLst xmlns:a="http://schemas.openxmlformats.org/drawingml/2006/main">
              <a:ext uri="{FF2B5EF4-FFF2-40B4-BE49-F238E27FC236}">
                <a16:creationId xmlns:a16="http://schemas.microsoft.com/office/drawing/2014/main" id="{7965057D-B7F1-4F52-AED8-EA86D9015580}"/>
              </a:ext>
            </a:extLst>
          </p:cNvPr>
          <p:cNvSpPr>
            <a:spLocks xmlns:a="http://schemas.openxmlformats.org/drawingml/2006/main" noGrp="1"/>
          </p:cNvSpPr>
          <p:nvPr/>
        </p:nvSpPr>
        <p:spPr>
          <a:xfrm xmlns:a="http://schemas.openxmlformats.org/drawingml/2006/main">
            <a:off x="8446008"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Runs the group, troubleshoots access and keeps everyone on the same step.</a:t>
            </a:r>
            <a:endParaRPr sz="1250"/>
          </a:p>
        </p:txBody>
      </p:sp>
      <p:sp>
        <p:nvSpPr>
          <p:cNvPr id="19" name="Shape 14">
            <a:extLst xmlns:a="http://schemas.openxmlformats.org/drawingml/2006/main">
              <a:ext uri="{FF2B5EF4-FFF2-40B4-BE49-F238E27FC236}">
                <a16:creationId xmlns:a16="http://schemas.microsoft.com/office/drawing/2014/main" id="{91EF9622-EE2C-4B55-8076-F672D6B675F5}"/>
              </a:ext>
            </a:extLst>
          </p:cNvPr>
          <p:cNvSpPr>
            <a:spLocks xmlns:a="http://schemas.openxmlformats.org/drawingml/2006/main" noGrp="1"/>
          </p:cNvSpPr>
          <p:nvPr/>
        </p:nvSpPr>
        <p:spPr>
          <a:xfrm xmlns:a="http://schemas.openxmlformats.org/drawingml/2006/main">
            <a:off x="640080" y="4434840"/>
            <a:ext cx="10908792" cy="1051560"/>
          </a:xfrm>
          <a:prstGeom xmlns:a="http://schemas.openxmlformats.org/drawingml/2006/main" prst="roundRect">
            <a:avLst>
              <a:gd name="adj" fmla="val 7826"/>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DE2A0B8B-050F-422B-9EF5-029CA54D798E}"/>
              </a:ext>
            </a:extLst>
          </p:cNvPr>
          <p:cNvSpPr>
            <a:spLocks xmlns:a="http://schemas.openxmlformats.org/drawingml/2006/main" noGrp="1"/>
          </p:cNvSpPr>
          <p:nvPr/>
        </p:nvSpPr>
        <p:spPr>
          <a:xfrm xmlns:a="http://schemas.openxmlformats.org/drawingml/2006/main">
            <a:off x="1005840" y="4434840"/>
            <a:ext cx="1017727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defRPr sz="1350" b="1">
                <a:solidFill>
                  <a:srgbClr val="FFFFFF"/>
                </a:solidFill>
              </a:defRPr>
            </a:pPr>
            <a:r>
              <a:rPr sz="1350" b="1">
                <a:solidFill>
                  <a:srgbClr val="FFFFFF"/>
                </a:solidFill>
                <a:latin typeface="Arial"/>
                <a:ea typeface="Arial"/>
                <a:cs typeface="Arial"/>
              </a:rPr>
              <a:t>PROMPT: Read my delegation rows and My Work Inventory. Recommend one task ID and a first batch of no more than 25. Change nothing yet.</a:t>
            </a:r>
            <a:endParaRPr sz="1650"/>
          </a:p>
        </p:txBody>
      </p:sp>
      <p:sp>
        <p:nvSpPr>
          <p:cNvPr id="21" name="Text 16">
            <a:extLst xmlns:a="http://schemas.openxmlformats.org/drawingml/2006/main">
              <a:ext uri="{FF2B5EF4-FFF2-40B4-BE49-F238E27FC236}">
                <a16:creationId xmlns:a16="http://schemas.microsoft.com/office/drawing/2014/main" id="{2818DCDF-CC49-4A33-AC03-CE83210CB3F6}"/>
              </a:ext>
            </a:extLst>
          </p:cNvPr>
          <p:cNvSpPr>
            <a:spLocks xmlns:a="http://schemas.openxmlformats.org/drawingml/2006/main" noGrp="1"/>
          </p:cNvSpPr>
          <p:nvPr/>
        </p:nvSpPr>
        <p:spPr>
          <a:xfrm xmlns:a="http://schemas.openxmlformats.org/drawingml/2006/main">
            <a:off x="640080" y="5669280"/>
            <a:ext cx="10908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Setup Helper handles machinery. Abilash rules owner and Gate 0 decisions.</a:t>
            </a:r>
            <a:endParaRPr sz="1300"/>
          </a:p>
        </p:txBody>
      </p:sp>
      <p:sp>
        <p:nvSpPr>
          <p:cNvPr id="22" name="Text 17">
            <a:extLst xmlns:a="http://schemas.openxmlformats.org/drawingml/2006/main">
              <a:ext uri="{FF2B5EF4-FFF2-40B4-BE49-F238E27FC236}">
                <a16:creationId xmlns:a16="http://schemas.microsoft.com/office/drawing/2014/main" id="{C2FE4C50-5990-442A-99AF-2CD7D7EA7BD4}"/>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3" name="Text 18">
            <a:extLst xmlns:a="http://schemas.openxmlformats.org/drawingml/2006/main">
              <a:ext uri="{FF2B5EF4-FFF2-40B4-BE49-F238E27FC236}">
                <a16:creationId xmlns:a16="http://schemas.microsoft.com/office/drawing/2014/main" id="{92958A43-2A29-4C36-A96D-00186108F3A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25</a:t>
            </a:r>
            <a:endParaRPr sz="900"/>
          </a:p>
        </p:txBody>
      </p:sp>
    </p:spTree>
    <p:extLst>
      <p:ext uri="{BB962C8B-B14F-4D97-AF65-F5344CB8AC3E}">
        <p14:creationId xmlns:p14="http://schemas.microsoft.com/office/powerpoint/2010/main" val="14329817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COMPULSORY HOMEWORK</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Build two workers. Bring both reports.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EMAIL</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At most 25 messages → EMAIL-TRIAGE-REPORT.md. No send, delete, move or attachment open.</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DRIVE</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TEST 25 or full metadata index. Every batch ≤25 → CSV + cursor. No file content opened or changed.</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OPTIONAL</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LinkedIn draft from supplied facts only. DRAFT - NOT PUBLISHED. Never open LinkedIn.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EMAIL</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No email sent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DRIVE</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Metadata only</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LINKEDIN</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Optional draft</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26</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2026-08-12T17:59:18.7630000Z</dcterms:created>
  <dcterms:modified xsi:type="dcterms:W3CDTF">2026-08-12T17:59:18.7630000Z</dcterms:modified>
</coreProperties>
</file>