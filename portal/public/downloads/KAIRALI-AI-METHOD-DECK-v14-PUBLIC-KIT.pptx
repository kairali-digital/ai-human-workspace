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5be18b8a4348d6" /><Relationship Type="http://schemas.openxmlformats.org/officeDocument/2006/relationships/extended-properties" Target="/docProps/app.xml" Id="Rce4b791ca8fe44a1" /><Relationship Type="http://schemas.openxmlformats.org/officeDocument/2006/relationships/officeDocument" Target="/ppt/presentation.xml" Id="R36b74d66d3254419" /></Relationships>
</file>

<file path=ppt/presentation.xml><?xml version="1.0" encoding="utf-8"?>
<p:presentation xmlns:p="http://schemas.openxmlformats.org/presentationml/2006/main">
  <p:sldMasterIdLst>
    <p:sldMasterId xmlns:r="http://schemas.openxmlformats.org/officeDocument/2006/relationships" id="2147483648" r:id="R1f94a5704a16446e"/>
  </p:sldMasterIdLst>
  <p:notesMasterIdLst>
    <p:notesMasterId xmlns:r="http://schemas.openxmlformats.org/officeDocument/2006/relationships" r:id="Ra666e83770ab47b8"/>
  </p:notesMasterIdLst>
  <p:sldIdLst>
    <p:sldId xmlns:r="http://schemas.openxmlformats.org/officeDocument/2006/relationships" id="256" r:id="R141ed6e8754e4218"/>
    <p:sldId xmlns:r="http://schemas.openxmlformats.org/officeDocument/2006/relationships" id="257" r:id="Rcdf0be7420d7446f"/>
    <p:sldId xmlns:r="http://schemas.openxmlformats.org/officeDocument/2006/relationships" id="258" r:id="R92a292d76f774c4a"/>
    <p:sldId xmlns:r="http://schemas.openxmlformats.org/officeDocument/2006/relationships" id="259" r:id="R9f7b1aa709be4762"/>
    <p:sldId xmlns:r="http://schemas.openxmlformats.org/officeDocument/2006/relationships" id="260" r:id="R9f73a38efb174c8f"/>
    <p:sldId xmlns:r="http://schemas.openxmlformats.org/officeDocument/2006/relationships" id="261" r:id="R2d5a911145e44b62"/>
    <p:sldId xmlns:r="http://schemas.openxmlformats.org/officeDocument/2006/relationships" id="262" r:id="Rce3549e7d2824d77"/>
    <p:sldId xmlns:r="http://schemas.openxmlformats.org/officeDocument/2006/relationships" id="263" r:id="R792ea0a16ec34583"/>
    <p:sldId xmlns:r="http://schemas.openxmlformats.org/officeDocument/2006/relationships" id="264" r:id="Rc2952490c0fc4cac"/>
    <p:sldId xmlns:r="http://schemas.openxmlformats.org/officeDocument/2006/relationships" id="265" r:id="Re2ec1f6b6a2041b8"/>
    <p:sldId xmlns:r="http://schemas.openxmlformats.org/officeDocument/2006/relationships" id="266" r:id="Rc273f5f02cdd49fe"/>
    <p:sldId xmlns:r="http://schemas.openxmlformats.org/officeDocument/2006/relationships" id="267" r:id="R079d8b47d364421b"/>
    <p:sldId xmlns:r="http://schemas.openxmlformats.org/officeDocument/2006/relationships" id="268" r:id="R0d47a88fff1347cb"/>
    <p:sldId xmlns:r="http://schemas.openxmlformats.org/officeDocument/2006/relationships" id="269" r:id="R6731e428d63b49dd"/>
    <p:sldId xmlns:r="http://schemas.openxmlformats.org/officeDocument/2006/relationships" id="270" r:id="R298b95bf00254d11"/>
    <p:sldId xmlns:r="http://schemas.openxmlformats.org/officeDocument/2006/relationships" id="271" r:id="R9e66eb5842ba4a71"/>
    <p:sldId xmlns:r="http://schemas.openxmlformats.org/officeDocument/2006/relationships" id="272" r:id="R5f57e053b88d481c"/>
    <p:sldId xmlns:r="http://schemas.openxmlformats.org/officeDocument/2006/relationships" id="273" r:id="R225931fdee0f435d"/>
    <p:sldId xmlns:r="http://schemas.openxmlformats.org/officeDocument/2006/relationships" id="274" r:id="R6a0bf5103a9e4040"/>
    <p:sldId xmlns:r="http://schemas.openxmlformats.org/officeDocument/2006/relationships" id="275" r:id="Ra9bfb82f2eac402c"/>
    <p:sldId xmlns:r="http://schemas.openxmlformats.org/officeDocument/2006/relationships" id="276" r:id="R97e99bd99ba745b6"/>
    <p:sldId xmlns:r="http://schemas.openxmlformats.org/officeDocument/2006/relationships" id="277" r:id="R19f93e4adff94e9a"/>
    <p:sldId xmlns:r="http://schemas.openxmlformats.org/officeDocument/2006/relationships" id="278" r:id="Ra5aaac67f90e4dcf"/>
    <p:sldId xmlns:r="http://schemas.openxmlformats.org/officeDocument/2006/relationships" id="279" r:id="Rc55f3301ff834024"/>
    <p:sldId xmlns:r="http://schemas.openxmlformats.org/officeDocument/2006/relationships" id="280" r:id="Rf291150866cb477f"/>
    <p:sldId xmlns:r="http://schemas.openxmlformats.org/officeDocument/2006/relationships" id="281" r:id="Rba1ffc113cd74f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f74ccce668f4c6f" /><Relationship Type="http://schemas.openxmlformats.org/officeDocument/2006/relationships/slideMaster" Target="/ppt/slideMasters/slideMaster1.xml" Id="R1f94a5704a16446e" /><Relationship Type="http://schemas.openxmlformats.org/officeDocument/2006/relationships/notesMaster" Target="/ppt/notesMasters/notesMaster1.xml" Id="Ra666e83770ab47b8" /><Relationship Type="http://schemas.openxmlformats.org/officeDocument/2006/relationships/presProps" Target="/ppt/presProps.xml" Id="R672fcf1c592b4dbb" /><Relationship Type="http://schemas.openxmlformats.org/officeDocument/2006/relationships/viewProps" Target="/ppt/viewProps.xml" Id="Rdd4f091648ef42ce" /><Relationship Type="http://schemas.openxmlformats.org/officeDocument/2006/relationships/tableStyles" Target="/ppt/tableStyles.xml" Id="R99d7b052e31a4901" /><Relationship Type="http://schemas.openxmlformats.org/officeDocument/2006/relationships/slide" Target="/ppt/slides/slide1.xml" Id="R141ed6e8754e4218" /><Relationship Type="http://schemas.openxmlformats.org/officeDocument/2006/relationships/slide" Target="/ppt/slides/slide2.xml" Id="Rcdf0be7420d7446f" /><Relationship Type="http://schemas.openxmlformats.org/officeDocument/2006/relationships/slide" Target="/ppt/slides/slide3.xml" Id="R92a292d76f774c4a" /><Relationship Type="http://schemas.openxmlformats.org/officeDocument/2006/relationships/slide" Target="/ppt/slides/slide4.xml" Id="R9f7b1aa709be4762" /><Relationship Type="http://schemas.openxmlformats.org/officeDocument/2006/relationships/slide" Target="/ppt/slides/slide5.xml" Id="R9f73a38efb174c8f" /><Relationship Type="http://schemas.openxmlformats.org/officeDocument/2006/relationships/slide" Target="/ppt/slides/slide6.xml" Id="R2d5a911145e44b62" /><Relationship Type="http://schemas.openxmlformats.org/officeDocument/2006/relationships/slide" Target="/ppt/slides/slide7.xml" Id="Rce3549e7d2824d77" /><Relationship Type="http://schemas.openxmlformats.org/officeDocument/2006/relationships/slide" Target="/ppt/slides/slide8.xml" Id="R792ea0a16ec34583" /><Relationship Type="http://schemas.openxmlformats.org/officeDocument/2006/relationships/slide" Target="/ppt/slides/slide9.xml" Id="Rc2952490c0fc4cac" /><Relationship Type="http://schemas.openxmlformats.org/officeDocument/2006/relationships/slide" Target="/ppt/slides/slide10.xml" Id="Re2ec1f6b6a2041b8" /><Relationship Type="http://schemas.openxmlformats.org/officeDocument/2006/relationships/slide" Target="/ppt/slides/slide11.xml" Id="Rc273f5f02cdd49fe" /><Relationship Type="http://schemas.openxmlformats.org/officeDocument/2006/relationships/slide" Target="/ppt/slides/slide12.xml" Id="R079d8b47d364421b" /><Relationship Type="http://schemas.openxmlformats.org/officeDocument/2006/relationships/slide" Target="/ppt/slides/slide13.xml" Id="R0d47a88fff1347cb" /><Relationship Type="http://schemas.openxmlformats.org/officeDocument/2006/relationships/slide" Target="/ppt/slides/slide14.xml" Id="R6731e428d63b49dd" /><Relationship Type="http://schemas.openxmlformats.org/officeDocument/2006/relationships/slide" Target="/ppt/slides/slide15.xml" Id="R298b95bf00254d11" /><Relationship Type="http://schemas.openxmlformats.org/officeDocument/2006/relationships/slide" Target="/ppt/slides/slide16.xml" Id="R9e66eb5842ba4a71" /><Relationship Type="http://schemas.openxmlformats.org/officeDocument/2006/relationships/slide" Target="/ppt/slides/slide17.xml" Id="R5f57e053b88d481c" /><Relationship Type="http://schemas.openxmlformats.org/officeDocument/2006/relationships/slide" Target="/ppt/slides/slide18.xml" Id="R225931fdee0f435d" /><Relationship Type="http://schemas.openxmlformats.org/officeDocument/2006/relationships/slide" Target="/ppt/slides/slide19.xml" Id="R6a0bf5103a9e4040" /><Relationship Type="http://schemas.openxmlformats.org/officeDocument/2006/relationships/slide" Target="/ppt/slides/slide20.xml" Id="Ra9bfb82f2eac402c" /><Relationship Type="http://schemas.openxmlformats.org/officeDocument/2006/relationships/slide" Target="/ppt/slides/slide21.xml" Id="R97e99bd99ba745b6" /><Relationship Type="http://schemas.openxmlformats.org/officeDocument/2006/relationships/slide" Target="/ppt/slides/slide22.xml" Id="R19f93e4adff94e9a" /><Relationship Type="http://schemas.openxmlformats.org/officeDocument/2006/relationships/slide" Target="/ppt/slides/slide23.xml" Id="Ra5aaac67f90e4dcf" /><Relationship Type="http://schemas.openxmlformats.org/officeDocument/2006/relationships/slide" Target="/ppt/slides/slide24.xml" Id="Rc55f3301ff834024" /><Relationship Type="http://schemas.openxmlformats.org/officeDocument/2006/relationships/slide" Target="/ppt/slides/slide25.xml" Id="Rf291150866cb477f" /><Relationship Type="http://schemas.openxmlformats.org/officeDocument/2006/relationships/slide" Target="/ppt/slides/slide26.xml" Id="Rba1ffc113cd74f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e67743d4934d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d8112ec739448f" /><Relationship Type="http://schemas.openxmlformats.org/officeDocument/2006/relationships/notesMaster" Target="/ppt/notesMasters/notesMaster1.xml" Id="Rd94995533b2f46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db0150aefc4dfb" /><Relationship Type="http://schemas.openxmlformats.org/officeDocument/2006/relationships/notesMaster" Target="/ppt/notesMasters/notesMaster1.xml" Id="Rab39bb99712842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48e2f463a64899" /><Relationship Type="http://schemas.openxmlformats.org/officeDocument/2006/relationships/notesMaster" Target="/ppt/notesMasters/notesMaster1.xml" Id="R18512f5cf05f47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cce538d5124718" /><Relationship Type="http://schemas.openxmlformats.org/officeDocument/2006/relationships/notesMaster" Target="/ppt/notesMasters/notesMaster1.xml" Id="R930d6c19aab64a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ed7248e19a4b5f" /><Relationship Type="http://schemas.openxmlformats.org/officeDocument/2006/relationships/notesMaster" Target="/ppt/notesMasters/notesMaster1.xml" Id="R2146f703eecd46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0fbca3c6264ede" /><Relationship Type="http://schemas.openxmlformats.org/officeDocument/2006/relationships/notesMaster" Target="/ppt/notesMasters/notesMaster1.xml" Id="Rf8f4a815d81c41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941b01057f4845" /><Relationship Type="http://schemas.openxmlformats.org/officeDocument/2006/relationships/notesMaster" Target="/ppt/notesMasters/notesMaster1.xml" Id="Rd6cca15680124f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7f4e7d0a9e4605" /><Relationship Type="http://schemas.openxmlformats.org/officeDocument/2006/relationships/notesMaster" Target="/ppt/notesMasters/notesMaster1.xml" Id="Rfb901331e0fe42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5dbb664fa74ef5" /><Relationship Type="http://schemas.openxmlformats.org/officeDocument/2006/relationships/notesMaster" Target="/ppt/notesMasters/notesMaster1.xml" Id="R3e5eea5f11d940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fbb2af927946e4" /><Relationship Type="http://schemas.openxmlformats.org/officeDocument/2006/relationships/notesMaster" Target="/ppt/notesMasters/notesMaster1.xml" Id="Ra7d3b205c79a4c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2fd179ca3f4678" /><Relationship Type="http://schemas.openxmlformats.org/officeDocument/2006/relationships/notesMaster" Target="/ppt/notesMasters/notesMaster1.xml" Id="R28b0b761d74c4e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d34fbf6ec341cd" /><Relationship Type="http://schemas.openxmlformats.org/officeDocument/2006/relationships/notesMaster" Target="/ppt/notesMasters/notesMaster1.xml" Id="Rc58fecfba2294b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d8f200eb1a454c" /><Relationship Type="http://schemas.openxmlformats.org/officeDocument/2006/relationships/notesMaster" Target="/ppt/notesMasters/notesMaster1.xml" Id="R4999a883a06f46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17d288744a407a" /><Relationship Type="http://schemas.openxmlformats.org/officeDocument/2006/relationships/notesMaster" Target="/ppt/notesMasters/notesMaster1.xml" Id="Rf2e735da72de45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d8ea6aa6024b6b" /><Relationship Type="http://schemas.openxmlformats.org/officeDocument/2006/relationships/notesMaster" Target="/ppt/notesMasters/notesMaster1.xml" Id="Rfc7979bd6aed4e7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dd2bb265a764666" /><Relationship Type="http://schemas.openxmlformats.org/officeDocument/2006/relationships/notesMaster" Target="/ppt/notesMasters/notesMaster1.xml" Id="R94c6834f0273408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ecb6ae31890424e" /><Relationship Type="http://schemas.openxmlformats.org/officeDocument/2006/relationships/notesMaster" Target="/ppt/notesMasters/notesMaster1.xml" Id="Rf51c8c75b3b44ca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2595db8b3f4a1a" /><Relationship Type="http://schemas.openxmlformats.org/officeDocument/2006/relationships/notesMaster" Target="/ppt/notesMasters/notesMaster1.xml" Id="R76353472a0ba4c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e19861579074acd" /><Relationship Type="http://schemas.openxmlformats.org/officeDocument/2006/relationships/notesMaster" Target="/ppt/notesMasters/notesMaster1.xml" Id="R0b46c2a3ddb049e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fd2bb22b2b040dc" /><Relationship Type="http://schemas.openxmlformats.org/officeDocument/2006/relationships/notesMaster" Target="/ppt/notesMasters/notesMaster1.xml" Id="R8c3c17e75bfc47d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cdf028d568d4d64" /><Relationship Type="http://schemas.openxmlformats.org/officeDocument/2006/relationships/notesMaster" Target="/ppt/notesMasters/notesMaster1.xml" Id="R5ea66eb6b135412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d4db2b1ffc94f80" /><Relationship Type="http://schemas.openxmlformats.org/officeDocument/2006/relationships/notesMaster" Target="/ppt/notesMasters/notesMaster1.xml" Id="Rff2c8ce9ff2a47c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0b177d491bd45a5" /><Relationship Type="http://schemas.openxmlformats.org/officeDocument/2006/relationships/notesMaster" Target="/ppt/notesMasters/notesMaster1.xml" Id="Rc2ead615fe9d478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41e54a1d1004aa1" /><Relationship Type="http://schemas.openxmlformats.org/officeDocument/2006/relationships/notesMaster" Target="/ppt/notesMasters/notesMaster1.xml" Id="Rcaf319862f5b4d4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cf2e3936b734848" /><Relationship Type="http://schemas.openxmlformats.org/officeDocument/2006/relationships/notesMaster" Target="/ppt/notesMasters/notesMaster1.xml" Id="R7bdd1014c8de4ff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06e28da261c477b" /><Relationship Type="http://schemas.openxmlformats.org/officeDocument/2006/relationships/notesMaster" Target="/ppt/notesMasters/notesMaster1.xml" Id="R752dfc07eee543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open the link, switch to full screen, confirm sound and play the complete video before slide 2.</a:t>
            </a:r>
            <a:endParaRPr/>
          </a:p>
          <a:p xmlns:a="http://schemas.openxmlformats.org/drawingml/2006/main">
            <a:r>
              <a:t/>
            </a:r>
            <a:endParaRPr/>
          </a:p>
          <a:p xmlns:a="http://schemas.openxmlformats.org/drawingml/2006/main">
            <a:r>
              <a:t>[Sources]</a:t>
            </a:r>
            <a:endParaRPr/>
          </a:p>
          <a:p xmlns:a="http://schemas.openxmlformats.org/drawingml/2006/main">
            <a:r>
              <a:t>- https://youtu.be/eRrc1pUY5oU?si=Xb6O9dCRIE983HrU</a:t>
            </a:r>
            <a:endParaRPr/>
          </a:p>
          <a:p xmlns:a="http://schemas.openxmlformats.org/drawingml/2006/main">
            <a:r>
              <a:t>- User-supplied opening-video ruling</a:t>
            </a:r>
            <a:endParaRPr/>
          </a:p>
          <a:p xmlns:a="http://schemas.openxmlformats.org/drawingml/2006/main">
            <a:r>
              <a:t>- YouTube oEmbed title and author metadata</a:t>
            </a:r>
            <a:endParaRPr/>
          </a:p>
          <a:p xmlns:a="http://schemas.openxmlformats.org/drawingml/2006/main">
            <a:r>
              <a:t>- YouTube lengthSeconds metadata: 2528 seconds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tease, not a performance promise.</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employee message: “You are learning to wear Codex like an Iron Man suit. You provide the mission and judgment. Codex performs approved work through a controlled autonomous loop.” Iron Man is a work metaphor; no Marvel artwork or copied movie visual is used.</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audience promise is a verified setup and one real first mission, not an abstract lesson.</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people, not departments. Do not sum the snapshot into a new aggregate.</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locked sprint facts. The employee rollout does not claim that the whole team has reproduced the result.</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109,771 ÷ 1,967 = 55.8, displayed as approximately 56×. The two token counts, measurement method and five-file result are locked facts.</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current-state problem the inventory and durable state solve.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D-120, D-121, D-124 and D-130 are four references to one Delhi campus. The lesson is the fact lock.</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 toward 800× statement is Abilash's ambition. It is not a verified result, forecast or guarantee.</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transition: “Do you want a system like this? Let me show you how.”</a:t>
            </a:r>
            <a:endParaRPr/>
          </a:p>
          <a:p xmlns:a="http://schemas.openxmlformats.org/drawingml/2006/main">
            <a:r>
              <a:t/>
            </a:r>
            <a:endParaRPr/>
          </a:p>
          <a:p xmlns:a="http://schemas.openxmlformats.org/drawingml/2006/main">
            <a:r>
              <a:t>Before people enter, open the tested YouTube watch link, let any advertisement finish, confirm it seeks to 00:40, pause there and leave the tab ready. At this slide, switch to that prepared tab. If it is not ready, click the green callout and recover at 00:40. Pause manually at 01:40 before returning immediately to the deck; do not let its audio continue under slide 12.</a:t>
            </a:r>
            <a:endParaRPr/>
          </a:p>
          <a:p xmlns:a="http://schemas.openxmlformats.org/drawingml/2006/main">
            <a:r>
              <a:t/>
            </a:r>
            <a:endParaRPr/>
          </a:p>
          <a:p xmlns:a="http://schemas.openxmlformats.org/drawingml/2006/main">
            <a:r>
              <a:t>Recovery: open https://www.youtube.com/watch?v=yc8qbcIMZVg, seek to 00:40, and pause manually at 01:40.</a:t>
            </a:r>
            <a:endParaRPr/>
          </a:p>
          <a:p xmlns:a="http://schemas.openxmlformats.org/drawingml/2006/main">
            <a:r>
              <a:t/>
            </a:r>
            <a:endParaRPr/>
          </a:p>
          <a:p xmlns:a="http://schemas.openxmlformats.org/drawingml/2006/main">
            <a:r>
              <a:t>Return line: “That is the feeling we are building: not magic and not unlimited access—one mission, a controlled loop and proof.” Advance to the controlled autonomous loop.</a:t>
            </a:r>
            <a:endParaRPr/>
          </a:p>
          <a:p xmlns:a="http://schemas.openxmlformats.org/drawingml/2006/main">
            <a:r>
              <a:t/>
            </a:r>
            <a:endParaRPr/>
          </a:p>
          <a:p xmlns:a="http://schemas.openxmlformats.org/drawingml/2006/main">
            <a:r>
              <a:t>[Sources]</a:t>
            </a:r>
            <a:endParaRPr/>
          </a:p>
          <a:p xmlns:a="http://schemas.openxmlformats.org/drawingml/2006/main">
            <a:r>
              <a:t>- https://www.youtube.com/watch?v=yc8qbcIMZVg</a:t>
            </a:r>
            <a:endParaRPr/>
          </a:p>
          <a:p xmlns:a="http://schemas.openxmlformats.org/drawingml/2006/main">
            <a:r>
              <a:t>- https://developers.google.com/youtube/player_parameters</a:t>
            </a:r>
            <a:endParaRPr/>
          </a:p>
          <a:p xmlns:a="http://schemas.openxmlformats.org/drawingml/2006/main">
            <a:r>
              <a:t>- Owner-supplied segment and presenter framing,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Autonomy means continuing approved work inside declared boundaries. It never means silent permission expansion.</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 system appears after the outcome and operating model. Each worker owns separate state; shared facts have one owner.</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safety system, not the sales story.</a:t>
            </a:r>
            <a:endParaRPr/>
          </a:p>
          <a:p xmlns:a="http://schemas.openxmlformats.org/drawingml/2006/main">
            <a:r>
              <a:t/>
            </a:r>
            <a:endParaRPr/>
          </a:p>
          <a:p xmlns:a="http://schemas.openxmlformats.org/drawingml/2006/main">
            <a:r>
              <a:t>[Sources]</a:t>
            </a:r>
            <a:endParaRPr/>
          </a:p>
          <a:p xmlns:a="http://schemas.openxmlformats.org/drawingml/2006/main">
            <a:r>
              <a:t>- Kairali repository: gates/CODE-VETTING.md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Distribute the employee setup guide now and open it to the complete Setup Helper prompt. The employee never has to diagnose setup. The full prompt is reproduced here for the facilitator:</a:t>
            </a:r>
            <a:endParaRPr/>
          </a:p>
          <a:p xmlns:a="http://schemas.openxmlformats.org/drawingml/2006/main">
            <a:r>
              <a:t/>
            </a:r>
            <a:endParaRPr/>
          </a:p>
          <a:p xmlns:a="http://schemas.openxmlformats.org/drawingml/2006/main">
            <a:r>
              <a:t>I am stuck setting up my Kairali AI workspace. I do not know Terminal, Python, Git, GitHub, folders, projects or Codex.</a:t>
            </a:r>
            <a:endParaRPr/>
          </a:p>
          <a:p xmlns:a="http://schemas.openxmlformats.org/drawingml/2006/main">
            <a:r>
              <a:t/>
            </a:r>
            <a:endParaRPr/>
          </a:p>
          <a:p xmlns:a="http://schemas.openxmlformats.org/drawingml/2006/main">
            <a:r>
              <a:t>Be my Setup Helper.</a:t>
            </a:r>
            <a:endParaRPr/>
          </a:p>
          <a:p xmlns:a="http://schemas.openxmlformats.org/drawingml/2006/main">
            <a:r>
              <a:t/>
            </a:r>
            <a:endParaRPr/>
          </a:p>
          <a:p xmlns:a="http://schemas.openxmlformats.org/drawingml/2006/main">
            <a:r>
              <a:t>1. Work out whether I am on Mac or Windows and check what is already installed before changing anything.</a:t>
            </a:r>
            <a:endParaRPr/>
          </a:p>
          <a:p xmlns:a="http://schemas.openxmlformats.org/drawingml/2006/main">
            <a:r>
              <a:t>2. Do every approved safe setup step you can yourself.</a:t>
            </a:r>
            <a:endParaRPr/>
          </a:p>
          <a:p xmlns:a="http://schemas.openxmlformats.org/drawingml/2006/main">
            <a:r>
              <a:t>3. If a click, login, account choice or permission must be done by me, show me only that one action in plain Mac or Windows words. Wait for me, then verify it worked.</a:t>
            </a:r>
            <a:endParaRPr/>
          </a:p>
          <a:p xmlns:a="http://schemas.openxmlformats.org/drawingml/2006/main">
            <a:r>
              <a:t>4. Never ask me to use Terminal, PowerShell, Command Prompt, Python, a CLI or type a command.</a:t>
            </a:r>
            <a:endParaRPr/>
          </a:p>
          <a:p xmlns:a="http://schemas.openxmlformats.org/drawingml/2006/main">
            <a:r>
              <a:t>5. Never ask for, read or repeat my password or one-time code.</a:t>
            </a:r>
            <a:endParaRPr/>
          </a:p>
          <a:p xmlns:a="http://schemas.openxmlformats.org/drawingml/2006/main">
            <a:r>
              <a:t>6. Use only my approved company account and company folder.</a:t>
            </a:r>
            <a:endParaRPr/>
          </a:p>
          <a:p xmlns:a="http://schemas.openxmlformats.org/drawingml/2006/main">
            <a:r>
              <a:t>7. Keep permissions on Ask for approval. Never choose Full access.</a:t>
            </a:r>
            <a:endParaRPr/>
          </a:p>
          <a:p xmlns:a="http://schemas.openxmlformats.org/drawingml/2006/main">
            <a:r>
              <a:t>8. For the shared Kairali workspace, use GitHub Desktop buttons. For a standalone local project, do not install GitHub unless it is actually needed.</a:t>
            </a:r>
            <a:endParaRPr/>
          </a:p>
          <a:p xmlns:a="http://schemas.openxmlformats.org/drawingml/2006/main">
            <a:r>
              <a:t>9. Continue until ChatGPT is installed, Codex is open, the correct project is connected, AGENTS.md is visible, approved apps are connected when required, and the startup test passes.</a:t>
            </a:r>
            <a:endParaRPr/>
          </a:p>
          <a:p xmlns:a="http://schemas.openxmlformats.org/drawingml/2006/main">
            <a:r>
              <a:t>10. If you cannot continue safely, write one OPEN_REGISTER.md row with the failed step, exact error, what you checked, and the one human access or decision needed. Then tell me whether Ambuj or Abilash must help.</a:t>
            </a:r>
            <a:endParaRPr/>
          </a:p>
          <a:p xmlns:a="http://schemas.openxmlformats.org/drawingml/2006/main">
            <a:r>
              <a:t/>
            </a:r>
            <a:endParaRPr/>
          </a:p>
          <a:p xmlns:a="http://schemas.openxmlformats.org/drawingml/2006/main">
            <a:r>
              <a:t>Do not teach me how the machinery works unless I ask. Start now by checking what I already have.</a:t>
            </a:r>
            <a:endParaRPr/>
          </a:p>
          <a:p xmlns:a="http://schemas.openxmlformats.org/drawingml/2006/main">
            <a:r>
              <a:t/>
            </a:r>
            <a:endParaRPr/>
          </a:p>
          <a:p xmlns:a="http://schemas.openxmlformats.org/drawingml/2006/main">
            <a:r>
              <a:t>[Sources]</a:t>
            </a:r>
            <a:endParaRPr/>
          </a:p>
          <a:p xmlns:a="http://schemas.openxmlformats.org/drawingml/2006/main">
            <a:r>
              <a:t>- https://learn.chatgpt.com/docs/app</a:t>
            </a:r>
            <a:endParaRPr/>
          </a:p>
          <a:p xmlns:a="http://schemas.openxmlformats.org/drawingml/2006/main">
            <a:r>
              <a:t>- Kairali repository: people/SETUP-HELPER.md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protected public repository is the clean setup and update source for every company. Beginners do not need a collaborator invitation, Git or Terminal: the Setup Helper can obtain the v1.4.0 company kit and open the correct project. Named live operations stay in a separately assigned private repository; homework and standalone work use separate local workers. Never put live company work or secrets in the public distribution repository.</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https://github.com/kairali-digital/ai-human-workspace/releases/tag/v1.4.0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renamed connectors to Apps. Never test with a personal account. Company policy may control App availability.</a:t>
            </a:r>
            <a:endParaRPr/>
          </a:p>
          <a:p xmlns:a="http://schemas.openxmlformats.org/drawingml/2006/main">
            <a:r>
              <a:t/>
            </a:r>
            <a:endParaRPr/>
          </a:p>
          <a:p xmlns:a="http://schemas.openxmlformats.org/drawingml/2006/main">
            <a:r>
              <a:t>[Sources]</a:t>
            </a:r>
            <a:endParaRPr/>
          </a:p>
          <a:p xmlns:a="http://schemas.openxmlformats.org/drawingml/2006/main">
            <a:r>
              <a:t>- https://help.openai.com/en/articles/11487775-connectors-in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Computer access never creates unlimited authority. The Setup Helper opens the correct settings page; the employee performs the unavoidable permission action and the helper verifies it.</a:t>
            </a:r>
            <a:endParaRPr/>
          </a:p>
          <a:p xmlns:a="http://schemas.openxmlformats.org/drawingml/2006/main">
            <a:r>
              <a:t/>
            </a:r>
            <a:endParaRPr/>
          </a:p>
          <a:p xmlns:a="http://schemas.openxmlformats.org/drawingml/2006/main">
            <a:r>
              <a:t>[Sources]</a:t>
            </a:r>
            <a:endParaRPr/>
          </a:p>
          <a:p xmlns:a="http://schemas.openxmlformats.org/drawingml/2006/main">
            <a:r>
              <a:t>- https://learn.chatgpt.com/docs/computer-use</a:t>
            </a:r>
            <a:endParaRPr/>
          </a:p>
          <a:p xmlns:a="http://schemas.openxmlformats.org/drawingml/2006/main">
            <a:r>
              <a:t>- https://learn.chatgpt.com/docs/chrome-extension</a:t>
            </a:r>
            <a:endParaRPr/>
          </a:p>
          <a:p xmlns:a="http://schemas.openxmlformats.org/drawingml/2006/main">
            <a:r>
              <a:t>- Kairali repository: people/SETUP-HELPER.md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Wispr is the voice input layer; the employee still reviews the transcript before sending. The Setup Helper checks, installs where safe and verifies the result.</a:t>
            </a:r>
            <a:endParaRPr/>
          </a:p>
          <a:p xmlns:a="http://schemas.openxmlformats.org/drawingml/2006/main">
            <a:r>
              <a:t/>
            </a:r>
            <a:endParaRPr/>
          </a:p>
          <a:p xmlns:a="http://schemas.openxmlformats.org/drawingml/2006/main">
            <a:r>
              <a:t>[Sources]</a:t>
            </a:r>
            <a:endParaRPr/>
          </a:p>
          <a:p xmlns:a="http://schemas.openxmlformats.org/drawingml/2006/main">
            <a:r>
              <a:t>- https://docs.wisprflow.ai/articles/3152211871-setup-guide</a:t>
            </a:r>
            <a:endParaRPr/>
          </a:p>
          <a:p xmlns:a="http://schemas.openxmlformats.org/drawingml/2006/main">
            <a:r>
              <a:t>- https://docs.wisprflow.ai/articles/1036674442-supported-devices-and-system-requirements</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voice experience should feel immediate, while approvals and project rules remain unchanged. NOT SET is a correct startup answer when no task has been ruled; it is not permission to invent work.</a:t>
            </a:r>
            <a:endParaRPr/>
          </a:p>
          <a:p xmlns:a="http://schemas.openxmlformats.org/drawingml/2006/main">
            <a:r>
              <a:t/>
            </a:r>
            <a:endParaRPr/>
          </a:p>
          <a:p xmlns:a="http://schemas.openxmlformats.org/drawingml/2006/main">
            <a:r>
              <a:t>[Sources]</a:t>
            </a:r>
            <a:endParaRPr/>
          </a:p>
          <a:p xmlns:a="http://schemas.openxmlformats.org/drawingml/2006/main">
            <a:r>
              <a:t>- https://docs.wisprflow.ai/articles/3152211871-setup-guide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Remote lets the phone start, guide, approve and review tasks running on a connected Mac or Windows computer. The helper shows the human pairing action and verifies it.</a:t>
            </a:r>
            <a:endParaRPr/>
          </a:p>
          <a:p xmlns:a="http://schemas.openxmlformats.org/drawingml/2006/main">
            <a:r>
              <a:t/>
            </a:r>
            <a:endParaRPr/>
          </a:p>
          <a:p xmlns:a="http://schemas.openxmlformats.org/drawingml/2006/main">
            <a:r>
              <a:t>[Sources]</a:t>
            </a:r>
            <a:endParaRPr/>
          </a:p>
          <a:p xmlns:a="http://schemas.openxmlformats.org/drawingml/2006/main">
            <a:r>
              <a:t>- https://learn.chatgpt.com/docs/remote</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pathway for an employee who needs to reach an approved work computer from home. Setup can require the computer password and security-setting changes. Managed company accounts or networks may restrict remote access, so Ambuj/IT approval comes first. The employee keeps the PIN private and disconnects after use.</a:t>
            </a:r>
            <a:endParaRPr/>
          </a:p>
          <a:p xmlns:a="http://schemas.openxmlformats.org/drawingml/2006/main">
            <a:r>
              <a:t/>
            </a:r>
            <a:endParaRPr/>
          </a:p>
          <a:p xmlns:a="http://schemas.openxmlformats.org/drawingml/2006/main">
            <a:r>
              <a:t>[Sources]</a:t>
            </a:r>
            <a:endParaRPr/>
          </a:p>
          <a:p xmlns:a="http://schemas.openxmlformats.org/drawingml/2006/main">
            <a:r>
              <a:t>- https://support.google.com/chrome/answer/1649523?hl=en</a:t>
            </a:r>
            <a:endParaRPr/>
          </a:p>
          <a:p xmlns:a="http://schemas.openxmlformats.org/drawingml/2006/main">
            <a:r>
              <a:t>- https://remotedesktop.google.com/access</a:t>
            </a:r>
            <a:endParaRPr/>
          </a:p>
          <a:p xmlns:a="http://schemas.openxmlformats.org/drawingml/2006/main">
            <a:r>
              <a:t>- https://support.google.com/chrome/a/answer/2799701?hl=en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scan the whole computer. Local inventory stays limited to exact approved company folders. The connected company Drive may use TEST 25 or FULL DRIVE INDEX; full mode is still metadata-only, works in batches of at most 25 and checkpoints before continuing.</a:t>
            </a:r>
            <a:endParaRPr/>
          </a:p>
          <a:p xmlns:a="http://schemas.openxmlformats.org/drawingml/2006/main">
            <a:r>
              <a:t/>
            </a:r>
            <a:endParaRPr/>
          </a:p>
          <a:p xmlns:a="http://schemas.openxmlformats.org/drawingml/2006/main">
            <a:r>
              <a:t>[Sources]</a:t>
            </a:r>
            <a:endParaRPr/>
          </a:p>
          <a:p xmlns:a="http://schemas.openxmlformats.org/drawingml/2006/main">
            <a:r>
              <a:t>- Kairali repository: gates/CODE-VETTING.md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CSV is the future-searchable metadata index. The Markdown summary records coverage and gives plain-language search examples. The cursor makes the task resumable without duplicates. TEST 25 stops after one batch and says the full Drive was not indexed. FULL DRIVE INDEX continues after every durable checkpoint until all connector-supported scopes have no next page; unsupported scopes remain explicit coverage gaps. No file content is opened and Drive is not changed.</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https://github.com/kairali-digital/ai-human-workspace/releases/tag/v1.4.0</a:t>
            </a:r>
            <a:endParaRPr/>
          </a:p>
          <a:p xmlns:a="http://schemas.openxmlformats.org/drawingml/2006/main">
            <a:r>
              <a:t>- Kairali repository: packages/kairali/homework/AI-HUMAN-STARTERS/02-Drive-Inventory-AI-Human/START-HERE.md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Ambuj facilitates this in the room. The first success is the employee receiving one useful, bounded task recommendation after the approved inventory begins.</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people/SETUP-HELPER.md</a:t>
            </a:r>
            <a:endParaRPr/>
          </a:p>
          <a:p xmlns:a="http://schemas.openxmlformats.org/drawingml/2006/main">
            <a:r>
              <a:t>- Kairali repository: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Daily Email Triage and Drive Index are required; the Weekly LinkedIn Message Assistant is optional after both pass. Email asks for the employee's chosen local time and confirms the time zone, proves a read-only 25-message pilot, then activates one ruled daily importance brief. Drive offers TEST 25 or FULL DRIVE INDEX with the same hard batch cap and durable checkpoint.</a:t>
            </a:r>
            <a:endParaRPr/>
          </a:p>
          <a:p xmlns:a="http://schemas.openxmlformats.org/drawingml/2006/main">
            <a:r>
              <a:t/>
            </a:r>
            <a:endParaRPr/>
          </a:p>
          <a:p xmlns:a="http://schemas.openxmlformats.org/drawingml/2006/main">
            <a:r>
              <a:t>For optional LinkedIn, the employee chooses a Saturday local time and confirms the time zone. The employee may supply up to 25 earlier incoming-message and sent-reply pairs per checkpoint so Codex learns only evidenced tone and routes. Each Saturday, the employee manually opens LinkedIn, checks unread conversations in Focused and Other, and pastes no more than 25 into the local batch file. Codex separates routine READY TO SEND drafts from a stable numbered NEEDS YOUR DECISION queue. Every item remains a draft: the employee reviews it, manually presses Send in LinkedIn, and then confirms the outcome. The scheduled job opens only the local project. The AI never signs in to, opens, reads, controls, scrapes, clicks or sends through LinkedIn.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https://github.com/kairali-digital/ai-human-workspace/releases/tag/v1.4.0</a:t>
            </a:r>
            <a:endParaRPr/>
          </a:p>
          <a:p xmlns:a="http://schemas.openxmlformats.org/drawingml/2006/main">
            <a:r>
              <a:t>- Kairali repository: packages/kairali/homework/START-HERE.md</a:t>
            </a:r>
            <a:endParaRPr/>
          </a:p>
          <a:p xmlns:a="http://schemas.openxmlformats.org/drawingml/2006/main">
            <a:r>
              <a:t>- Kairali repository: packages/kairali/homework/AI-HUMAN-STARTERS/03-LinkedIn-Message-Assistant-OPTIONAL/START-HERE.md</a:t>
            </a:r>
            <a:endParaRPr/>
          </a:p>
          <a:p xmlns:a="http://schemas.openxmlformats.org/drawingml/2006/main">
            <a:r>
              <a:t>- https://www.linkedin.com/legal/user-agreement</a:t>
            </a:r>
            <a:endParaRPr/>
          </a:p>
          <a:p xmlns:a="http://schemas.openxmlformats.org/drawingml/2006/main">
            <a:r>
              <a:t>- https://www.linkedin.com/help/linkedin/answer/a1341387</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b1af322d5f403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57f93343dc4b50" /><Relationship Type="http://schemas.openxmlformats.org/officeDocument/2006/relationships/slideLayout" Target="/ppt/slideLayouts/slideLayout1.xml" Id="Rc445a2c6d7d745e4"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45a2c6d7d745e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5c6fec25804537" /><Relationship Type="http://schemas.openxmlformats.org/officeDocument/2006/relationships/hyperlink" Target="https://youtu.be/eRrc1pUY5oU?si=Xb6O9dCRIE983HrU" TargetMode="External" Id="R119b31ca99184a7d" /><Relationship Type="http://schemas.openxmlformats.org/officeDocument/2006/relationships/notesSlide" Target="/ppt/notesSlides/notesSlide1.xml" Id="R79fd0c3711914c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f174ef28354356" /><Relationship Type="http://schemas.openxmlformats.org/officeDocument/2006/relationships/notesSlide" Target="/ppt/notesSlides/notesSlide2.xml" Id="Reffaa1c2b53244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ed9af25c7d4ddc" /><Relationship Type="http://schemas.openxmlformats.org/officeDocument/2006/relationships/image" Target="/ppt/media/image.png" Id="R70d5b376bad4440f" /><Relationship Type="http://schemas.openxmlformats.org/officeDocument/2006/relationships/notesSlide" Target="/ppt/notesSlides/notesSlide3.xml" Id="Rb4d95b8e84eb41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4b2e88f7fc47c5" /><Relationship Type="http://schemas.openxmlformats.org/officeDocument/2006/relationships/notesSlide" Target="/ppt/notesSlides/notesSlide4.xml" Id="R78da7390939143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34cf67a19db4258" /><Relationship Type="http://schemas.openxmlformats.org/officeDocument/2006/relationships/notesSlide" Target="/ppt/notesSlides/notesSlide5.xml" Id="R87b133d8528842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bcb100ca9b448b" /><Relationship Type="http://schemas.openxmlformats.org/officeDocument/2006/relationships/notesSlide" Target="/ppt/notesSlides/notesSlide6.xml" Id="R94d84345975d4d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a7ef196fd2b4bcc" /><Relationship Type="http://schemas.openxmlformats.org/officeDocument/2006/relationships/notesSlide" Target="/ppt/notesSlides/notesSlide7.xml" Id="R481716c82dc545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4284999d8b4c87" /><Relationship Type="http://schemas.openxmlformats.org/officeDocument/2006/relationships/image" Target="/ppt/media/image2.png" Id="R905a86d693484dac" /><Relationship Type="http://schemas.openxmlformats.org/officeDocument/2006/relationships/image" Target="/ppt/media/image3.png" Id="R16257f3b37064078" /><Relationship Type="http://schemas.openxmlformats.org/officeDocument/2006/relationships/image" Target="/ppt/media/image4.png" Id="Rb5cf19250faa4b71" /><Relationship Type="http://schemas.openxmlformats.org/officeDocument/2006/relationships/notesSlide" Target="/ppt/notesSlides/notesSlide8.xml" Id="Rbc37f6c3431a4f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51c5e28648d426d" /><Relationship Type="http://schemas.openxmlformats.org/officeDocument/2006/relationships/image" Target="/ppt/media/image2.png" Id="R26f52415fbdb45a8" /><Relationship Type="http://schemas.openxmlformats.org/officeDocument/2006/relationships/image" Target="/ppt/media/image3.png" Id="R57c90a3445f04983" /><Relationship Type="http://schemas.openxmlformats.org/officeDocument/2006/relationships/image" Target="/ppt/media/image4.png" Id="R3448f7663daa4377" /><Relationship Type="http://schemas.openxmlformats.org/officeDocument/2006/relationships/notesSlide" Target="/ppt/notesSlides/notesSlide9.xml" Id="Ra157c16ff04d49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0b0f54112b4fbb" /><Relationship Type="http://schemas.openxmlformats.org/officeDocument/2006/relationships/image" Target="/ppt/media/image.png" Id="R07888610dee2444c" /><Relationship Type="http://schemas.openxmlformats.org/officeDocument/2006/relationships/notesSlide" Target="/ppt/notesSlides/notesSlide10.xml" Id="R2b7348e1487f42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6661685c654719" /><Relationship Type="http://schemas.openxmlformats.org/officeDocument/2006/relationships/image" Target="/ppt/media/image.png" Id="R68c0033d4e4b4fe9" /><Relationship Type="http://schemas.openxmlformats.org/officeDocument/2006/relationships/hyperlink" Target="https://www.youtube.com/watch?v=yc8qbcIMZVg&amp;t=40s" TargetMode="External" Id="Re579c1e93c684b94" /><Relationship Type="http://schemas.openxmlformats.org/officeDocument/2006/relationships/notesSlide" Target="/ppt/notesSlides/notesSlide11.xml" Id="R1f83c1c7d86a42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7ebe07fffd64d18" /><Relationship Type="http://schemas.openxmlformats.org/officeDocument/2006/relationships/image" Target="/ppt/media/image.png" Id="Rc4b4fc8cd9b941fa" /><Relationship Type="http://schemas.openxmlformats.org/officeDocument/2006/relationships/notesSlide" Target="/ppt/notesSlides/notesSlide12.xml" Id="Rf26ec03f868b43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69e2cc4a5254242" /><Relationship Type="http://schemas.openxmlformats.org/officeDocument/2006/relationships/notesSlide" Target="/ppt/notesSlides/notesSlide13.xml" Id="R6c2cc2ede8804f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d233eaa9d4147b3" /><Relationship Type="http://schemas.openxmlformats.org/officeDocument/2006/relationships/image" Target="/ppt/media/image2.png" Id="R5633312a5dd74f81" /><Relationship Type="http://schemas.openxmlformats.org/officeDocument/2006/relationships/image" Target="/ppt/media/image3.png" Id="Rb7f0a90ecc0745a6" /><Relationship Type="http://schemas.openxmlformats.org/officeDocument/2006/relationships/image" Target="/ppt/media/image4.png" Id="R447f8c47a33b41b4" /><Relationship Type="http://schemas.openxmlformats.org/officeDocument/2006/relationships/notesSlide" Target="/ppt/notesSlides/notesSlide14.xml" Id="R4ae371817fb249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04fe6234851450d" /><Relationship Type="http://schemas.openxmlformats.org/officeDocument/2006/relationships/notesSlide" Target="/ppt/notesSlides/notesSlide15.xml" Id="Rfb9a19972d77414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a7e00c9212b4615" /><Relationship Type="http://schemas.openxmlformats.org/officeDocument/2006/relationships/image" Target="/ppt/media/image5.png" Id="Recc31191646d43dd" /><Relationship Type="http://schemas.openxmlformats.org/officeDocument/2006/relationships/notesSlide" Target="/ppt/notesSlides/notesSlide16.xml" Id="R7892736399ba49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12ab989ef754073" /><Relationship Type="http://schemas.openxmlformats.org/officeDocument/2006/relationships/notesSlide" Target="/ppt/notesSlides/notesSlide17.xml" Id="Ra670ba5f752f4e8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2efe903ec7842ec" /><Relationship Type="http://schemas.openxmlformats.org/officeDocument/2006/relationships/image" Target="/ppt/media/image6.png" Id="R4f968d235fb34d64" /><Relationship Type="http://schemas.openxmlformats.org/officeDocument/2006/relationships/notesSlide" Target="/ppt/notesSlides/notesSlide18.xml" Id="R00ea1c562024429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5d0ff2860584302" /><Relationship Type="http://schemas.openxmlformats.org/officeDocument/2006/relationships/image" Target="/ppt/media/image6.png" Id="R9830cdd9d74b44ec" /><Relationship Type="http://schemas.openxmlformats.org/officeDocument/2006/relationships/notesSlide" Target="/ppt/notesSlides/notesSlide19.xml" Id="Rcf16ecd2fd974b6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689f035c8354b20" /><Relationship Type="http://schemas.openxmlformats.org/officeDocument/2006/relationships/notesSlide" Target="/ppt/notesSlides/notesSlide20.xml" Id="R6c4766b4b79c404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e11a76b62744a7c" /><Relationship Type="http://schemas.openxmlformats.org/officeDocument/2006/relationships/image" Target="/ppt/media/image5.png" Id="Ra549beff619c4a5d" /><Relationship Type="http://schemas.openxmlformats.org/officeDocument/2006/relationships/notesSlide" Target="/ppt/notesSlides/notesSlide21.xml" Id="Rb89236508b95439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20f815f866246ec" /><Relationship Type="http://schemas.openxmlformats.org/officeDocument/2006/relationships/image" Target="/ppt/media/image2.png" Id="R19efd9563b05499b" /><Relationship Type="http://schemas.openxmlformats.org/officeDocument/2006/relationships/image" Target="/ppt/media/image3.png" Id="R25a886994d684df7" /><Relationship Type="http://schemas.openxmlformats.org/officeDocument/2006/relationships/image" Target="/ppt/media/image4.png" Id="R91058750ba134ab2" /><Relationship Type="http://schemas.openxmlformats.org/officeDocument/2006/relationships/notesSlide" Target="/ppt/notesSlides/notesSlide22.xml" Id="Ra75f1f8d0bd44fb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b3338d657d24c32" /><Relationship Type="http://schemas.openxmlformats.org/officeDocument/2006/relationships/image" Target="/ppt/media/image2.png" Id="Ra82ad01554b24e67" /><Relationship Type="http://schemas.openxmlformats.org/officeDocument/2006/relationships/image" Target="/ppt/media/image3.png" Id="R71b5a4617e0842a3" /><Relationship Type="http://schemas.openxmlformats.org/officeDocument/2006/relationships/image" Target="/ppt/media/image4.png" Id="R85066d51237047c3" /><Relationship Type="http://schemas.openxmlformats.org/officeDocument/2006/relationships/notesSlide" Target="/ppt/notesSlides/notesSlide23.xml" Id="Rd11f62e4cbe94fc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b87cfeb02a74ef1" /><Relationship Type="http://schemas.openxmlformats.org/officeDocument/2006/relationships/notesSlide" Target="/ppt/notesSlides/notesSlide24.xml" Id="Ra8f8a234bf3f434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a3536a2e6da4004" /><Relationship Type="http://schemas.openxmlformats.org/officeDocument/2006/relationships/image" Target="/ppt/media/image7.png" Id="R8593ce8e6d174527" /><Relationship Type="http://schemas.openxmlformats.org/officeDocument/2006/relationships/image" Target="/ppt/media/image8.png" Id="R9e31b9533df746f8" /><Relationship Type="http://schemas.openxmlformats.org/officeDocument/2006/relationships/image" Target="/ppt/media/image9.png" Id="R98be651cb94345b7" /><Relationship Type="http://schemas.openxmlformats.org/officeDocument/2006/relationships/notesSlide" Target="/ppt/notesSlides/notesSlide25.xml" Id="Rca8dc90b1a3348f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e875130b2de446a" /><Relationship Type="http://schemas.openxmlformats.org/officeDocument/2006/relationships/notesSlide" Target="/ppt/notesSlides/notesSlide26.xml" Id="R1744cffc6b514336" /></Relationships>
</file>

<file path=ppt/slides/slide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PLAY THIS FIRST  ·  DO NOT SKIP</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Garry Tan: Own Your Intelligence</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Y Combinator</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42 minutes 08 seconds. Play the full video before the presentation begins.</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b="1" u="sng">
                <a:solidFill>
                  <a:srgbClr val="F2CF66"/>
                </a:solidFill>
                <a:hlinkClick xmlns:r="http://schemas.openxmlformats.org/officeDocument/2006/relationships" r:id="R119b31ca99184a7d"/>
              </a:rPr>
              <a:t>CLICK HERE TO OPEN THE VIDEO</a:t>
            </a:r>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a:t>
            </a:r>
            <a:endParaRPr sz="900"/>
          </a:p>
        </p:txBody>
      </p:sp>
    </p:spTree>
    <p:extLst>
      <p:ext uri="{BB962C8B-B14F-4D97-AF65-F5344CB8AC3E}">
        <p14:creationId xmlns:p14="http://schemas.microsoft.com/office/powerpoint/2010/main" val="415748415"/>
      </p:ext>
    </p:extLst>
  </p:cSld>
</p:sld>
</file>

<file path=ppt/slides/slide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KAIRALI AI METHOD  ·  13 AUGUST 2026</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Want your work to keep moving?</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Give Codex one real mission.</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Today: connect the project, map the work, speak the task and approve the first batch.</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0C05A"/>
                </a:solidFill>
                <a:latin typeface="Arial"/>
                <a:ea typeface="Arial"/>
                <a:cs typeface="Arial"/>
              </a:rPr>
              <a:t>You keep judgment and approval.</a:t>
            </a:r>
            <a:endParaRPr sz="1600"/>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2</a:t>
            </a:r>
            <a:endParaRPr sz="900"/>
          </a:p>
        </p:txBody>
      </p:sp>
    </p:spTree>
    <p:extLst>
      <p:ext uri="{BB962C8B-B14F-4D97-AF65-F5344CB8AC3E}">
        <p14:creationId xmlns:p14="http://schemas.microsoft.com/office/powerpoint/2010/main" val="415748415"/>
      </p:ext>
    </p:extLst>
  </p:cSld>
</p:sld>
</file>

<file path=ppt/slides/slide3.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IRON MAN OPERATING MODEL</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You are the mission owner.</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Codex is the suit.</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62500"/>
            <a:ext cx="685800" cy="533400"/>
          </a:xfrm>
          <a:prstGeom xmlns:a="http://schemas.openxmlformats.org/drawingml/2006/main" prst="ellipse">
            <a:avLst/>
          </a:prstGeom>
          <a:solidFill xmlns:a="http://schemas.openxmlformats.org/drawingml/2006/main">
            <a:srgbClr val="2C5F2D"/>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70d5b376bad4440f"/>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6250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You provide the mission, judgment, creativity, responsibility and approvals.</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1E3F2C"/>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Codex researches, plans, creates, checks, documents and continues approved work.</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3</a:t>
            </a:r>
            <a:endParaRPr sz="900"/>
          </a:p>
        </p:txBody>
      </p:sp>
    </p:spTree>
    <p:extLst>
      <p:ext uri="{BB962C8B-B14F-4D97-AF65-F5344CB8AC3E}">
        <p14:creationId xmlns:p14="http://schemas.microsoft.com/office/powerpoint/2010/main" val="8646290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8C7F63-FF63-4337-8C22-EB44003ABC41}"/>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WHAT IS IN IT FOR YOU</a:t>
            </a:r>
            <a:endParaRPr sz="1050"/>
          </a:p>
        </p:txBody>
      </p:sp>
      <p:sp>
        <p:nvSpPr>
          <p:cNvPr id="3" name="Text 1">
            <a:extLst xmlns:a="http://schemas.openxmlformats.org/drawingml/2006/main">
              <a:ext uri="{FF2B5EF4-FFF2-40B4-BE49-F238E27FC236}">
                <a16:creationId xmlns:a16="http://schemas.microsoft.com/office/drawing/2014/main" id="{6D365F64-646A-40E9-B328-C4656DB3169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You leave with your suit working.</a:t>
            </a:r>
            <a:endParaRPr sz="3600"/>
          </a:p>
        </p:txBody>
      </p:sp>
      <p:sp>
        <p:nvSpPr>
          <p:cNvPr id="4" name="Shape 2">
            <a:extLst xmlns:a="http://schemas.openxmlformats.org/drawingml/2006/main">
              <a:ext uri="{FF2B5EF4-FFF2-40B4-BE49-F238E27FC236}">
                <a16:creationId xmlns:a16="http://schemas.microsoft.com/office/drawing/2014/main" id="{38F4A3E0-97E6-4079-8072-83E5527856BB}"/>
              </a:ext>
            </a:extLst>
          </p:cNvPr>
          <p:cNvSpPr>
            <a:spLocks xmlns:a="http://schemas.openxmlformats.org/drawingml/2006/main" noGrp="1"/>
          </p:cNvSpPr>
          <p:nvPr/>
        </p:nvSpPr>
        <p:spPr>
          <a:xfrm xmlns:a="http://schemas.openxmlformats.org/drawingml/2006/main">
            <a:off x="640080" y="1828800"/>
            <a:ext cx="3422904" cy="2651760"/>
          </a:xfrm>
          <a:prstGeom xmlns:a="http://schemas.openxmlformats.org/drawingml/2006/main" prst="roundRect">
            <a:avLst>
              <a:gd name="adj" fmla="val 3103"/>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15B9DB5-2192-4E15-AB64-08557D75B384}"/>
              </a:ext>
            </a:extLst>
          </p:cNvPr>
          <p:cNvSpPr>
            <a:spLocks xmlns:a="http://schemas.openxmlformats.org/drawingml/2006/main" noGrp="1"/>
          </p:cNvSpPr>
          <p:nvPr/>
        </p:nvSpPr>
        <p:spPr>
          <a:xfrm xmlns:a="http://schemas.openxmlformats.org/drawingml/2006/main">
            <a:off x="960120" y="2103120"/>
            <a:ext cx="502920" cy="502920"/>
          </a:xfrm>
          <a:prstGeom xmlns:a="http://schemas.openxmlformats.org/drawingml/2006/main" prst="ellipse">
            <a:avLst/>
          </a:prstGeom>
          <a:solidFill xmlns:a="http://schemas.openxmlformats.org/drawingml/2006/main">
            <a:srgbClr val="2E6B37"/>
          </a:solidFill>
        </p:spPr>
      </p:sp>
      <p:sp>
        <p:nvSpPr>
          <p:cNvPr id="6" name="Text 4">
            <a:extLst xmlns:a="http://schemas.openxmlformats.org/drawingml/2006/main">
              <a:ext uri="{FF2B5EF4-FFF2-40B4-BE49-F238E27FC236}">
                <a16:creationId xmlns:a16="http://schemas.microsoft.com/office/drawing/2014/main" id="{EF803F3B-BC49-4C2A-8E5C-D62307998DA7}"/>
              </a:ext>
            </a:extLst>
          </p:cNvPr>
          <p:cNvSpPr>
            <a:spLocks xmlns:a="http://schemas.openxmlformats.org/drawingml/2006/main" noGrp="1"/>
          </p:cNvSpPr>
          <p:nvPr/>
        </p:nvSpPr>
        <p:spPr>
          <a:xfrm xmlns:a="http://schemas.openxmlformats.org/drawingml/2006/main">
            <a:off x="960120"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7" name="Text 5">
            <a:extLst xmlns:a="http://schemas.openxmlformats.org/drawingml/2006/main">
              <a:ext uri="{FF2B5EF4-FFF2-40B4-BE49-F238E27FC236}">
                <a16:creationId xmlns:a16="http://schemas.microsoft.com/office/drawing/2014/main" id="{E1B26B39-DD6B-420F-A333-895BC6C09BB1}"/>
              </a:ext>
            </a:extLst>
          </p:cNvPr>
          <p:cNvSpPr>
            <a:spLocks xmlns:a="http://schemas.openxmlformats.org/drawingml/2006/main" noGrp="1"/>
          </p:cNvSpPr>
          <p:nvPr/>
        </p:nvSpPr>
        <p:spPr>
          <a:xfrm xmlns:a="http://schemas.openxmlformats.org/drawingml/2006/main">
            <a:off x="960120"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Your project opens</a:t>
            </a:r>
            <a:endParaRPr sz="1800"/>
          </a:p>
        </p:txBody>
      </p:sp>
      <p:sp>
        <p:nvSpPr>
          <p:cNvPr id="8" name="Text 6">
            <a:extLst xmlns:a="http://schemas.openxmlformats.org/drawingml/2006/main">
              <a:ext uri="{FF2B5EF4-FFF2-40B4-BE49-F238E27FC236}">
                <a16:creationId xmlns:a16="http://schemas.microsoft.com/office/drawing/2014/main" id="{4C726426-AFE3-4A9A-84B5-9081A69F49DA}"/>
              </a:ext>
            </a:extLst>
          </p:cNvPr>
          <p:cNvSpPr>
            <a:spLocks xmlns:a="http://schemas.openxmlformats.org/drawingml/2006/main" noGrp="1"/>
          </p:cNvSpPr>
          <p:nvPr/>
        </p:nvSpPr>
        <p:spPr>
          <a:xfrm xmlns:a="http://schemas.openxmlformats.org/drawingml/2006/main">
            <a:off x="960120"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Company account, correct project and startup test passed.</a:t>
            </a:r>
            <a:endParaRPr sz="1300"/>
          </a:p>
        </p:txBody>
      </p:sp>
      <p:sp>
        <p:nvSpPr>
          <p:cNvPr id="9" name="Shape 7">
            <a:extLst xmlns:a="http://schemas.openxmlformats.org/drawingml/2006/main">
              <a:ext uri="{FF2B5EF4-FFF2-40B4-BE49-F238E27FC236}">
                <a16:creationId xmlns:a16="http://schemas.microsoft.com/office/drawing/2014/main" id="{EEDBBEF7-4519-498F-AB6F-E1F2FD47008F}"/>
              </a:ext>
            </a:extLst>
          </p:cNvPr>
          <p:cNvSpPr>
            <a:spLocks xmlns:a="http://schemas.openxmlformats.org/drawingml/2006/main" noGrp="1"/>
          </p:cNvSpPr>
          <p:nvPr/>
        </p:nvSpPr>
        <p:spPr>
          <a:xfrm xmlns:a="http://schemas.openxmlformats.org/drawingml/2006/main">
            <a:off x="4383024" y="1828800"/>
            <a:ext cx="3422904" cy="2651760"/>
          </a:xfrm>
          <a:prstGeom xmlns:a="http://schemas.openxmlformats.org/drawingml/2006/main" prst="roundRect">
            <a:avLst>
              <a:gd name="adj" fmla="val 3103"/>
            </a:avLst>
          </a:prstGeom>
          <a:solidFill xmlns:a="http://schemas.openxmlformats.org/drawingml/2006/main">
            <a:srgbClr val="FBF2DC"/>
          </a:solidFill>
        </p:spPr>
      </p:sp>
      <p:sp>
        <p:nvSpPr>
          <p:cNvPr id="10" name="Shape 8">
            <a:extLst xmlns:a="http://schemas.openxmlformats.org/drawingml/2006/main">
              <a:ext uri="{FF2B5EF4-FFF2-40B4-BE49-F238E27FC236}">
                <a16:creationId xmlns:a16="http://schemas.microsoft.com/office/drawing/2014/main" id="{0CE38E33-A0CC-4558-B79B-EA0F537BCD7C}"/>
              </a:ext>
            </a:extLst>
          </p:cNvPr>
          <p:cNvSpPr>
            <a:spLocks xmlns:a="http://schemas.openxmlformats.org/drawingml/2006/main" noGrp="1"/>
          </p:cNvSpPr>
          <p:nvPr/>
        </p:nvSpPr>
        <p:spPr>
          <a:xfrm xmlns:a="http://schemas.openxmlformats.org/drawingml/2006/main">
            <a:off x="4703064" y="2103120"/>
            <a:ext cx="502920" cy="502920"/>
          </a:xfrm>
          <a:prstGeom xmlns:a="http://schemas.openxmlformats.org/drawingml/2006/main" prst="ellipse">
            <a:avLst/>
          </a:prstGeom>
          <a:solidFill xmlns:a="http://schemas.openxmlformats.org/drawingml/2006/main">
            <a:srgbClr val="2E6B37"/>
          </a:solidFill>
        </p:spPr>
      </p:sp>
      <p:sp>
        <p:nvSpPr>
          <p:cNvPr id="11" name="Text 9">
            <a:extLst xmlns:a="http://schemas.openxmlformats.org/drawingml/2006/main">
              <a:ext uri="{FF2B5EF4-FFF2-40B4-BE49-F238E27FC236}">
                <a16:creationId xmlns:a16="http://schemas.microsoft.com/office/drawing/2014/main" id="{8C46E115-A11E-45AA-967A-1B3F10A73B06}"/>
              </a:ext>
            </a:extLst>
          </p:cNvPr>
          <p:cNvSpPr>
            <a:spLocks xmlns:a="http://schemas.openxmlformats.org/drawingml/2006/main" noGrp="1"/>
          </p:cNvSpPr>
          <p:nvPr/>
        </p:nvSpPr>
        <p:spPr>
          <a:xfrm xmlns:a="http://schemas.openxmlformats.org/drawingml/2006/main">
            <a:off x="4703064"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2" name="Text 10">
            <a:extLst xmlns:a="http://schemas.openxmlformats.org/drawingml/2006/main">
              <a:ext uri="{FF2B5EF4-FFF2-40B4-BE49-F238E27FC236}">
                <a16:creationId xmlns:a16="http://schemas.microsoft.com/office/drawing/2014/main" id="{3CF25313-5946-48A0-BC27-C98E4F2E6470}"/>
              </a:ext>
            </a:extLst>
          </p:cNvPr>
          <p:cNvSpPr>
            <a:spLocks xmlns:a="http://schemas.openxmlformats.org/drawingml/2006/main" noGrp="1"/>
          </p:cNvSpPr>
          <p:nvPr/>
        </p:nvSpPr>
        <p:spPr>
          <a:xfrm xmlns:a="http://schemas.openxmlformats.org/drawingml/2006/main">
            <a:off x="4703064"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Your work becomes visible</a:t>
            </a:r>
            <a:endParaRPr sz="1800"/>
          </a:p>
        </p:txBody>
      </p:sp>
      <p:sp>
        <p:nvSpPr>
          <p:cNvPr id="13" name="Text 11">
            <a:extLst xmlns:a="http://schemas.openxmlformats.org/drawingml/2006/main">
              <a:ext uri="{FF2B5EF4-FFF2-40B4-BE49-F238E27FC236}">
                <a16:creationId xmlns:a16="http://schemas.microsoft.com/office/drawing/2014/main" id="{022CB0FC-9181-47B3-B550-605A1C6CAE4F}"/>
              </a:ext>
            </a:extLst>
          </p:cNvPr>
          <p:cNvSpPr>
            <a:spLocks xmlns:a="http://schemas.openxmlformats.org/drawingml/2006/main" noGrp="1"/>
          </p:cNvSpPr>
          <p:nvPr/>
        </p:nvSpPr>
        <p:spPr>
          <a:xfrm xmlns:a="http://schemas.openxmlformats.org/drawingml/2006/main">
            <a:off x="4703064"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Approved folders, Drive files and delegation rows become one inventory.</a:t>
            </a:r>
            <a:endParaRPr sz="1300"/>
          </a:p>
        </p:txBody>
      </p:sp>
      <p:sp>
        <p:nvSpPr>
          <p:cNvPr id="14" name="Shape 12">
            <a:extLst xmlns:a="http://schemas.openxmlformats.org/drawingml/2006/main">
              <a:ext uri="{FF2B5EF4-FFF2-40B4-BE49-F238E27FC236}">
                <a16:creationId xmlns:a16="http://schemas.microsoft.com/office/drawing/2014/main" id="{4C4C19E8-9ECE-4A75-81DF-F70E4FCE4978}"/>
              </a:ext>
            </a:extLst>
          </p:cNvPr>
          <p:cNvSpPr>
            <a:spLocks xmlns:a="http://schemas.openxmlformats.org/drawingml/2006/main" noGrp="1"/>
          </p:cNvSpPr>
          <p:nvPr/>
        </p:nvSpPr>
        <p:spPr>
          <a:xfrm xmlns:a="http://schemas.openxmlformats.org/drawingml/2006/main">
            <a:off x="8125968" y="1828800"/>
            <a:ext cx="3422904" cy="2651760"/>
          </a:xfrm>
          <a:prstGeom xmlns:a="http://schemas.openxmlformats.org/drawingml/2006/main" prst="roundRect">
            <a:avLst>
              <a:gd name="adj" fmla="val 3103"/>
            </a:avLst>
          </a:prstGeom>
          <a:solidFill xmlns:a="http://schemas.openxmlformats.org/drawingml/2006/main">
            <a:srgbClr val="F2D9C9"/>
          </a:solidFill>
        </p:spPr>
      </p:sp>
      <p:sp>
        <p:nvSpPr>
          <p:cNvPr id="15" name="Shape 13">
            <a:extLst xmlns:a="http://schemas.openxmlformats.org/drawingml/2006/main">
              <a:ext uri="{FF2B5EF4-FFF2-40B4-BE49-F238E27FC236}">
                <a16:creationId xmlns:a16="http://schemas.microsoft.com/office/drawing/2014/main" id="{5C85A513-996B-43D1-A420-006776988409}"/>
              </a:ext>
            </a:extLst>
          </p:cNvPr>
          <p:cNvSpPr>
            <a:spLocks xmlns:a="http://schemas.openxmlformats.org/drawingml/2006/main" noGrp="1"/>
          </p:cNvSpPr>
          <p:nvPr/>
        </p:nvSpPr>
        <p:spPr>
          <a:xfrm xmlns:a="http://schemas.openxmlformats.org/drawingml/2006/main">
            <a:off x="8446008" y="2103120"/>
            <a:ext cx="502920" cy="502920"/>
          </a:xfrm>
          <a:prstGeom xmlns:a="http://schemas.openxmlformats.org/drawingml/2006/main" prst="ellipse">
            <a:avLst/>
          </a:prstGeom>
          <a:solidFill xmlns:a="http://schemas.openxmlformats.org/drawingml/2006/main">
            <a:srgbClr val="2E6B37"/>
          </a:solidFill>
        </p:spPr>
      </p:sp>
      <p:sp>
        <p:nvSpPr>
          <p:cNvPr id="16" name="Text 14">
            <a:extLst xmlns:a="http://schemas.openxmlformats.org/drawingml/2006/main">
              <a:ext uri="{FF2B5EF4-FFF2-40B4-BE49-F238E27FC236}">
                <a16:creationId xmlns:a16="http://schemas.microsoft.com/office/drawing/2014/main" id="{0AD43F12-7735-4289-AD25-12A195985E9B}"/>
              </a:ext>
            </a:extLst>
          </p:cNvPr>
          <p:cNvSpPr>
            <a:spLocks xmlns:a="http://schemas.openxmlformats.org/drawingml/2006/main" noGrp="1"/>
          </p:cNvSpPr>
          <p:nvPr/>
        </p:nvSpPr>
        <p:spPr>
          <a:xfrm xmlns:a="http://schemas.openxmlformats.org/drawingml/2006/main">
            <a:off x="8446008"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7" name="Text 15">
            <a:extLst xmlns:a="http://schemas.openxmlformats.org/drawingml/2006/main">
              <a:ext uri="{FF2B5EF4-FFF2-40B4-BE49-F238E27FC236}">
                <a16:creationId xmlns:a16="http://schemas.microsoft.com/office/drawing/2014/main" id="{34233FA0-EA2F-4155-88A5-8A3CB9474E18}"/>
              </a:ext>
            </a:extLst>
          </p:cNvPr>
          <p:cNvSpPr>
            <a:spLocks xmlns:a="http://schemas.openxmlformats.org/drawingml/2006/main" noGrp="1"/>
          </p:cNvSpPr>
          <p:nvPr/>
        </p:nvSpPr>
        <p:spPr>
          <a:xfrm xmlns:a="http://schemas.openxmlformats.org/drawingml/2006/main">
            <a:off x="8446008"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One mission starts</a:t>
            </a:r>
            <a:endParaRPr sz="1800"/>
          </a:p>
        </p:txBody>
      </p:sp>
      <p:sp>
        <p:nvSpPr>
          <p:cNvPr id="18" name="Text 16">
            <a:extLst xmlns:a="http://schemas.openxmlformats.org/drawingml/2006/main">
              <a:ext uri="{FF2B5EF4-FFF2-40B4-BE49-F238E27FC236}">
                <a16:creationId xmlns:a16="http://schemas.microsoft.com/office/drawing/2014/main" id="{C0A3A010-8734-4F04-AB91-BBB0E5337F65}"/>
              </a:ext>
            </a:extLst>
          </p:cNvPr>
          <p:cNvSpPr>
            <a:spLocks xmlns:a="http://schemas.openxmlformats.org/drawingml/2006/main" noGrp="1"/>
          </p:cNvSpPr>
          <p:nvPr/>
        </p:nvSpPr>
        <p:spPr>
          <a:xfrm xmlns:a="http://schemas.openxmlformats.org/drawingml/2006/main">
            <a:off x="8446008"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Codex recommends one real task and a bounded first batch.</a:t>
            </a:r>
            <a:endParaRPr sz="1300"/>
          </a:p>
        </p:txBody>
      </p:sp>
      <p:sp>
        <p:nvSpPr>
          <p:cNvPr id="19" name="Shape 17">
            <a:extLst xmlns:a="http://schemas.openxmlformats.org/drawingml/2006/main">
              <a:ext uri="{FF2B5EF4-FFF2-40B4-BE49-F238E27FC236}">
                <a16:creationId xmlns:a16="http://schemas.microsoft.com/office/drawing/2014/main" id="{DB6D0D28-BF87-4F70-B411-AC5FA8349D05}"/>
              </a:ext>
            </a:extLst>
          </p:cNvPr>
          <p:cNvSpPr>
            <a:spLocks xmlns:a="http://schemas.openxmlformats.org/drawingml/2006/main" noGrp="1"/>
          </p:cNvSpPr>
          <p:nvPr/>
        </p:nvSpPr>
        <p:spPr>
          <a:xfrm xmlns:a="http://schemas.openxmlformats.org/drawingml/2006/main">
            <a:off x="640080" y="4754880"/>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C737FE05-B165-411D-8F1A-6EC6CAC55404}"/>
              </a:ext>
            </a:extLst>
          </p:cNvPr>
          <p:cNvSpPr>
            <a:spLocks xmlns:a="http://schemas.openxmlformats.org/drawingml/2006/main" noGrp="1"/>
          </p:cNvSpPr>
          <p:nvPr/>
        </p:nvSpPr>
        <p:spPr>
          <a:xfrm xmlns:a="http://schemas.openxmlformats.org/drawingml/2006/main">
            <a:off x="1005840" y="4754880"/>
            <a:ext cx="1017727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6B4A05"/>
                </a:solidFill>
                <a:latin typeface="Arial"/>
                <a:ea typeface="Arial"/>
                <a:cs typeface="Arial"/>
              </a:rPr>
              <a:t>Ambuj runs the group. The Setup Helper handles the machinery.</a:t>
            </a:r>
            <a:endParaRPr sz="1600"/>
          </a:p>
        </p:txBody>
      </p:sp>
      <p:sp>
        <p:nvSpPr>
          <p:cNvPr id="21" name="Text 19">
            <a:extLst xmlns:a="http://schemas.openxmlformats.org/drawingml/2006/main">
              <a:ext uri="{FF2B5EF4-FFF2-40B4-BE49-F238E27FC236}">
                <a16:creationId xmlns:a16="http://schemas.microsoft.com/office/drawing/2014/main" id="{7E5B27B6-DA91-4C01-9228-378EAE17512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20">
            <a:extLst xmlns:a="http://schemas.openxmlformats.org/drawingml/2006/main">
              <a:ext uri="{FF2B5EF4-FFF2-40B4-BE49-F238E27FC236}">
                <a16:creationId xmlns:a16="http://schemas.microsoft.com/office/drawing/2014/main" id="{951AC1B5-BB18-4BF0-B748-C21BA1A979E0}"/>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4</a:t>
            </a:r>
            <a:endParaRPr sz="900"/>
          </a:p>
        </p:txBody>
      </p:sp>
    </p:spTree>
    <p:extLst>
      <p:ext uri="{BB962C8B-B14F-4D97-AF65-F5344CB8AC3E}">
        <p14:creationId xmlns:p14="http://schemas.microsoft.com/office/powerpoint/2010/main" val="4733363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AF192F-C2F8-477A-A2F7-27607B32F8CF}"/>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YOUR OWN WORK BECOMES THE MISSION</a:t>
            </a:r>
            <a:endParaRPr sz="1050"/>
          </a:p>
        </p:txBody>
      </p:sp>
      <p:sp>
        <p:nvSpPr>
          <p:cNvPr id="3" name="Text 1">
            <a:extLst xmlns:a="http://schemas.openxmlformats.org/drawingml/2006/main">
              <a:ext uri="{FF2B5EF4-FFF2-40B4-BE49-F238E27FC236}">
                <a16:creationId xmlns:a16="http://schemas.microsoft.com/office/drawing/2014/main" id="{AD94D714-4761-487F-AB65-883868315A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Codex can help close your own assigned list.</a:t>
            </a:r>
            <a:endParaRPr sz="3600"/>
          </a:p>
        </p:txBody>
      </p:sp>
      <p:sp>
        <p:nvSpPr>
          <p:cNvPr id="4" name="Shape 2">
            <a:extLst xmlns:a="http://schemas.openxmlformats.org/drawingml/2006/main">
              <a:ext uri="{FF2B5EF4-FFF2-40B4-BE49-F238E27FC236}">
                <a16:creationId xmlns:a16="http://schemas.microsoft.com/office/drawing/2014/main" id="{E253E840-DEF8-4ABD-B6D8-D25078BCAA04}"/>
              </a:ext>
            </a:extLst>
          </p:cNvPr>
          <p:cNvSpPr>
            <a:spLocks xmlns:a="http://schemas.openxmlformats.org/drawingml/2006/main" noGrp="1"/>
          </p:cNvSpPr>
          <p:nvPr/>
        </p:nvSpPr>
        <p:spPr>
          <a:xfrm xmlns:a="http://schemas.openxmlformats.org/drawingml/2006/main">
            <a:off x="640080" y="16916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28EE10C7-C263-4F38-9117-209EA2D465D6}"/>
              </a:ext>
            </a:extLst>
          </p:cNvPr>
          <p:cNvSpPr>
            <a:spLocks xmlns:a="http://schemas.openxmlformats.org/drawingml/2006/main" noGrp="1"/>
          </p:cNvSpPr>
          <p:nvPr/>
        </p:nvSpPr>
        <p:spPr>
          <a:xfrm xmlns:a="http://schemas.openxmlformats.org/drawingml/2006/main">
            <a:off x="914400"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357</a:t>
            </a:r>
            <a:endParaRPr sz="4000"/>
          </a:p>
        </p:txBody>
      </p:sp>
      <p:sp>
        <p:nvSpPr>
          <p:cNvPr id="6" name="Text 4">
            <a:extLst xmlns:a="http://schemas.openxmlformats.org/drawingml/2006/main">
              <a:ext uri="{FF2B5EF4-FFF2-40B4-BE49-F238E27FC236}">
                <a16:creationId xmlns:a16="http://schemas.microsoft.com/office/drawing/2014/main" id="{4272FAA2-63B1-44AA-B210-53FAC2EA9C0A}"/>
              </a:ext>
            </a:extLst>
          </p:cNvPr>
          <p:cNvSpPr>
            <a:spLocks xmlns:a="http://schemas.openxmlformats.org/drawingml/2006/main" noGrp="1"/>
          </p:cNvSpPr>
          <p:nvPr/>
        </p:nvSpPr>
        <p:spPr>
          <a:xfrm xmlns:a="http://schemas.openxmlformats.org/drawingml/2006/main">
            <a:off x="914400"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Sunaj</a:t>
            </a:r>
            <a:endParaRPr sz="1500"/>
          </a:p>
        </p:txBody>
      </p:sp>
      <p:sp>
        <p:nvSpPr>
          <p:cNvPr id="7" name="Shape 5">
            <a:extLst xmlns:a="http://schemas.openxmlformats.org/drawingml/2006/main">
              <a:ext uri="{FF2B5EF4-FFF2-40B4-BE49-F238E27FC236}">
                <a16:creationId xmlns:a16="http://schemas.microsoft.com/office/drawing/2014/main" id="{8C69B260-14EF-47BB-A05E-216C5CACB417}"/>
              </a:ext>
            </a:extLst>
          </p:cNvPr>
          <p:cNvSpPr>
            <a:spLocks xmlns:a="http://schemas.openxmlformats.org/drawingml/2006/main" noGrp="1"/>
          </p:cNvSpPr>
          <p:nvPr/>
        </p:nvSpPr>
        <p:spPr>
          <a:xfrm xmlns:a="http://schemas.openxmlformats.org/drawingml/2006/main">
            <a:off x="3431286" y="16916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DF095829-06D7-4C9F-974D-D3D4F073F90A}"/>
              </a:ext>
            </a:extLst>
          </p:cNvPr>
          <p:cNvSpPr>
            <a:spLocks xmlns:a="http://schemas.openxmlformats.org/drawingml/2006/main" noGrp="1"/>
          </p:cNvSpPr>
          <p:nvPr/>
        </p:nvSpPr>
        <p:spPr>
          <a:xfrm xmlns:a="http://schemas.openxmlformats.org/drawingml/2006/main">
            <a:off x="3705606"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318</a:t>
            </a:r>
            <a:endParaRPr sz="4000"/>
          </a:p>
        </p:txBody>
      </p:sp>
      <p:sp>
        <p:nvSpPr>
          <p:cNvPr id="9" name="Text 7">
            <a:extLst xmlns:a="http://schemas.openxmlformats.org/drawingml/2006/main">
              <a:ext uri="{FF2B5EF4-FFF2-40B4-BE49-F238E27FC236}">
                <a16:creationId xmlns:a16="http://schemas.microsoft.com/office/drawing/2014/main" id="{BD30B576-6CBE-4108-A300-983201C7CB3A}"/>
              </a:ext>
            </a:extLst>
          </p:cNvPr>
          <p:cNvSpPr>
            <a:spLocks xmlns:a="http://schemas.openxmlformats.org/drawingml/2006/main" noGrp="1"/>
          </p:cNvSpPr>
          <p:nvPr/>
        </p:nvSpPr>
        <p:spPr>
          <a:xfrm xmlns:a="http://schemas.openxmlformats.org/drawingml/2006/main">
            <a:off x="3705606"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Anupam</a:t>
            </a:r>
            <a:endParaRPr sz="1500"/>
          </a:p>
        </p:txBody>
      </p:sp>
      <p:sp>
        <p:nvSpPr>
          <p:cNvPr id="10" name="Shape 8">
            <a:extLst xmlns:a="http://schemas.openxmlformats.org/drawingml/2006/main">
              <a:ext uri="{FF2B5EF4-FFF2-40B4-BE49-F238E27FC236}">
                <a16:creationId xmlns:a16="http://schemas.microsoft.com/office/drawing/2014/main" id="{923AB8C4-8964-4C5B-B112-671E511F690D}"/>
              </a:ext>
            </a:extLst>
          </p:cNvPr>
          <p:cNvSpPr>
            <a:spLocks xmlns:a="http://schemas.openxmlformats.org/drawingml/2006/main" noGrp="1"/>
          </p:cNvSpPr>
          <p:nvPr/>
        </p:nvSpPr>
        <p:spPr>
          <a:xfrm xmlns:a="http://schemas.openxmlformats.org/drawingml/2006/main">
            <a:off x="6222492" y="16916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A29E69CA-E658-41F4-A38C-86CDF0A0ED9F}"/>
              </a:ext>
            </a:extLst>
          </p:cNvPr>
          <p:cNvSpPr>
            <a:spLocks xmlns:a="http://schemas.openxmlformats.org/drawingml/2006/main" noGrp="1"/>
          </p:cNvSpPr>
          <p:nvPr/>
        </p:nvSpPr>
        <p:spPr>
          <a:xfrm xmlns:a="http://schemas.openxmlformats.org/drawingml/2006/main">
            <a:off x="6496812"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269</a:t>
            </a:r>
            <a:endParaRPr sz="4000"/>
          </a:p>
        </p:txBody>
      </p:sp>
      <p:sp>
        <p:nvSpPr>
          <p:cNvPr id="12" name="Text 10">
            <a:extLst xmlns:a="http://schemas.openxmlformats.org/drawingml/2006/main">
              <a:ext uri="{FF2B5EF4-FFF2-40B4-BE49-F238E27FC236}">
                <a16:creationId xmlns:a16="http://schemas.microsoft.com/office/drawing/2014/main" id="{287EC6F0-CDA4-4A52-AEF0-5DCAEAEFFD56}"/>
              </a:ext>
            </a:extLst>
          </p:cNvPr>
          <p:cNvSpPr>
            <a:spLocks xmlns:a="http://schemas.openxmlformats.org/drawingml/2006/main" noGrp="1"/>
          </p:cNvSpPr>
          <p:nvPr/>
        </p:nvSpPr>
        <p:spPr>
          <a:xfrm xmlns:a="http://schemas.openxmlformats.org/drawingml/2006/main">
            <a:off x="6496812"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Astha</a:t>
            </a:r>
            <a:endParaRPr sz="1500"/>
          </a:p>
        </p:txBody>
      </p:sp>
      <p:sp>
        <p:nvSpPr>
          <p:cNvPr id="13" name="Shape 11">
            <a:extLst xmlns:a="http://schemas.openxmlformats.org/drawingml/2006/main">
              <a:ext uri="{FF2B5EF4-FFF2-40B4-BE49-F238E27FC236}">
                <a16:creationId xmlns:a16="http://schemas.microsoft.com/office/drawing/2014/main" id="{C1E53955-5D10-4DB5-B8C5-374A77BECE3D}"/>
              </a:ext>
            </a:extLst>
          </p:cNvPr>
          <p:cNvSpPr>
            <a:spLocks xmlns:a="http://schemas.openxmlformats.org/drawingml/2006/main" noGrp="1"/>
          </p:cNvSpPr>
          <p:nvPr/>
        </p:nvSpPr>
        <p:spPr>
          <a:xfrm xmlns:a="http://schemas.openxmlformats.org/drawingml/2006/main">
            <a:off x="9013698" y="16916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B96604E2-3D56-493A-AA5B-B26148367164}"/>
              </a:ext>
            </a:extLst>
          </p:cNvPr>
          <p:cNvSpPr>
            <a:spLocks xmlns:a="http://schemas.openxmlformats.org/drawingml/2006/main" noGrp="1"/>
          </p:cNvSpPr>
          <p:nvPr/>
        </p:nvSpPr>
        <p:spPr>
          <a:xfrm xmlns:a="http://schemas.openxmlformats.org/drawingml/2006/main">
            <a:off x="9288018"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263</a:t>
            </a:r>
            <a:endParaRPr sz="4000"/>
          </a:p>
        </p:txBody>
      </p:sp>
      <p:sp>
        <p:nvSpPr>
          <p:cNvPr id="15" name="Text 13">
            <a:extLst xmlns:a="http://schemas.openxmlformats.org/drawingml/2006/main">
              <a:ext uri="{FF2B5EF4-FFF2-40B4-BE49-F238E27FC236}">
                <a16:creationId xmlns:a16="http://schemas.microsoft.com/office/drawing/2014/main" id="{B76F57A8-8097-4389-ADC8-A8B92BB3B319}"/>
              </a:ext>
            </a:extLst>
          </p:cNvPr>
          <p:cNvSpPr>
            <a:spLocks xmlns:a="http://schemas.openxmlformats.org/drawingml/2006/main" noGrp="1"/>
          </p:cNvSpPr>
          <p:nvPr/>
        </p:nvSpPr>
        <p:spPr>
          <a:xfrm xmlns:a="http://schemas.openxmlformats.org/drawingml/2006/main">
            <a:off x="9288018"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Deepu</a:t>
            </a:r>
            <a:endParaRPr sz="1500"/>
          </a:p>
        </p:txBody>
      </p:sp>
      <p:sp>
        <p:nvSpPr>
          <p:cNvPr id="16" name="Shape 14">
            <a:extLst xmlns:a="http://schemas.openxmlformats.org/drawingml/2006/main">
              <a:ext uri="{FF2B5EF4-FFF2-40B4-BE49-F238E27FC236}">
                <a16:creationId xmlns:a16="http://schemas.microsoft.com/office/drawing/2014/main" id="{F598247A-E0BB-4B5B-A0A7-E9DE9B591DED}"/>
              </a:ext>
            </a:extLst>
          </p:cNvPr>
          <p:cNvSpPr>
            <a:spLocks xmlns:a="http://schemas.openxmlformats.org/drawingml/2006/main" noGrp="1"/>
          </p:cNvSpPr>
          <p:nvPr/>
        </p:nvSpPr>
        <p:spPr>
          <a:xfrm xmlns:a="http://schemas.openxmlformats.org/drawingml/2006/main">
            <a:off x="640080" y="30632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17" name="Text 15">
            <a:extLst xmlns:a="http://schemas.openxmlformats.org/drawingml/2006/main">
              <a:ext uri="{FF2B5EF4-FFF2-40B4-BE49-F238E27FC236}">
                <a16:creationId xmlns:a16="http://schemas.microsoft.com/office/drawing/2014/main" id="{CB009AA2-7776-4841-B866-2971AB5E0DE5}"/>
              </a:ext>
            </a:extLst>
          </p:cNvPr>
          <p:cNvSpPr>
            <a:spLocks xmlns:a="http://schemas.openxmlformats.org/drawingml/2006/main" noGrp="1"/>
          </p:cNvSpPr>
          <p:nvPr/>
        </p:nvSpPr>
        <p:spPr>
          <a:xfrm xmlns:a="http://schemas.openxmlformats.org/drawingml/2006/main">
            <a:off x="914400"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194</a:t>
            </a:r>
            <a:endParaRPr sz="4000"/>
          </a:p>
        </p:txBody>
      </p:sp>
      <p:sp>
        <p:nvSpPr>
          <p:cNvPr id="18" name="Text 16">
            <a:extLst xmlns:a="http://schemas.openxmlformats.org/drawingml/2006/main">
              <a:ext uri="{FF2B5EF4-FFF2-40B4-BE49-F238E27FC236}">
                <a16:creationId xmlns:a16="http://schemas.microsoft.com/office/drawing/2014/main" id="{4B996615-0050-4F92-A2E1-AF26BC4B198F}"/>
              </a:ext>
            </a:extLst>
          </p:cNvPr>
          <p:cNvSpPr>
            <a:spLocks xmlns:a="http://schemas.openxmlformats.org/drawingml/2006/main" noGrp="1"/>
          </p:cNvSpPr>
          <p:nvPr/>
        </p:nvSpPr>
        <p:spPr>
          <a:xfrm xmlns:a="http://schemas.openxmlformats.org/drawingml/2006/main">
            <a:off x="914400"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Satyam</a:t>
            </a:r>
            <a:endParaRPr sz="1500"/>
          </a:p>
        </p:txBody>
      </p:sp>
      <p:sp>
        <p:nvSpPr>
          <p:cNvPr id="19" name="Shape 17">
            <a:extLst xmlns:a="http://schemas.openxmlformats.org/drawingml/2006/main">
              <a:ext uri="{FF2B5EF4-FFF2-40B4-BE49-F238E27FC236}">
                <a16:creationId xmlns:a16="http://schemas.microsoft.com/office/drawing/2014/main" id="{C78AA461-6CA9-488E-B390-748AC3F310B4}"/>
              </a:ext>
            </a:extLst>
          </p:cNvPr>
          <p:cNvSpPr>
            <a:spLocks xmlns:a="http://schemas.openxmlformats.org/drawingml/2006/main" noGrp="1"/>
          </p:cNvSpPr>
          <p:nvPr/>
        </p:nvSpPr>
        <p:spPr>
          <a:xfrm xmlns:a="http://schemas.openxmlformats.org/drawingml/2006/main">
            <a:off x="3431286" y="30632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A2C75CA3-7299-465C-A826-903B619EB426}"/>
              </a:ext>
            </a:extLst>
          </p:cNvPr>
          <p:cNvSpPr>
            <a:spLocks xmlns:a="http://schemas.openxmlformats.org/drawingml/2006/main" noGrp="1"/>
          </p:cNvSpPr>
          <p:nvPr/>
        </p:nvSpPr>
        <p:spPr>
          <a:xfrm xmlns:a="http://schemas.openxmlformats.org/drawingml/2006/main">
            <a:off x="3705606"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124</a:t>
            </a:r>
            <a:endParaRPr sz="4000"/>
          </a:p>
        </p:txBody>
      </p:sp>
      <p:sp>
        <p:nvSpPr>
          <p:cNvPr id="21" name="Text 19">
            <a:extLst xmlns:a="http://schemas.openxmlformats.org/drawingml/2006/main">
              <a:ext uri="{FF2B5EF4-FFF2-40B4-BE49-F238E27FC236}">
                <a16:creationId xmlns:a16="http://schemas.microsoft.com/office/drawing/2014/main" id="{4221457E-E145-4E32-85D6-7DB33A2CF1C4}"/>
              </a:ext>
            </a:extLst>
          </p:cNvPr>
          <p:cNvSpPr>
            <a:spLocks xmlns:a="http://schemas.openxmlformats.org/drawingml/2006/main" noGrp="1"/>
          </p:cNvSpPr>
          <p:nvPr/>
        </p:nvSpPr>
        <p:spPr>
          <a:xfrm xmlns:a="http://schemas.openxmlformats.org/drawingml/2006/main">
            <a:off x="3705606"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Vikash</a:t>
            </a:r>
            <a:endParaRPr sz="1500"/>
          </a:p>
        </p:txBody>
      </p:sp>
      <p:sp>
        <p:nvSpPr>
          <p:cNvPr id="22" name="Shape 20">
            <a:extLst xmlns:a="http://schemas.openxmlformats.org/drawingml/2006/main">
              <a:ext uri="{FF2B5EF4-FFF2-40B4-BE49-F238E27FC236}">
                <a16:creationId xmlns:a16="http://schemas.microsoft.com/office/drawing/2014/main" id="{785DBE32-C012-4212-AC11-6EA29C7EBC62}"/>
              </a:ext>
            </a:extLst>
          </p:cNvPr>
          <p:cNvSpPr>
            <a:spLocks xmlns:a="http://schemas.openxmlformats.org/drawingml/2006/main" noGrp="1"/>
          </p:cNvSpPr>
          <p:nvPr/>
        </p:nvSpPr>
        <p:spPr>
          <a:xfrm xmlns:a="http://schemas.openxmlformats.org/drawingml/2006/main">
            <a:off x="6222492" y="30632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23" name="Text 21">
            <a:extLst xmlns:a="http://schemas.openxmlformats.org/drawingml/2006/main">
              <a:ext uri="{FF2B5EF4-FFF2-40B4-BE49-F238E27FC236}">
                <a16:creationId xmlns:a16="http://schemas.microsoft.com/office/drawing/2014/main" id="{A0FCB53D-49FA-4832-89BA-D3787D3FDA4C}"/>
              </a:ext>
            </a:extLst>
          </p:cNvPr>
          <p:cNvSpPr>
            <a:spLocks xmlns:a="http://schemas.openxmlformats.org/drawingml/2006/main" noGrp="1"/>
          </p:cNvSpPr>
          <p:nvPr/>
        </p:nvSpPr>
        <p:spPr>
          <a:xfrm xmlns:a="http://schemas.openxmlformats.org/drawingml/2006/main">
            <a:off x="6496812"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42</a:t>
            </a:r>
            <a:endParaRPr sz="4000"/>
          </a:p>
        </p:txBody>
      </p:sp>
      <p:sp>
        <p:nvSpPr>
          <p:cNvPr id="24" name="Text 22">
            <a:extLst xmlns:a="http://schemas.openxmlformats.org/drawingml/2006/main">
              <a:ext uri="{FF2B5EF4-FFF2-40B4-BE49-F238E27FC236}">
                <a16:creationId xmlns:a16="http://schemas.microsoft.com/office/drawing/2014/main" id="{ED952442-0B0B-4549-A029-3E2584783DFA}"/>
              </a:ext>
            </a:extLst>
          </p:cNvPr>
          <p:cNvSpPr>
            <a:spLocks xmlns:a="http://schemas.openxmlformats.org/drawingml/2006/main" noGrp="1"/>
          </p:cNvSpPr>
          <p:nvPr/>
        </p:nvSpPr>
        <p:spPr>
          <a:xfrm xmlns:a="http://schemas.openxmlformats.org/drawingml/2006/main">
            <a:off x="6496812"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Shadab</a:t>
            </a:r>
            <a:endParaRPr sz="1500"/>
          </a:p>
        </p:txBody>
      </p:sp>
      <p:sp>
        <p:nvSpPr>
          <p:cNvPr id="25" name="Shape 23">
            <a:extLst xmlns:a="http://schemas.openxmlformats.org/drawingml/2006/main">
              <a:ext uri="{FF2B5EF4-FFF2-40B4-BE49-F238E27FC236}">
                <a16:creationId xmlns:a16="http://schemas.microsoft.com/office/drawing/2014/main" id="{C406AA83-9746-42B0-A8CB-3FED61F5371D}"/>
              </a:ext>
            </a:extLst>
          </p:cNvPr>
          <p:cNvSpPr>
            <a:spLocks xmlns:a="http://schemas.openxmlformats.org/drawingml/2006/main" noGrp="1"/>
          </p:cNvSpPr>
          <p:nvPr/>
        </p:nvSpPr>
        <p:spPr>
          <a:xfrm xmlns:a="http://schemas.openxmlformats.org/drawingml/2006/main">
            <a:off x="9013698" y="30632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26" name="Text 24">
            <a:extLst xmlns:a="http://schemas.openxmlformats.org/drawingml/2006/main">
              <a:ext uri="{FF2B5EF4-FFF2-40B4-BE49-F238E27FC236}">
                <a16:creationId xmlns:a16="http://schemas.microsoft.com/office/drawing/2014/main" id="{5A3657C5-B7D2-48B2-9236-A3C4006482CC}"/>
              </a:ext>
            </a:extLst>
          </p:cNvPr>
          <p:cNvSpPr>
            <a:spLocks xmlns:a="http://schemas.openxmlformats.org/drawingml/2006/main" noGrp="1"/>
          </p:cNvSpPr>
          <p:nvPr/>
        </p:nvSpPr>
        <p:spPr>
          <a:xfrm xmlns:a="http://schemas.openxmlformats.org/drawingml/2006/main">
            <a:off x="9288018"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15</a:t>
            </a:r>
            <a:endParaRPr sz="4000"/>
          </a:p>
        </p:txBody>
      </p:sp>
      <p:sp>
        <p:nvSpPr>
          <p:cNvPr id="27" name="Text 25">
            <a:extLst xmlns:a="http://schemas.openxmlformats.org/drawingml/2006/main">
              <a:ext uri="{FF2B5EF4-FFF2-40B4-BE49-F238E27FC236}">
                <a16:creationId xmlns:a16="http://schemas.microsoft.com/office/drawing/2014/main" id="{47B882B8-0F6E-4BF3-B4CD-E20648CB4A0A}"/>
              </a:ext>
            </a:extLst>
          </p:cNvPr>
          <p:cNvSpPr>
            <a:spLocks xmlns:a="http://schemas.openxmlformats.org/drawingml/2006/main" noGrp="1"/>
          </p:cNvSpPr>
          <p:nvPr/>
        </p:nvSpPr>
        <p:spPr>
          <a:xfrm xmlns:a="http://schemas.openxmlformats.org/drawingml/2006/main">
            <a:off x="9288018"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Rohan</a:t>
            </a:r>
            <a:endParaRPr sz="1500"/>
          </a:p>
        </p:txBody>
      </p:sp>
      <p:sp>
        <p:nvSpPr>
          <p:cNvPr id="28" name="Text 26">
            <a:extLst xmlns:a="http://schemas.openxmlformats.org/drawingml/2006/main">
              <a:ext uri="{FF2B5EF4-FFF2-40B4-BE49-F238E27FC236}">
                <a16:creationId xmlns:a16="http://schemas.microsoft.com/office/drawing/2014/main" id="{B7DD17F3-20CE-43DD-AA21-4EB7FB234061}"/>
              </a:ext>
            </a:extLst>
          </p:cNvPr>
          <p:cNvSpPr>
            <a:spLocks xmlns:a="http://schemas.openxmlformats.org/drawingml/2006/main" noGrp="1"/>
          </p:cNvSpPr>
          <p:nvPr/>
        </p:nvSpPr>
        <p:spPr>
          <a:xfrm xmlns:a="http://schemas.openxmlformats.org/drawingml/2006/main">
            <a:off x="640080" y="4343400"/>
            <a:ext cx="109087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5F7268"/>
                </a:solidFill>
                <a:latin typeface="Arial"/>
                <a:ea typeface="Arial"/>
                <a:cs typeface="Arial"/>
              </a:rPr>
              <a:t>Locked rollout snapshot. Trusha: 2. Shadab also has 51 Shopify tasks on the specialist sheet.</a:t>
            </a:r>
            <a:endParaRPr sz="1200"/>
          </a:p>
        </p:txBody>
      </p:sp>
      <p:sp>
        <p:nvSpPr>
          <p:cNvPr id="29" name="Shape 27">
            <a:extLst xmlns:a="http://schemas.openxmlformats.org/drawingml/2006/main">
              <a:ext uri="{FF2B5EF4-FFF2-40B4-BE49-F238E27FC236}">
                <a16:creationId xmlns:a16="http://schemas.microsoft.com/office/drawing/2014/main" id="{63192181-4DBF-4B4A-82FF-A4A8759DF934}"/>
              </a:ext>
            </a:extLst>
          </p:cNvPr>
          <p:cNvSpPr>
            <a:spLocks xmlns:a="http://schemas.openxmlformats.org/drawingml/2006/main" noGrp="1"/>
          </p:cNvSpPr>
          <p:nvPr/>
        </p:nvSpPr>
        <p:spPr>
          <a:xfrm xmlns:a="http://schemas.openxmlformats.org/drawingml/2006/main">
            <a:off x="640080" y="4846320"/>
            <a:ext cx="10908792" cy="1280160"/>
          </a:xfrm>
          <a:prstGeom xmlns:a="http://schemas.openxmlformats.org/drawingml/2006/main" prst="roundRect">
            <a:avLst>
              <a:gd name="adj" fmla="val 6429"/>
            </a:avLst>
          </a:prstGeom>
          <a:solidFill xmlns:a="http://schemas.openxmlformats.org/drawingml/2006/main">
            <a:srgbClr val="0D2B1E"/>
          </a:solidFill>
        </p:spPr>
      </p:sp>
      <p:sp>
        <p:nvSpPr>
          <p:cNvPr id="30" name="Text 28">
            <a:extLst xmlns:a="http://schemas.openxmlformats.org/drawingml/2006/main">
              <a:ext uri="{FF2B5EF4-FFF2-40B4-BE49-F238E27FC236}">
                <a16:creationId xmlns:a16="http://schemas.microsoft.com/office/drawing/2014/main" id="{C2DE2A83-63A8-489C-A9F2-867AB5AD079A}"/>
              </a:ext>
            </a:extLst>
          </p:cNvPr>
          <p:cNvSpPr>
            <a:spLocks xmlns:a="http://schemas.openxmlformats.org/drawingml/2006/main" noGrp="1"/>
          </p:cNvSpPr>
          <p:nvPr/>
        </p:nvSpPr>
        <p:spPr>
          <a:xfrm xmlns:a="http://schemas.openxmlformats.org/drawingml/2006/main">
            <a:off x="1051560" y="5029200"/>
            <a:ext cx="1008583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FFFFF"/>
                </a:solidFill>
                <a:latin typeface="Arial"/>
                <a:ea typeface="Arial"/>
                <a:cs typeface="Arial"/>
              </a:rPr>
              <a:t>Choose the task. Codex works. Proof closes it.</a:t>
            </a:r>
            <a:endParaRPr sz="2600"/>
          </a:p>
        </p:txBody>
      </p:sp>
      <p:sp>
        <p:nvSpPr>
          <p:cNvPr id="31" name="Text 29">
            <a:extLst xmlns:a="http://schemas.openxmlformats.org/drawingml/2006/main">
              <a:ext uri="{FF2B5EF4-FFF2-40B4-BE49-F238E27FC236}">
                <a16:creationId xmlns:a16="http://schemas.microsoft.com/office/drawing/2014/main" id="{A9176046-C561-4D70-9473-73CAD4FAB8EF}"/>
              </a:ext>
            </a:extLst>
          </p:cNvPr>
          <p:cNvSpPr>
            <a:spLocks xmlns:a="http://schemas.openxmlformats.org/drawingml/2006/main" noGrp="1"/>
          </p:cNvSpPr>
          <p:nvPr/>
        </p:nvSpPr>
        <p:spPr>
          <a:xfrm xmlns:a="http://schemas.openxmlformats.org/drawingml/2006/main">
            <a:off x="1051560" y="5486400"/>
            <a:ext cx="100858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0C05A"/>
                </a:solidFill>
                <a:latin typeface="Arial"/>
                <a:ea typeface="Arial"/>
                <a:cs typeface="Arial"/>
              </a:rPr>
              <a:t>No invented exercises. Start from work already assigned to you.</a:t>
            </a:r>
            <a:endParaRPr sz="1600"/>
          </a:p>
        </p:txBody>
      </p:sp>
      <p:sp>
        <p:nvSpPr>
          <p:cNvPr id="32" name="Text 30">
            <a:extLst xmlns:a="http://schemas.openxmlformats.org/drawingml/2006/main">
              <a:ext uri="{FF2B5EF4-FFF2-40B4-BE49-F238E27FC236}">
                <a16:creationId xmlns:a16="http://schemas.microsoft.com/office/drawing/2014/main" id="{F00BE298-8ECF-404D-9254-E67586EE99C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33" name="Text 31">
            <a:extLst xmlns:a="http://schemas.openxmlformats.org/drawingml/2006/main">
              <a:ext uri="{FF2B5EF4-FFF2-40B4-BE49-F238E27FC236}">
                <a16:creationId xmlns:a16="http://schemas.microsoft.com/office/drawing/2014/main" id="{D2722E94-E676-42C8-8709-1928B34BC7E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5</a:t>
            </a:r>
            <a:endParaRPr sz="900"/>
          </a:p>
        </p:txBody>
      </p:sp>
    </p:spTree>
    <p:extLst>
      <p:ext uri="{BB962C8B-B14F-4D97-AF65-F5344CB8AC3E}">
        <p14:creationId xmlns:p14="http://schemas.microsoft.com/office/powerpoint/2010/main" val="5796457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RESULTS ALREADY ACHIEVED</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Two Shopify stores. Four days. One person.</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82</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verified line items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200+</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discrete actions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4</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days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2</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stores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Zero money spent without approval. Every change has proof.</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700">
                <a:solidFill>
                  <a:srgbClr val="5F7268"/>
                </a:solidFill>
                <a:latin typeface="Arial"/>
                <a:ea typeface="Arial"/>
                <a:cs typeface="Arial"/>
              </a:rPr>
              <a:t>Abilash ran this himself. The rollout exists so each employee can apply the pattern to their own work.</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6</a:t>
            </a:r>
            <a:endParaRPr sz="900"/>
          </a:p>
        </p:txBody>
      </p:sp>
    </p:spTree>
    <p:extLst>
      <p:ext uri="{BB962C8B-B14F-4D97-AF65-F5344CB8AC3E}">
        <p14:creationId xmlns:p14="http://schemas.microsoft.com/office/powerpoint/2010/main" val="470947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THE SAME BRIEF, ≈56× LIGHTER</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The operating files ended repeated cold starts.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250" b="1">
                <a:solidFill>
                  <a:srgbClr val="2E6B37"/>
                </a:solidFill>
              </a:defRPr>
            </a:pPr>
            <a:r>
              <a:rPr sz="2250" b="1">
                <a:solidFill>
                  <a:srgbClr val="2E6B37"/>
                </a:solidFill>
                <a:latin typeface="Arial"/>
                <a:ea typeface="Arial"/>
                <a:cs typeface="Arial"/>
              </a:rPr>
              <a:t>109,771</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tokens before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1,967</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tokens after</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≈56×</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reduction</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5</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common files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Measured with the o200k_base tokenizer after the restructure.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700">
                <a:solidFill>
                  <a:srgbClr val="5F7268"/>
                </a:solidFill>
                <a:latin typeface="Arial"/>
                <a:ea typeface="Arial"/>
                <a:cs typeface="Arial"/>
              </a:rPr>
              <a:t>The files remember operating state, so a new session does not start from zero.</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7</a:t>
            </a:r>
            <a:endParaRPr sz="900"/>
          </a:p>
        </p:txBody>
      </p:sp>
    </p:spTree>
    <p:extLst>
      <p:ext uri="{BB962C8B-B14F-4D97-AF65-F5344CB8AC3E}">
        <p14:creationId xmlns:p14="http://schemas.microsoft.com/office/powerpoint/2010/main" val="4709470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WHERE WE ARE NOW</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Three things keep wasting our time.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905a86d693484dac"/>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Work is scattered</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Drive, local folders and delegation rows are not yet one map.</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16257f3b37064078"/>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Decisions repeat</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answer sits in memory or an old chat, so the same question returns.</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b5cf19250faa4b71"/>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Done has no proof</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 change is called complete before the result is checked.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First make the work visible. Then let Codex act inside approved boundaries.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8</a:t>
            </a:r>
            <a:endParaRPr sz="900"/>
          </a:p>
        </p:txBody>
      </p:sp>
    </p:spTree>
    <p:extLst>
      <p:ext uri="{BB962C8B-B14F-4D97-AF65-F5344CB8AC3E}">
        <p14:creationId xmlns:p14="http://schemas.microsoft.com/office/powerpoint/2010/main" val="9021505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THE D-130 LOOP</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One recorded fact ended the repeated question.</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26f52415fbdb45a8"/>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The question returned</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Four references to one campus kept reappearing in new chats.</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57c90a3445f04983"/>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The fact was locked</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One authoritative answer moved from memory into shared context.</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3448f7663daa4377"/>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Contradictions now stop</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New evidence can reopen the decision; repetition cannot.</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Write the decision once. Future sessions spend time on the next real task.</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9</a:t>
            </a:r>
            <a:endParaRPr sz="900"/>
          </a:p>
        </p:txBody>
      </p:sp>
    </p:spTree>
    <p:extLst>
      <p:ext uri="{BB962C8B-B14F-4D97-AF65-F5344CB8AC3E}">
        <p14:creationId xmlns:p14="http://schemas.microsoft.com/office/powerpoint/2010/main" val="902150507"/>
      </p:ext>
    </p:extLst>
  </p:cSld>
</p:sld>
</file>

<file path=ppt/slides/slide10.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OWNER AMBITION  ·  NOT A RESULT</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From 1× toward 800× capability.</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Not 800× more typing. More approved work completed through repeatable workers.</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07888610dee2444c"/>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AMBITION ONLY  ·  NOT ACHIEVED OR GUARANTEED</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We will measure completed work, time, proof and errors—not slogans.</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10</a:t>
            </a:r>
            <a:endParaRPr sz="900"/>
          </a:p>
        </p:txBody>
      </p:sp>
    </p:spTree>
    <p:extLst>
      <p:ext uri="{BB962C8B-B14F-4D97-AF65-F5344CB8AC3E}">
        <p14:creationId xmlns:p14="http://schemas.microsoft.com/office/powerpoint/2010/main" val="864629065"/>
      </p:ext>
    </p:extLst>
  </p:cSld>
</p:sld>
</file>

<file path=ppt/slides/slide1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60-SECOND DEMONSTRATION</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Do you want a system like this?</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Watch one minute. Then see how Kairali makes it controlled and repeatable.</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68c0033d4e4b4fe9"/>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LET ME SHOW YOU HOW  ·  PLAY 00:40–01:40</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b="1" u="sng">
                <a:solidFill>
                  <a:srgbClr val="F2CF66"/>
                </a:solidFill>
                <a:hlinkClick xmlns:r="http://schemas.openxmlformats.org/officeDocument/2006/relationships" r:id="Re579c1e93c684b94"/>
              </a:rPr>
              <a:t>PLAY THE 60-SECOND DEMONSTRATION</a:t>
            </a:r>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11</a:t>
            </a:r>
            <a:endParaRPr sz="900"/>
          </a:p>
        </p:txBody>
      </p:sp>
    </p:spTree>
    <p:extLst>
      <p:ext uri="{BB962C8B-B14F-4D97-AF65-F5344CB8AC3E}">
        <p14:creationId xmlns:p14="http://schemas.microsoft.com/office/powerpoint/2010/main" val="864629065"/>
      </p:ext>
    </p:extLst>
  </p:cSld>
</p:sld>
</file>

<file path=ppt/slides/slide1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CONTROLLED AUTONOMOUS LOOP</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Mission → work → proof → next ruling.</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Codex continues only inside the task, sources, tools and permissions you approved.</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c4b4fc8cd9b941fa"/>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THE HUMAN RULES  ·  THE SUIT EXECUTES</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Stop for access, publishing, deletion, security, Gate 0 or any new authority.</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12</a:t>
            </a:r>
            <a:endParaRPr sz="900"/>
          </a:p>
        </p:txBody>
      </p:sp>
    </p:spTree>
    <p:extLst>
      <p:ext uri="{BB962C8B-B14F-4D97-AF65-F5344CB8AC3E}">
        <p14:creationId xmlns:p14="http://schemas.microsoft.com/office/powerpoint/2010/main" val="8646290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AF192F-C2F8-477A-A2F7-27607B32F8CF}"/>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SUIT'S CONTROL SYSTEM</a:t>
            </a:r>
            <a:endParaRPr sz="1050"/>
          </a:p>
        </p:txBody>
      </p:sp>
      <p:sp>
        <p:nvSpPr>
          <p:cNvPr id="3" name="Text 1">
            <a:extLst xmlns:a="http://schemas.openxmlformats.org/drawingml/2006/main">
              <a:ext uri="{FF2B5EF4-FFF2-40B4-BE49-F238E27FC236}">
                <a16:creationId xmlns:a16="http://schemas.microsoft.com/office/drawing/2014/main" id="{AD94D714-4761-487F-AB65-883868315A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Five files hold the work. Three rules hold the line.</a:t>
            </a:r>
            <a:endParaRPr sz="3600"/>
          </a:p>
        </p:txBody>
      </p:sp>
      <p:sp>
        <p:nvSpPr>
          <p:cNvPr id="4" name="Shape 2">
            <a:extLst xmlns:a="http://schemas.openxmlformats.org/drawingml/2006/main">
              <a:ext uri="{FF2B5EF4-FFF2-40B4-BE49-F238E27FC236}">
                <a16:creationId xmlns:a16="http://schemas.microsoft.com/office/drawing/2014/main" id="{E253E840-DEF8-4ABD-B6D8-D25078BCAA04}"/>
              </a:ext>
            </a:extLst>
          </p:cNvPr>
          <p:cNvSpPr>
            <a:spLocks xmlns:a="http://schemas.openxmlformats.org/drawingml/2006/main" noGrp="1"/>
          </p:cNvSpPr>
          <p:nvPr/>
        </p:nvSpPr>
        <p:spPr>
          <a:xfrm xmlns:a="http://schemas.openxmlformats.org/drawingml/2006/main">
            <a:off x="640080" y="16916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28EE10C7-C263-4F38-9117-209EA2D465D6}"/>
              </a:ext>
            </a:extLst>
          </p:cNvPr>
          <p:cNvSpPr>
            <a:spLocks xmlns:a="http://schemas.openxmlformats.org/drawingml/2006/main" noGrp="1"/>
          </p:cNvSpPr>
          <p:nvPr/>
        </p:nvSpPr>
        <p:spPr>
          <a:xfrm xmlns:a="http://schemas.openxmlformats.org/drawingml/2006/main">
            <a:off x="914400"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CURSOR</a:t>
            </a:r>
            <a:endParaRPr sz="4000"/>
          </a:p>
        </p:txBody>
      </p:sp>
      <p:sp>
        <p:nvSpPr>
          <p:cNvPr id="6" name="Text 4">
            <a:extLst xmlns:a="http://schemas.openxmlformats.org/drawingml/2006/main">
              <a:ext uri="{FF2B5EF4-FFF2-40B4-BE49-F238E27FC236}">
                <a16:creationId xmlns:a16="http://schemas.microsoft.com/office/drawing/2014/main" id="{4272FAA2-63B1-44AA-B210-53FAC2EA9C0A}"/>
              </a:ext>
            </a:extLst>
          </p:cNvPr>
          <p:cNvSpPr>
            <a:spLocks xmlns:a="http://schemas.openxmlformats.org/drawingml/2006/main" noGrp="1"/>
          </p:cNvSpPr>
          <p:nvPr/>
        </p:nvSpPr>
        <p:spPr>
          <a:xfrm xmlns:a="http://schemas.openxmlformats.org/drawingml/2006/main">
            <a:off x="914400"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one mission live</a:t>
            </a:r>
            <a:endParaRPr sz="1500"/>
          </a:p>
        </p:txBody>
      </p:sp>
      <p:sp>
        <p:nvSpPr>
          <p:cNvPr id="7" name="Shape 5">
            <a:extLst xmlns:a="http://schemas.openxmlformats.org/drawingml/2006/main">
              <a:ext uri="{FF2B5EF4-FFF2-40B4-BE49-F238E27FC236}">
                <a16:creationId xmlns:a16="http://schemas.microsoft.com/office/drawing/2014/main" id="{8C69B260-14EF-47BB-A05E-216C5CACB417}"/>
              </a:ext>
            </a:extLst>
          </p:cNvPr>
          <p:cNvSpPr>
            <a:spLocks xmlns:a="http://schemas.openxmlformats.org/drawingml/2006/main" noGrp="1"/>
          </p:cNvSpPr>
          <p:nvPr/>
        </p:nvSpPr>
        <p:spPr>
          <a:xfrm xmlns:a="http://schemas.openxmlformats.org/drawingml/2006/main">
            <a:off x="3431286" y="16916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DF095829-06D7-4C9F-974D-D3D4F073F90A}"/>
              </a:ext>
            </a:extLst>
          </p:cNvPr>
          <p:cNvSpPr>
            <a:spLocks xmlns:a="http://schemas.openxmlformats.org/drawingml/2006/main" noGrp="1"/>
          </p:cNvSpPr>
          <p:nvPr/>
        </p:nvSpPr>
        <p:spPr>
          <a:xfrm xmlns:a="http://schemas.openxmlformats.org/drawingml/2006/main">
            <a:off x="3705606"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REGISTER</a:t>
            </a:r>
            <a:endParaRPr sz="4000"/>
          </a:p>
        </p:txBody>
      </p:sp>
      <p:sp>
        <p:nvSpPr>
          <p:cNvPr id="9" name="Text 7">
            <a:extLst xmlns:a="http://schemas.openxmlformats.org/drawingml/2006/main">
              <a:ext uri="{FF2B5EF4-FFF2-40B4-BE49-F238E27FC236}">
                <a16:creationId xmlns:a16="http://schemas.microsoft.com/office/drawing/2014/main" id="{BD30B576-6CBE-4108-A300-983201C7CB3A}"/>
              </a:ext>
            </a:extLst>
          </p:cNvPr>
          <p:cNvSpPr>
            <a:spLocks xmlns:a="http://schemas.openxmlformats.org/drawingml/2006/main" noGrp="1"/>
          </p:cNvSpPr>
          <p:nvPr/>
        </p:nvSpPr>
        <p:spPr>
          <a:xfrm xmlns:a="http://schemas.openxmlformats.org/drawingml/2006/main">
            <a:off x="3705606"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every open row</a:t>
            </a:r>
            <a:endParaRPr sz="1500"/>
          </a:p>
        </p:txBody>
      </p:sp>
      <p:sp>
        <p:nvSpPr>
          <p:cNvPr id="10" name="Shape 8">
            <a:extLst xmlns:a="http://schemas.openxmlformats.org/drawingml/2006/main">
              <a:ext uri="{FF2B5EF4-FFF2-40B4-BE49-F238E27FC236}">
                <a16:creationId xmlns:a16="http://schemas.microsoft.com/office/drawing/2014/main" id="{923AB8C4-8964-4C5B-B112-671E511F690D}"/>
              </a:ext>
            </a:extLst>
          </p:cNvPr>
          <p:cNvSpPr>
            <a:spLocks xmlns:a="http://schemas.openxmlformats.org/drawingml/2006/main" noGrp="1"/>
          </p:cNvSpPr>
          <p:nvPr/>
        </p:nvSpPr>
        <p:spPr>
          <a:xfrm xmlns:a="http://schemas.openxmlformats.org/drawingml/2006/main">
            <a:off x="6222492" y="16916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A29E69CA-E658-41F4-A38C-86CDF0A0ED9F}"/>
              </a:ext>
            </a:extLst>
          </p:cNvPr>
          <p:cNvSpPr>
            <a:spLocks xmlns:a="http://schemas.openxmlformats.org/drawingml/2006/main" noGrp="1"/>
          </p:cNvSpPr>
          <p:nvPr/>
        </p:nvSpPr>
        <p:spPr>
          <a:xfrm xmlns:a="http://schemas.openxmlformats.org/drawingml/2006/main">
            <a:off x="6496812"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TODAY</a:t>
            </a:r>
            <a:endParaRPr sz="4000"/>
          </a:p>
        </p:txBody>
      </p:sp>
      <p:sp>
        <p:nvSpPr>
          <p:cNvPr id="12" name="Text 10">
            <a:extLst xmlns:a="http://schemas.openxmlformats.org/drawingml/2006/main">
              <a:ext uri="{FF2B5EF4-FFF2-40B4-BE49-F238E27FC236}">
                <a16:creationId xmlns:a16="http://schemas.microsoft.com/office/drawing/2014/main" id="{287EC6F0-CDA4-4A52-AEF0-5DCAEAEFFD56}"/>
              </a:ext>
            </a:extLst>
          </p:cNvPr>
          <p:cNvSpPr>
            <a:spLocks xmlns:a="http://schemas.openxmlformats.org/drawingml/2006/main" noGrp="1"/>
          </p:cNvSpPr>
          <p:nvPr/>
        </p:nvSpPr>
        <p:spPr>
          <a:xfrm xmlns:a="http://schemas.openxmlformats.org/drawingml/2006/main">
            <a:off x="6496812"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current batch</a:t>
            </a:r>
            <a:endParaRPr sz="1500"/>
          </a:p>
        </p:txBody>
      </p:sp>
      <p:sp>
        <p:nvSpPr>
          <p:cNvPr id="13" name="Shape 11">
            <a:extLst xmlns:a="http://schemas.openxmlformats.org/drawingml/2006/main">
              <a:ext uri="{FF2B5EF4-FFF2-40B4-BE49-F238E27FC236}">
                <a16:creationId xmlns:a16="http://schemas.microsoft.com/office/drawing/2014/main" id="{C1E53955-5D10-4DB5-B8C5-374A77BECE3D}"/>
              </a:ext>
            </a:extLst>
          </p:cNvPr>
          <p:cNvSpPr>
            <a:spLocks xmlns:a="http://schemas.openxmlformats.org/drawingml/2006/main" noGrp="1"/>
          </p:cNvSpPr>
          <p:nvPr/>
        </p:nvSpPr>
        <p:spPr>
          <a:xfrm xmlns:a="http://schemas.openxmlformats.org/drawingml/2006/main">
            <a:off x="9013698" y="16916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B96604E2-3D56-493A-AA5B-B26148367164}"/>
              </a:ext>
            </a:extLst>
          </p:cNvPr>
          <p:cNvSpPr>
            <a:spLocks xmlns:a="http://schemas.openxmlformats.org/drawingml/2006/main" noGrp="1"/>
          </p:cNvSpPr>
          <p:nvPr/>
        </p:nvSpPr>
        <p:spPr>
          <a:xfrm xmlns:a="http://schemas.openxmlformats.org/drawingml/2006/main">
            <a:off x="9288018"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LEDGER</a:t>
            </a:r>
            <a:endParaRPr sz="4000"/>
          </a:p>
        </p:txBody>
      </p:sp>
      <p:sp>
        <p:nvSpPr>
          <p:cNvPr id="15" name="Text 13">
            <a:extLst xmlns:a="http://schemas.openxmlformats.org/drawingml/2006/main">
              <a:ext uri="{FF2B5EF4-FFF2-40B4-BE49-F238E27FC236}">
                <a16:creationId xmlns:a16="http://schemas.microsoft.com/office/drawing/2014/main" id="{B76F57A8-8097-4389-ADC8-A8B92BB3B319}"/>
              </a:ext>
            </a:extLst>
          </p:cNvPr>
          <p:cNvSpPr>
            <a:spLocks xmlns:a="http://schemas.openxmlformats.org/drawingml/2006/main" noGrp="1"/>
          </p:cNvSpPr>
          <p:nvPr/>
        </p:nvSpPr>
        <p:spPr>
          <a:xfrm xmlns:a="http://schemas.openxmlformats.org/drawingml/2006/main">
            <a:off x="9288018"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closed result</a:t>
            </a:r>
            <a:endParaRPr sz="1500"/>
          </a:p>
        </p:txBody>
      </p:sp>
      <p:sp>
        <p:nvSpPr>
          <p:cNvPr id="16" name="Shape 14">
            <a:extLst xmlns:a="http://schemas.openxmlformats.org/drawingml/2006/main">
              <a:ext uri="{FF2B5EF4-FFF2-40B4-BE49-F238E27FC236}">
                <a16:creationId xmlns:a16="http://schemas.microsoft.com/office/drawing/2014/main" id="{F598247A-E0BB-4B5B-A0A7-E9DE9B591DED}"/>
              </a:ext>
            </a:extLst>
          </p:cNvPr>
          <p:cNvSpPr>
            <a:spLocks xmlns:a="http://schemas.openxmlformats.org/drawingml/2006/main" noGrp="1"/>
          </p:cNvSpPr>
          <p:nvPr/>
        </p:nvSpPr>
        <p:spPr>
          <a:xfrm xmlns:a="http://schemas.openxmlformats.org/drawingml/2006/main">
            <a:off x="640080" y="30632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17" name="Text 15">
            <a:extLst xmlns:a="http://schemas.openxmlformats.org/drawingml/2006/main">
              <a:ext uri="{FF2B5EF4-FFF2-40B4-BE49-F238E27FC236}">
                <a16:creationId xmlns:a16="http://schemas.microsoft.com/office/drawing/2014/main" id="{CB009AA2-7776-4841-B866-2971AB5E0DE5}"/>
              </a:ext>
            </a:extLst>
          </p:cNvPr>
          <p:cNvSpPr>
            <a:spLocks xmlns:a="http://schemas.openxmlformats.org/drawingml/2006/main" noGrp="1"/>
          </p:cNvSpPr>
          <p:nvPr/>
        </p:nvSpPr>
        <p:spPr>
          <a:xfrm xmlns:a="http://schemas.openxmlformats.org/drawingml/2006/main">
            <a:off x="914400"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EVIDENCE</a:t>
            </a:r>
            <a:endParaRPr sz="4000"/>
          </a:p>
        </p:txBody>
      </p:sp>
      <p:sp>
        <p:nvSpPr>
          <p:cNvPr id="18" name="Text 16">
            <a:extLst xmlns:a="http://schemas.openxmlformats.org/drawingml/2006/main">
              <a:ext uri="{FF2B5EF4-FFF2-40B4-BE49-F238E27FC236}">
                <a16:creationId xmlns:a16="http://schemas.microsoft.com/office/drawing/2014/main" id="{4B996615-0050-4F92-A2E1-AF26BC4B198F}"/>
              </a:ext>
            </a:extLst>
          </p:cNvPr>
          <p:cNvSpPr>
            <a:spLocks xmlns:a="http://schemas.openxmlformats.org/drawingml/2006/main" noGrp="1"/>
          </p:cNvSpPr>
          <p:nvPr/>
        </p:nvSpPr>
        <p:spPr>
          <a:xfrm xmlns:a="http://schemas.openxmlformats.org/drawingml/2006/main">
            <a:off x="914400"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proof attached</a:t>
            </a:r>
            <a:endParaRPr sz="1500"/>
          </a:p>
        </p:txBody>
      </p:sp>
      <p:sp>
        <p:nvSpPr>
          <p:cNvPr id="19" name="Shape 17">
            <a:extLst xmlns:a="http://schemas.openxmlformats.org/drawingml/2006/main">
              <a:ext uri="{FF2B5EF4-FFF2-40B4-BE49-F238E27FC236}">
                <a16:creationId xmlns:a16="http://schemas.microsoft.com/office/drawing/2014/main" id="{C78AA461-6CA9-488E-B390-748AC3F310B4}"/>
              </a:ext>
            </a:extLst>
          </p:cNvPr>
          <p:cNvSpPr>
            <a:spLocks xmlns:a="http://schemas.openxmlformats.org/drawingml/2006/main" noGrp="1"/>
          </p:cNvSpPr>
          <p:nvPr/>
        </p:nvSpPr>
        <p:spPr>
          <a:xfrm xmlns:a="http://schemas.openxmlformats.org/drawingml/2006/main">
            <a:off x="3431286" y="30632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A2C75CA3-7299-465C-A826-903B619EB426}"/>
              </a:ext>
            </a:extLst>
          </p:cNvPr>
          <p:cNvSpPr>
            <a:spLocks xmlns:a="http://schemas.openxmlformats.org/drawingml/2006/main" noGrp="1"/>
          </p:cNvSpPr>
          <p:nvPr/>
        </p:nvSpPr>
        <p:spPr>
          <a:xfrm xmlns:a="http://schemas.openxmlformats.org/drawingml/2006/main">
            <a:off x="3705606"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ONE</a:t>
            </a:r>
            <a:endParaRPr sz="4000"/>
          </a:p>
        </p:txBody>
      </p:sp>
      <p:sp>
        <p:nvSpPr>
          <p:cNvPr id="21" name="Text 19">
            <a:extLst xmlns:a="http://schemas.openxmlformats.org/drawingml/2006/main">
              <a:ext uri="{FF2B5EF4-FFF2-40B4-BE49-F238E27FC236}">
                <a16:creationId xmlns:a16="http://schemas.microsoft.com/office/drawing/2014/main" id="{4221457E-E145-4E32-85D6-7DB33A2CF1C4}"/>
              </a:ext>
            </a:extLst>
          </p:cNvPr>
          <p:cNvSpPr>
            <a:spLocks xmlns:a="http://schemas.openxmlformats.org/drawingml/2006/main" noGrp="1"/>
          </p:cNvSpPr>
          <p:nvPr/>
        </p:nvSpPr>
        <p:spPr>
          <a:xfrm xmlns:a="http://schemas.openxmlformats.org/drawingml/2006/main">
            <a:off x="3705606"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task at a time</a:t>
            </a:r>
            <a:endParaRPr sz="1500"/>
          </a:p>
        </p:txBody>
      </p:sp>
      <p:sp>
        <p:nvSpPr>
          <p:cNvPr id="22" name="Shape 20">
            <a:extLst xmlns:a="http://schemas.openxmlformats.org/drawingml/2006/main">
              <a:ext uri="{FF2B5EF4-FFF2-40B4-BE49-F238E27FC236}">
                <a16:creationId xmlns:a16="http://schemas.microsoft.com/office/drawing/2014/main" id="{785DBE32-C012-4212-AC11-6EA29C7EBC62}"/>
              </a:ext>
            </a:extLst>
          </p:cNvPr>
          <p:cNvSpPr>
            <a:spLocks xmlns:a="http://schemas.openxmlformats.org/drawingml/2006/main" noGrp="1"/>
          </p:cNvSpPr>
          <p:nvPr/>
        </p:nvSpPr>
        <p:spPr>
          <a:xfrm xmlns:a="http://schemas.openxmlformats.org/drawingml/2006/main">
            <a:off x="6222492" y="30632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23" name="Text 21">
            <a:extLst xmlns:a="http://schemas.openxmlformats.org/drawingml/2006/main">
              <a:ext uri="{FF2B5EF4-FFF2-40B4-BE49-F238E27FC236}">
                <a16:creationId xmlns:a16="http://schemas.microsoft.com/office/drawing/2014/main" id="{A0FCB53D-49FA-4832-89BA-D3787D3FDA4C}"/>
              </a:ext>
            </a:extLst>
          </p:cNvPr>
          <p:cNvSpPr>
            <a:spLocks xmlns:a="http://schemas.openxmlformats.org/drawingml/2006/main" noGrp="1"/>
          </p:cNvSpPr>
          <p:nvPr/>
        </p:nvSpPr>
        <p:spPr>
          <a:xfrm xmlns:a="http://schemas.openxmlformats.org/drawingml/2006/main">
            <a:off x="6496812"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≤25</a:t>
            </a:r>
            <a:endParaRPr sz="4000"/>
          </a:p>
        </p:txBody>
      </p:sp>
      <p:sp>
        <p:nvSpPr>
          <p:cNvPr id="24" name="Text 22">
            <a:extLst xmlns:a="http://schemas.openxmlformats.org/drawingml/2006/main">
              <a:ext uri="{FF2B5EF4-FFF2-40B4-BE49-F238E27FC236}">
                <a16:creationId xmlns:a16="http://schemas.microsoft.com/office/drawing/2014/main" id="{ED952442-0B0B-4549-A029-3E2584783DFA}"/>
              </a:ext>
            </a:extLst>
          </p:cNvPr>
          <p:cNvSpPr>
            <a:spLocks xmlns:a="http://schemas.openxmlformats.org/drawingml/2006/main" noGrp="1"/>
          </p:cNvSpPr>
          <p:nvPr/>
        </p:nvSpPr>
        <p:spPr>
          <a:xfrm xmlns:a="http://schemas.openxmlformats.org/drawingml/2006/main">
            <a:off x="6496812"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per batch</a:t>
            </a:r>
            <a:endParaRPr sz="1500"/>
          </a:p>
        </p:txBody>
      </p:sp>
      <p:sp>
        <p:nvSpPr>
          <p:cNvPr id="25" name="Shape 23">
            <a:extLst xmlns:a="http://schemas.openxmlformats.org/drawingml/2006/main">
              <a:ext uri="{FF2B5EF4-FFF2-40B4-BE49-F238E27FC236}">
                <a16:creationId xmlns:a16="http://schemas.microsoft.com/office/drawing/2014/main" id="{C406AA83-9746-42B0-A8CB-3FED61F5371D}"/>
              </a:ext>
            </a:extLst>
          </p:cNvPr>
          <p:cNvSpPr>
            <a:spLocks xmlns:a="http://schemas.openxmlformats.org/drawingml/2006/main" noGrp="1"/>
          </p:cNvSpPr>
          <p:nvPr/>
        </p:nvSpPr>
        <p:spPr>
          <a:xfrm xmlns:a="http://schemas.openxmlformats.org/drawingml/2006/main">
            <a:off x="9013698" y="30632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26" name="Text 24">
            <a:extLst xmlns:a="http://schemas.openxmlformats.org/drawingml/2006/main">
              <a:ext uri="{FF2B5EF4-FFF2-40B4-BE49-F238E27FC236}">
                <a16:creationId xmlns:a16="http://schemas.microsoft.com/office/drawing/2014/main" id="{5A3657C5-B7D2-48B2-9236-A3C4006482CC}"/>
              </a:ext>
            </a:extLst>
          </p:cNvPr>
          <p:cNvSpPr>
            <a:spLocks xmlns:a="http://schemas.openxmlformats.org/drawingml/2006/main" noGrp="1"/>
          </p:cNvSpPr>
          <p:nvPr/>
        </p:nvSpPr>
        <p:spPr>
          <a:xfrm xmlns:a="http://schemas.openxmlformats.org/drawingml/2006/main">
            <a:off x="9288018"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PROOF</a:t>
            </a:r>
            <a:endParaRPr sz="4000"/>
          </a:p>
        </p:txBody>
      </p:sp>
      <p:sp>
        <p:nvSpPr>
          <p:cNvPr id="27" name="Text 25">
            <a:extLst xmlns:a="http://schemas.openxmlformats.org/drawingml/2006/main">
              <a:ext uri="{FF2B5EF4-FFF2-40B4-BE49-F238E27FC236}">
                <a16:creationId xmlns:a16="http://schemas.microsoft.com/office/drawing/2014/main" id="{47B882B8-0F6E-4BF3-B4CD-E20648CB4A0A}"/>
              </a:ext>
            </a:extLst>
          </p:cNvPr>
          <p:cNvSpPr>
            <a:spLocks xmlns:a="http://schemas.openxmlformats.org/drawingml/2006/main" noGrp="1"/>
          </p:cNvSpPr>
          <p:nvPr/>
        </p:nvSpPr>
        <p:spPr>
          <a:xfrm xmlns:a="http://schemas.openxmlformats.org/drawingml/2006/main">
            <a:off x="9288018"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or not done</a:t>
            </a:r>
            <a:endParaRPr sz="1500"/>
          </a:p>
        </p:txBody>
      </p:sp>
      <p:sp>
        <p:nvSpPr>
          <p:cNvPr id="28" name="Text 26">
            <a:extLst xmlns:a="http://schemas.openxmlformats.org/drawingml/2006/main">
              <a:ext uri="{FF2B5EF4-FFF2-40B4-BE49-F238E27FC236}">
                <a16:creationId xmlns:a16="http://schemas.microsoft.com/office/drawing/2014/main" id="{B7DD17F3-20CE-43DD-AA21-4EB7FB234061}"/>
              </a:ext>
            </a:extLst>
          </p:cNvPr>
          <p:cNvSpPr>
            <a:spLocks xmlns:a="http://schemas.openxmlformats.org/drawingml/2006/main" noGrp="1"/>
          </p:cNvSpPr>
          <p:nvPr/>
        </p:nvSpPr>
        <p:spPr>
          <a:xfrm xmlns:a="http://schemas.openxmlformats.org/drawingml/2006/main">
            <a:off x="640080" y="4343400"/>
            <a:ext cx="109087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975">
                <a:solidFill>
                  <a:srgbClr val="5B6C60"/>
                </a:solidFill>
              </a:defRPr>
            </a:pPr>
            <a:r>
              <a:rPr sz="975">
                <a:solidFill>
                  <a:srgbClr val="5B6C60"/>
                </a:solidFill>
                <a:latin typeface="Arial"/>
                <a:ea typeface="Arial"/>
                <a:cs typeface="Arial"/>
              </a:rPr>
              <a:t>Separate state per worker. Shared facts stay read-only.</a:t>
            </a:r>
            <a:endParaRPr sz="1200"/>
          </a:p>
        </p:txBody>
      </p:sp>
      <p:sp>
        <p:nvSpPr>
          <p:cNvPr id="29" name="Shape 27">
            <a:extLst xmlns:a="http://schemas.openxmlformats.org/drawingml/2006/main">
              <a:ext uri="{FF2B5EF4-FFF2-40B4-BE49-F238E27FC236}">
                <a16:creationId xmlns:a16="http://schemas.microsoft.com/office/drawing/2014/main" id="{63192181-4DBF-4B4A-82FF-A4A8759DF934}"/>
              </a:ext>
            </a:extLst>
          </p:cNvPr>
          <p:cNvSpPr>
            <a:spLocks xmlns:a="http://schemas.openxmlformats.org/drawingml/2006/main" noGrp="1"/>
          </p:cNvSpPr>
          <p:nvPr/>
        </p:nvSpPr>
        <p:spPr>
          <a:xfrm xmlns:a="http://schemas.openxmlformats.org/drawingml/2006/main">
            <a:off x="640080" y="4846320"/>
            <a:ext cx="10908792" cy="1280160"/>
          </a:xfrm>
          <a:prstGeom xmlns:a="http://schemas.openxmlformats.org/drawingml/2006/main" prst="roundRect">
            <a:avLst>
              <a:gd name="adj" fmla="val 6429"/>
            </a:avLst>
          </a:prstGeom>
          <a:solidFill xmlns:a="http://schemas.openxmlformats.org/drawingml/2006/main">
            <a:srgbClr val="0D2B1E"/>
          </a:solidFill>
        </p:spPr>
      </p:sp>
      <p:sp>
        <p:nvSpPr>
          <p:cNvPr id="30" name="Text 28">
            <a:extLst xmlns:a="http://schemas.openxmlformats.org/drawingml/2006/main">
              <a:ext uri="{FF2B5EF4-FFF2-40B4-BE49-F238E27FC236}">
                <a16:creationId xmlns:a16="http://schemas.microsoft.com/office/drawing/2014/main" id="{C2DE2A83-63A8-489C-A9F2-867AB5AD079A}"/>
              </a:ext>
            </a:extLst>
          </p:cNvPr>
          <p:cNvSpPr>
            <a:spLocks xmlns:a="http://schemas.openxmlformats.org/drawingml/2006/main" noGrp="1"/>
          </p:cNvSpPr>
          <p:nvPr/>
        </p:nvSpPr>
        <p:spPr>
          <a:xfrm xmlns:a="http://schemas.openxmlformats.org/drawingml/2006/main">
            <a:off x="1051560" y="5029200"/>
            <a:ext cx="1008583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FFFFF"/>
                </a:solidFill>
                <a:latin typeface="Arial"/>
                <a:ea typeface="Arial"/>
                <a:cs typeface="Arial"/>
              </a:rPr>
              <a:t>These files make autonomy resumable.</a:t>
            </a:r>
            <a:endParaRPr sz="2600"/>
          </a:p>
        </p:txBody>
      </p:sp>
      <p:sp>
        <p:nvSpPr>
          <p:cNvPr id="31" name="Text 29">
            <a:extLst xmlns:a="http://schemas.openxmlformats.org/drawingml/2006/main">
              <a:ext uri="{FF2B5EF4-FFF2-40B4-BE49-F238E27FC236}">
                <a16:creationId xmlns:a16="http://schemas.microsoft.com/office/drawing/2014/main" id="{A9176046-C561-4D70-9473-73CAD4FAB8EF}"/>
              </a:ext>
            </a:extLst>
          </p:cNvPr>
          <p:cNvSpPr>
            <a:spLocks xmlns:a="http://schemas.openxmlformats.org/drawingml/2006/main" noGrp="1"/>
          </p:cNvSpPr>
          <p:nvPr/>
        </p:nvSpPr>
        <p:spPr>
          <a:xfrm xmlns:a="http://schemas.openxmlformats.org/drawingml/2006/main">
            <a:off x="1051560" y="5486400"/>
            <a:ext cx="100858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0C05A"/>
                </a:solidFill>
                <a:latin typeface="Arial"/>
                <a:ea typeface="Arial"/>
                <a:cs typeface="Arial"/>
              </a:rPr>
              <a:t>One worker, one live task. A supervisor reports drift; it does not silently rewrite.</a:t>
            </a:r>
            <a:endParaRPr sz="1600"/>
          </a:p>
        </p:txBody>
      </p:sp>
      <p:sp>
        <p:nvSpPr>
          <p:cNvPr id="32" name="Text 30">
            <a:extLst xmlns:a="http://schemas.openxmlformats.org/drawingml/2006/main">
              <a:ext uri="{FF2B5EF4-FFF2-40B4-BE49-F238E27FC236}">
                <a16:creationId xmlns:a16="http://schemas.microsoft.com/office/drawing/2014/main" id="{F00BE298-8ECF-404D-9254-E67586EE99C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33" name="Text 31">
            <a:extLst xmlns:a="http://schemas.openxmlformats.org/drawingml/2006/main">
              <a:ext uri="{FF2B5EF4-FFF2-40B4-BE49-F238E27FC236}">
                <a16:creationId xmlns:a16="http://schemas.microsoft.com/office/drawing/2014/main" id="{D2722E94-E676-42C8-8709-1928B34BC7E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13</a:t>
            </a:r>
            <a:endParaRPr sz="900"/>
          </a:p>
        </p:txBody>
      </p:sp>
    </p:spTree>
    <p:extLst>
      <p:ext uri="{BB962C8B-B14F-4D97-AF65-F5344CB8AC3E}">
        <p14:creationId xmlns:p14="http://schemas.microsoft.com/office/powerpoint/2010/main" val="5796457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SUIT HAS HARD STOPS</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Evidence, locked facts and Gate 0 prevent drift.</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5633312a5dd74f81"/>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Evidence proves done</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Before, after and undo. A saved setting is not proof.</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b7f0a90ecc0745a6"/>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Locked facts stop loops</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One owned source. New evidence may reopen it; repetition may not.</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447f8c47a33b41b4"/>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Gate 0 stops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Medical, dosage, certification, legal and spend are flagged—never fixed.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Autonomy ends wherever human judgment or new authority begins.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14</a:t>
            </a:r>
            <a:endParaRPr sz="900"/>
          </a:p>
        </p:txBody>
      </p:sp>
    </p:spTree>
    <p:extLst>
      <p:ext uri="{BB962C8B-B14F-4D97-AF65-F5344CB8AC3E}">
        <p14:creationId xmlns:p14="http://schemas.microsoft.com/office/powerpoint/2010/main" val="9021505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THE HELPER RUNS FIRST</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Do not troubleshoot the machinery yourself.</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ChatGPT or chatgpt.com.</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Start a blank chat with the approved company account.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Use the complete Setup Helper card.</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Paste the full message exactly. Do not shorten it.</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Follow one visible action at a time.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helper checks, acts and verifies. You do only the login, account choice or permission it cannot.</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I am stuck setting up my Kairali AI workspace.</a:t>
            </a:r>
            <a:endParaRPr sz="1300"/>
          </a:p>
          <a:p xmlns:a="http://schemas.openxmlformats.org/drawingml/2006/main">
            <a:pPr marL="0" indent="0">
              <a:lnSpc>
                <a:spcPct val="135000"/>
              </a:lnSpc>
              <a:buNone/>
            </a:pPr>
            <a:r>
              <a:rPr sz="1300">
                <a:solidFill>
                  <a:srgbClr val="F0C05A"/>
                </a:solidFill>
                <a:latin typeface="Courier New"/>
                <a:ea typeface="Courier New"/>
                <a:cs typeface="Courier New"/>
              </a:rPr>
              <a:t>Be my Setup Helper.</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Done when the helper checks what is already installed and names only the next visible action.</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15</a:t>
            </a:r>
            <a:endParaRPr sz="900"/>
          </a:p>
        </p:txBody>
      </p:sp>
    </p:spTree>
    <p:extLst>
      <p:ext uri="{BB962C8B-B14F-4D97-AF65-F5344CB8AC3E}">
        <p14:creationId xmlns:p14="http://schemas.microsoft.com/office/powerpoint/2010/main" val="73977085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SETUP  ·  ONE PUBLIC KIT</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One public kit opens the right work.</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Start with the protected v1.4 release.</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Setup Helper gets the all-in-one Kairali kit. No invitation or Git knowledge needed.</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Keep each worker separate.</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Named private operations: GitHub Desktop. Homework or Sheet/local work: a separate local worker from the kit.</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ecc31191646d43dd"/>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AGENTS.md is visible and Codex reads the correct separate project.</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Upgrades happen only at a safe checkpoint. Managed system files update; employee state stays.</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16</a:t>
            </a:r>
            <a:endParaRPr sz="900"/>
          </a:p>
        </p:txBody>
      </p:sp>
    </p:spTree>
    <p:extLst>
      <p:ext uri="{BB962C8B-B14F-4D97-AF65-F5344CB8AC3E}">
        <p14:creationId xmlns:p14="http://schemas.microsoft.com/office/powerpoint/2010/main" val="12388373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COMPANY APPS</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Connect approved Gmail and Google Drive Apps.</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Settings → Apps.</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helper searches for the approved company App. If Apps is disabled, it records the workspace blocker.</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Connect approved Gmail.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You choose the company Google account and read the requested access before approving.</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Connect approved Google Drive.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Start a new Codex task after both Apps are connected.</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Confirm Gmail and Google Drive are connected. Name one approved company item from each.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Done when Codex names one approved company item from each App.</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17</a:t>
            </a:r>
            <a:endParaRPr sz="900"/>
          </a:p>
        </p:txBody>
      </p:sp>
    </p:spTree>
    <p:extLst>
      <p:ext uri="{BB962C8B-B14F-4D97-AF65-F5344CB8AC3E}">
        <p14:creationId xmlns:p14="http://schemas.microsoft.com/office/powerpoint/2010/main" val="73977085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EYES AND HANDS</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Give access only where the work lives.</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A MAC</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opens System Settings. You approve one requested ChatGPT permission.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COMPANY PROJECT  +  ASK FOR APPROVAL</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WINDOWS</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keeps the company folder and target app visible. You approve one named target.</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COMPANY PROJECT  +  VISIBLE TARGET APP</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Below the prompt, keep permissions on Ask for approval.</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Approve only the company folder, app or website you understand.</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4f968d235fb34d64"/>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reads the project and asks before leaving the approved scope.</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Never treat tool availability as permission.</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18</a:t>
            </a:r>
            <a:endParaRPr sz="900"/>
          </a:p>
        </p:txBody>
      </p:sp>
    </p:spTree>
    <p:extLst>
      <p:ext uri="{BB962C8B-B14F-4D97-AF65-F5344CB8AC3E}">
        <p14:creationId xmlns:p14="http://schemas.microsoft.com/office/powerpoint/2010/main" val="27732354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IN-ROOM VOICE</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Let the helper prepare Wispr Flow.</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A MAC</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checks Applications first. If missing, it opens the official download.</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CHECK  →  ONE ACTION  →  VERIFY</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WINDOWS</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checks Start first. If missing, it opens the official download.</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CHECK  →  ONE ACTION  →  VERIFY</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You use the company-approved sign-in choice shown by Ambuj.</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Approve Microphone and Accessibility only when the selected feature requests them.</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9830cdd9d74b44ec"/>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one short spoken sentence appears correctly in a safe text box.</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Never dictate passwords, one-time codes, private HR, banking or Gate 0 content.</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19</a:t>
            </a:r>
            <a:endParaRPr sz="900"/>
          </a:p>
        </p:txBody>
      </p:sp>
    </p:spTree>
    <p:extLst>
      <p:ext uri="{BB962C8B-B14F-4D97-AF65-F5344CB8AC3E}">
        <p14:creationId xmlns:p14="http://schemas.microsoft.com/office/powerpoint/2010/main" val="2773235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SPEAK TO THE SUIT</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Speak. Review. Then send.</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Click inside the Codex message box.</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Make sure the cursor is blinking where the words should appear.</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Use the Wispr shortcut shown in its tutorial.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Say the mission slowly. Stop speaking when finished.</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Read the transcript before sending.</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Fix names, numbers and task IDs. Then press Return.</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Read AGENTS.md and MASTER_CURSOR.md. Tell me the one live task, or say NOT SET.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You speak the mission. Codex executes only after you send and inside the approved task.</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20</a:t>
            </a:r>
            <a:endParaRPr sz="900"/>
          </a:p>
        </p:txBody>
      </p:sp>
    </p:spTree>
    <p:extLst>
      <p:ext uri="{BB962C8B-B14F-4D97-AF65-F5344CB8AC3E}">
        <p14:creationId xmlns:p14="http://schemas.microsoft.com/office/powerpoint/2010/main" val="7397708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SETUP  ·  IN-ROOM REMOTE</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Put ChatGPT on your phone. Pair Remote.</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Let the helper confirm the official mobile app.</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Use the App Store or Google Play. Install ChatGPT by OpenAI and sign in to the same company workspace.</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Pair the computer.</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opens Settings → Connections → Control this Mac or PC. You approve and scan the QR code with the phone.</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a549beff619c4a5d"/>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Remote on the phone shows this computer and opens a safe task.</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Keep the computer awake and online, with ChatGPT/Codex running. Availability may depend on company settings.</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21</a:t>
            </a:r>
            <a:endParaRPr sz="900"/>
          </a:p>
        </p:txBody>
      </p:sp>
    </p:spTree>
    <p:extLst>
      <p:ext uri="{BB962C8B-B14F-4D97-AF65-F5344CB8AC3E}">
        <p14:creationId xmlns:p14="http://schemas.microsoft.com/office/powerpoint/2010/main" val="123883733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OPTIONAL  ·  CHROME REMOTE DESKTOP</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Reach your work computer from home.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19efd9563b05499b"/>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1  ·  Set up on the work computer</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Ask Ambuj/IT. Open Chrome → remotedesktop.google.com/access → Download → install → create a private PIN.</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25a886994d684df7"/>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2  ·  Leave it ready before going home</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Keep the work computer powered on, awake and online. Lock the screen; never share the PIN.</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91058750ba134ab2"/>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3  ·  Connect from the home computer</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Open the same address in Chrome → sign in to the approved company Google account → choose the computer → enter the PIN.</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OPTIONAL · Full remote control. Use only with company approval. Disconnect when finished. A dimmed computer is offline or unavailable.</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22</a:t>
            </a:r>
            <a:endParaRPr sz="900"/>
          </a:p>
        </p:txBody>
      </p:sp>
    </p:spTree>
    <p:extLst>
      <p:ext uri="{BB962C8B-B14F-4D97-AF65-F5344CB8AC3E}">
        <p14:creationId xmlns:p14="http://schemas.microsoft.com/office/powerpoint/2010/main" val="9021505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INVENTORY  ·  BEFORE THE SCAN</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Approve work areas. Exclude personal data.</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a82ad01554b24e67"/>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Include approved company sources</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Exact local work folders; connected company Drive account.</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71b5a4617e0842a3"/>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Exclude sensitive areas</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Personal folders, passwords, HR, banking and private records.</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85066d51237047c3"/>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Gate 0 stops here</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Medical, dosage, certification, legal and spend material is flagged—not inventoried or fixed.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Read-only means: no rename, move, delete, edit, upload or sharing changes.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23</a:t>
            </a:r>
            <a:endParaRPr sz="900"/>
          </a:p>
        </p:txBody>
      </p:sp>
    </p:spTree>
    <p:extLst>
      <p:ext uri="{BB962C8B-B14F-4D97-AF65-F5344CB8AC3E}">
        <p14:creationId xmlns:p14="http://schemas.microsoft.com/office/powerpoint/2010/main" val="90215050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INVENTORY  ·  AFTER SCOPE IS APPROVED</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One index. Three local files. Durable cursor.</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CSV</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future-searchable index</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SUMMARY</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coverage + query guide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CURSOR</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safe resume point</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25</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items per batch</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PROMPT  ·  TEST 25 OR FULL DRIVE INDEX</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Metadata only. Use stable item IDs, batch ≤25, checkpoint every batch, and resume full mode until each supported scope has no next page. Save CSV + summary + cursor. Change nothing in Drive.</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24</a:t>
            </a:r>
            <a:endParaRPr sz="900"/>
          </a:p>
        </p:txBody>
      </p:sp>
    </p:spTree>
    <p:extLst>
      <p:ext uri="{BB962C8B-B14F-4D97-AF65-F5344CB8AC3E}">
        <p14:creationId xmlns:p14="http://schemas.microsoft.com/office/powerpoint/2010/main" val="47094708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3EE9924-20F8-4B2A-A659-A136545DEF12}"/>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FIRST SUCCESS  ·  IN THE ROOM</a:t>
            </a:r>
            <a:endParaRPr sz="1050"/>
          </a:p>
        </p:txBody>
      </p:sp>
      <p:sp>
        <p:nvSpPr>
          <p:cNvPr id="3" name="Text 1">
            <a:extLst xmlns:a="http://schemas.openxmlformats.org/drawingml/2006/main">
              <a:ext uri="{FF2B5EF4-FFF2-40B4-BE49-F238E27FC236}">
                <a16:creationId xmlns:a16="http://schemas.microsoft.com/office/drawing/2014/main" id="{1B95941D-909E-4C34-83A3-4E362DCE5EF5}"/>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The scan starts. Then Codex recommends one real mission.</a:t>
            </a:r>
            <a:endParaRPr sz="3600"/>
          </a:p>
        </p:txBody>
      </p:sp>
      <p:sp>
        <p:nvSpPr>
          <p:cNvPr id="4" name="Shape 2">
            <a:extLst xmlns:a="http://schemas.openxmlformats.org/drawingml/2006/main">
              <a:ext uri="{FF2B5EF4-FFF2-40B4-BE49-F238E27FC236}">
                <a16:creationId xmlns:a16="http://schemas.microsoft.com/office/drawing/2014/main" id="{9734DB07-C81D-45C5-B4F0-84A63F389034}"/>
              </a:ext>
            </a:extLst>
          </p:cNvPr>
          <p:cNvSpPr>
            <a:spLocks xmlns:a="http://schemas.openxmlformats.org/drawingml/2006/main" noGrp="1"/>
          </p:cNvSpPr>
          <p:nvPr/>
        </p:nvSpPr>
        <p:spPr>
          <a:xfrm xmlns:a="http://schemas.openxmlformats.org/drawingml/2006/main">
            <a:off x="640080" y="1828800"/>
            <a:ext cx="3422904" cy="2286000"/>
          </a:xfrm>
          <a:prstGeom xmlns:a="http://schemas.openxmlformats.org/drawingml/2006/main" prst="roundRect">
            <a:avLst>
              <a:gd name="adj" fmla="val 36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58C3C5DE-293F-49F5-8B3C-E025A0A15DE2}"/>
              </a:ext>
            </a:extLst>
          </p:cNvPr>
          <p:cNvSpPr>
            <a:spLocks xmlns:a="http://schemas.openxmlformats.org/drawingml/2006/main" noGrp="1"/>
          </p:cNvSpPr>
          <p:nvPr/>
        </p:nvSpPr>
        <p:spPr>
          <a:xfrm xmlns:a="http://schemas.openxmlformats.org/drawingml/2006/main">
            <a:off x="960120" y="2103120"/>
            <a:ext cx="548640" cy="548640"/>
          </a:xfrm>
          <a:prstGeom xmlns:a="http://schemas.openxmlformats.org/drawingml/2006/main" prst="ellipse">
            <a:avLst/>
          </a:prstGeom>
          <a:solidFill xmlns:a="http://schemas.openxmlformats.org/drawingml/2006/main">
            <a:srgbClr val="2E6B37"/>
          </a:solidFill>
        </p:spPr>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8593ce8e6d174527"/>
          <a:stretch xmlns:a="http://schemas.openxmlformats.org/drawingml/2006/main">
            <a:fillRect l="0" t="0" r="0" b="0"/>
          </a:stretch>
        </p:blipFill>
        <p:spPr>
          <a:xfrm xmlns:a="http://schemas.openxmlformats.org/drawingml/2006/main">
            <a:off x="1102766" y="224576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557CCF50-E958-4C9A-8E98-D18341D4AA0B}"/>
              </a:ext>
            </a:extLst>
          </p:cNvPr>
          <p:cNvSpPr>
            <a:spLocks xmlns:a="http://schemas.openxmlformats.org/drawingml/2006/main" noGrp="1"/>
          </p:cNvSpPr>
          <p:nvPr/>
        </p:nvSpPr>
        <p:spPr>
          <a:xfrm xmlns:a="http://schemas.openxmlformats.org/drawingml/2006/main">
            <a:off x="960120"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Employee</a:t>
            </a:r>
            <a:endParaRPr sz="1500"/>
          </a:p>
        </p:txBody>
      </p:sp>
      <p:sp>
        <p:nvSpPr>
          <p:cNvPr id="8" name="Text 5">
            <a:extLst xmlns:a="http://schemas.openxmlformats.org/drawingml/2006/main">
              <a:ext uri="{FF2B5EF4-FFF2-40B4-BE49-F238E27FC236}">
                <a16:creationId xmlns:a16="http://schemas.microsoft.com/office/drawing/2014/main" id="{EA4191E4-4CEF-40E5-9F09-A779BE2AD2DE}"/>
              </a:ext>
            </a:extLst>
          </p:cNvPr>
          <p:cNvSpPr>
            <a:spLocks xmlns:a="http://schemas.openxmlformats.org/drawingml/2006/main" noGrp="1"/>
          </p:cNvSpPr>
          <p:nvPr/>
        </p:nvSpPr>
        <p:spPr>
          <a:xfrm xmlns:a="http://schemas.openxmlformats.org/drawingml/2006/main">
            <a:off x="960120"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Approves locations, reviews Codex’s recommendation and approves the ruled task.</a:t>
            </a:r>
            <a:endParaRPr sz="1250"/>
          </a:p>
        </p:txBody>
      </p:sp>
      <p:sp>
        <p:nvSpPr>
          <p:cNvPr id="9" name="Shape 6">
            <a:extLst xmlns:a="http://schemas.openxmlformats.org/drawingml/2006/main">
              <a:ext uri="{FF2B5EF4-FFF2-40B4-BE49-F238E27FC236}">
                <a16:creationId xmlns:a16="http://schemas.microsoft.com/office/drawing/2014/main" id="{047C6490-89BE-41CE-A1BD-99B7C465312B}"/>
              </a:ext>
            </a:extLst>
          </p:cNvPr>
          <p:cNvSpPr>
            <a:spLocks xmlns:a="http://schemas.openxmlformats.org/drawingml/2006/main" noGrp="1"/>
          </p:cNvSpPr>
          <p:nvPr/>
        </p:nvSpPr>
        <p:spPr>
          <a:xfrm xmlns:a="http://schemas.openxmlformats.org/drawingml/2006/main">
            <a:off x="4383024" y="1828800"/>
            <a:ext cx="3422904" cy="2286000"/>
          </a:xfrm>
          <a:prstGeom xmlns:a="http://schemas.openxmlformats.org/drawingml/2006/main" prst="roundRect">
            <a:avLst>
              <a:gd name="adj" fmla="val 36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13AE496D-03AB-4134-A4F6-4E658CE998A8}"/>
              </a:ext>
            </a:extLst>
          </p:cNvPr>
          <p:cNvSpPr>
            <a:spLocks xmlns:a="http://schemas.openxmlformats.org/drawingml/2006/main" noGrp="1"/>
          </p:cNvSpPr>
          <p:nvPr/>
        </p:nvSpPr>
        <p:spPr>
          <a:xfrm xmlns:a="http://schemas.openxmlformats.org/drawingml/2006/main">
            <a:off x="4703064" y="2103120"/>
            <a:ext cx="548640" cy="548640"/>
          </a:xfrm>
          <a:prstGeom xmlns:a="http://schemas.openxmlformats.org/drawingml/2006/main" prst="ellipse">
            <a:avLst/>
          </a:prstGeom>
          <a:solidFill xmlns:a="http://schemas.openxmlformats.org/drawingml/2006/main">
            <a:srgbClr val="2E6B37"/>
          </a:solidFill>
        </p:spPr>
      </p:sp>
      <p:pic>
        <p:nvPicPr>
          <p:cNvPr id="36" name="Image 1"/>
          <p:cNvPicPr>
            <a:picLocks xmlns:a="http://schemas.openxmlformats.org/drawingml/2006/main" noChangeAspect="1"/>
          </p:cNvPicPr>
          <p:nvPr/>
        </p:nvPicPr>
        <p:blipFill>
          <a:blip xmlns:r="http://schemas.openxmlformats.org/officeDocument/2006/relationships" xmlns:a="http://schemas.openxmlformats.org/drawingml/2006/main" r:embed="R9e31b9533df746f8"/>
          <a:stretch xmlns:a="http://schemas.openxmlformats.org/drawingml/2006/main">
            <a:fillRect l="0" t="0" r="0" b="0"/>
          </a:stretch>
        </p:blipFill>
        <p:spPr>
          <a:xfrm xmlns:a="http://schemas.openxmlformats.org/drawingml/2006/main">
            <a:off x="4845710" y="2245766"/>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EC5D1103-46B5-44A7-9054-2766F802118E}"/>
              </a:ext>
            </a:extLst>
          </p:cNvPr>
          <p:cNvSpPr>
            <a:spLocks xmlns:a="http://schemas.openxmlformats.org/drawingml/2006/main" noGrp="1"/>
          </p:cNvSpPr>
          <p:nvPr/>
        </p:nvSpPr>
        <p:spPr>
          <a:xfrm xmlns:a="http://schemas.openxmlformats.org/drawingml/2006/main">
            <a:off x="4703064"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Codex</a:t>
            </a:r>
            <a:endParaRPr sz="1800"/>
          </a:p>
        </p:txBody>
      </p:sp>
      <p:sp>
        <p:nvSpPr>
          <p:cNvPr id="13" name="Text 9">
            <a:extLst xmlns:a="http://schemas.openxmlformats.org/drawingml/2006/main">
              <a:ext uri="{FF2B5EF4-FFF2-40B4-BE49-F238E27FC236}">
                <a16:creationId xmlns:a16="http://schemas.microsoft.com/office/drawing/2014/main" id="{59D108C2-5EDA-44B3-B1C0-B92EB6E750FA}"/>
              </a:ext>
            </a:extLst>
          </p:cNvPr>
          <p:cNvSpPr>
            <a:spLocks xmlns:a="http://schemas.openxmlformats.org/drawingml/2006/main" noGrp="1"/>
          </p:cNvSpPr>
          <p:nvPr/>
        </p:nvSpPr>
        <p:spPr>
          <a:xfrm xmlns:a="http://schemas.openxmlformats.org/drawingml/2006/main">
            <a:off x="4703064"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Reads the inventory and delegation. Sorts: autonomous, needs review, or blocked.</a:t>
            </a:r>
            <a:endParaRPr sz="1250"/>
          </a:p>
        </p:txBody>
      </p:sp>
      <p:sp>
        <p:nvSpPr>
          <p:cNvPr id="14" name="Shape 10">
            <a:extLst xmlns:a="http://schemas.openxmlformats.org/drawingml/2006/main">
              <a:ext uri="{FF2B5EF4-FFF2-40B4-BE49-F238E27FC236}">
                <a16:creationId xmlns:a16="http://schemas.microsoft.com/office/drawing/2014/main" id="{2BCB652C-8519-4716-AAD5-24699DB03CD4}"/>
              </a:ext>
            </a:extLst>
          </p:cNvPr>
          <p:cNvSpPr>
            <a:spLocks xmlns:a="http://schemas.openxmlformats.org/drawingml/2006/main" noGrp="1"/>
          </p:cNvSpPr>
          <p:nvPr/>
        </p:nvSpPr>
        <p:spPr>
          <a:xfrm xmlns:a="http://schemas.openxmlformats.org/drawingml/2006/main">
            <a:off x="8125968" y="1828800"/>
            <a:ext cx="3422904" cy="2286000"/>
          </a:xfrm>
          <a:prstGeom xmlns:a="http://schemas.openxmlformats.org/drawingml/2006/main" prst="roundRect">
            <a:avLst>
              <a:gd name="adj" fmla="val 3600"/>
            </a:avLst>
          </a:prstGeom>
          <a:solidFill xmlns:a="http://schemas.openxmlformats.org/drawingml/2006/main">
            <a:srgbClr val="DDE9ED"/>
          </a:solidFill>
        </p:spPr>
      </p:sp>
      <p:sp>
        <p:nvSpPr>
          <p:cNvPr id="15" name="Shape 11">
            <a:extLst xmlns:a="http://schemas.openxmlformats.org/drawingml/2006/main">
              <a:ext uri="{FF2B5EF4-FFF2-40B4-BE49-F238E27FC236}">
                <a16:creationId xmlns:a16="http://schemas.microsoft.com/office/drawing/2014/main" id="{286FE7CA-C516-4B6B-9623-E096D800374D}"/>
              </a:ext>
            </a:extLst>
          </p:cNvPr>
          <p:cNvSpPr>
            <a:spLocks xmlns:a="http://schemas.openxmlformats.org/drawingml/2006/main" noGrp="1"/>
          </p:cNvSpPr>
          <p:nvPr/>
        </p:nvSpPr>
        <p:spPr>
          <a:xfrm xmlns:a="http://schemas.openxmlformats.org/drawingml/2006/main">
            <a:off x="8446008" y="2103120"/>
            <a:ext cx="548640" cy="548640"/>
          </a:xfrm>
          <a:prstGeom xmlns:a="http://schemas.openxmlformats.org/drawingml/2006/main" prst="ellipse">
            <a:avLst/>
          </a:prstGeom>
          <a:solidFill xmlns:a="http://schemas.openxmlformats.org/drawingml/2006/main">
            <a:srgbClr val="2E6B37"/>
          </a:solidFill>
        </p:spPr>
      </p:sp>
      <p:pic>
        <p:nvPicPr>
          <p:cNvPr id="41" name="Image 2"/>
          <p:cNvPicPr>
            <a:picLocks xmlns:a="http://schemas.openxmlformats.org/drawingml/2006/main" noChangeAspect="1"/>
          </p:cNvPicPr>
          <p:nvPr/>
        </p:nvPicPr>
        <p:blipFill>
          <a:blip xmlns:r="http://schemas.openxmlformats.org/officeDocument/2006/relationships" xmlns:a="http://schemas.openxmlformats.org/drawingml/2006/main" r:embed="R98be651cb94345b7"/>
          <a:stretch xmlns:a="http://schemas.openxmlformats.org/drawingml/2006/main">
            <a:fillRect l="0" t="0" r="0" b="0"/>
          </a:stretch>
        </p:blipFill>
        <p:spPr>
          <a:xfrm xmlns:a="http://schemas.openxmlformats.org/drawingml/2006/main">
            <a:off x="8588654" y="2245766"/>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18C05F78-F1F8-41EB-8A3D-7679155A6571}"/>
              </a:ext>
            </a:extLst>
          </p:cNvPr>
          <p:cNvSpPr>
            <a:spLocks xmlns:a="http://schemas.openxmlformats.org/drawingml/2006/main" noGrp="1"/>
          </p:cNvSpPr>
          <p:nvPr/>
        </p:nvSpPr>
        <p:spPr>
          <a:xfrm xmlns:a="http://schemas.openxmlformats.org/drawingml/2006/main">
            <a:off x="8446008"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Ambuj</a:t>
            </a:r>
            <a:endParaRPr sz="1800"/>
          </a:p>
        </p:txBody>
      </p:sp>
      <p:sp>
        <p:nvSpPr>
          <p:cNvPr id="18" name="Text 13">
            <a:extLst xmlns:a="http://schemas.openxmlformats.org/drawingml/2006/main">
              <a:ext uri="{FF2B5EF4-FFF2-40B4-BE49-F238E27FC236}">
                <a16:creationId xmlns:a16="http://schemas.microsoft.com/office/drawing/2014/main" id="{7965057D-B7F1-4F52-AED8-EA86D9015580}"/>
              </a:ext>
            </a:extLst>
          </p:cNvPr>
          <p:cNvSpPr>
            <a:spLocks xmlns:a="http://schemas.openxmlformats.org/drawingml/2006/main" noGrp="1"/>
          </p:cNvSpPr>
          <p:nvPr/>
        </p:nvSpPr>
        <p:spPr>
          <a:xfrm xmlns:a="http://schemas.openxmlformats.org/drawingml/2006/main">
            <a:off x="8446008"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Runs the group, troubleshoots access and keeps everyone on the same step.</a:t>
            </a:r>
            <a:endParaRPr sz="1250"/>
          </a:p>
        </p:txBody>
      </p:sp>
      <p:sp>
        <p:nvSpPr>
          <p:cNvPr id="19" name="Shape 14">
            <a:extLst xmlns:a="http://schemas.openxmlformats.org/drawingml/2006/main">
              <a:ext uri="{FF2B5EF4-FFF2-40B4-BE49-F238E27FC236}">
                <a16:creationId xmlns:a16="http://schemas.microsoft.com/office/drawing/2014/main" id="{91EF9622-EE2C-4B55-8076-F672D6B675F5}"/>
              </a:ext>
            </a:extLst>
          </p:cNvPr>
          <p:cNvSpPr>
            <a:spLocks xmlns:a="http://schemas.openxmlformats.org/drawingml/2006/main" noGrp="1"/>
          </p:cNvSpPr>
          <p:nvPr/>
        </p:nvSpPr>
        <p:spPr>
          <a:xfrm xmlns:a="http://schemas.openxmlformats.org/drawingml/2006/main">
            <a:off x="640080" y="4434840"/>
            <a:ext cx="10908792" cy="1051560"/>
          </a:xfrm>
          <a:prstGeom xmlns:a="http://schemas.openxmlformats.org/drawingml/2006/main" prst="roundRect">
            <a:avLst>
              <a:gd name="adj" fmla="val 7826"/>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DE2A0B8B-050F-422B-9EF5-029CA54D798E}"/>
              </a:ext>
            </a:extLst>
          </p:cNvPr>
          <p:cNvSpPr>
            <a:spLocks xmlns:a="http://schemas.openxmlformats.org/drawingml/2006/main" noGrp="1"/>
          </p:cNvSpPr>
          <p:nvPr/>
        </p:nvSpPr>
        <p:spPr>
          <a:xfrm xmlns:a="http://schemas.openxmlformats.org/drawingml/2006/main">
            <a:off x="1005840" y="4434840"/>
            <a:ext cx="10177272"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defRPr sz="1350" b="1">
                <a:solidFill>
                  <a:srgbClr val="FFFFFF"/>
                </a:solidFill>
              </a:defRPr>
            </a:pPr>
            <a:r>
              <a:rPr sz="1350" b="1">
                <a:solidFill>
                  <a:srgbClr val="FFFFFF"/>
                </a:solidFill>
                <a:latin typeface="Arial"/>
                <a:ea typeface="Arial"/>
                <a:cs typeface="Arial"/>
              </a:rPr>
              <a:t>PROMPT: Read my delegation rows and My Work Inventory. Recommend one task ID and a first batch of no more than 25. Change nothing yet.</a:t>
            </a:r>
            <a:endParaRPr sz="1650"/>
          </a:p>
        </p:txBody>
      </p:sp>
      <p:sp>
        <p:nvSpPr>
          <p:cNvPr id="21" name="Text 16">
            <a:extLst xmlns:a="http://schemas.openxmlformats.org/drawingml/2006/main">
              <a:ext uri="{FF2B5EF4-FFF2-40B4-BE49-F238E27FC236}">
                <a16:creationId xmlns:a16="http://schemas.microsoft.com/office/drawing/2014/main" id="{2818DCDF-CC49-4A33-AC03-CE83210CB3F6}"/>
              </a:ext>
            </a:extLst>
          </p:cNvPr>
          <p:cNvSpPr>
            <a:spLocks xmlns:a="http://schemas.openxmlformats.org/drawingml/2006/main" noGrp="1"/>
          </p:cNvSpPr>
          <p:nvPr/>
        </p:nvSpPr>
        <p:spPr>
          <a:xfrm xmlns:a="http://schemas.openxmlformats.org/drawingml/2006/main">
            <a:off x="640080" y="5669280"/>
            <a:ext cx="1090879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Setup Helper handles machinery. Abilash rules owner and Gate 0 decisions.</a:t>
            </a:r>
            <a:endParaRPr sz="1300"/>
          </a:p>
        </p:txBody>
      </p:sp>
      <p:sp>
        <p:nvSpPr>
          <p:cNvPr id="22" name="Text 17">
            <a:extLst xmlns:a="http://schemas.openxmlformats.org/drawingml/2006/main">
              <a:ext uri="{FF2B5EF4-FFF2-40B4-BE49-F238E27FC236}">
                <a16:creationId xmlns:a16="http://schemas.microsoft.com/office/drawing/2014/main" id="{C2FE4C50-5990-442A-99AF-2CD7D7EA7BD4}"/>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3" name="Text 18">
            <a:extLst xmlns:a="http://schemas.openxmlformats.org/drawingml/2006/main">
              <a:ext uri="{FF2B5EF4-FFF2-40B4-BE49-F238E27FC236}">
                <a16:creationId xmlns:a16="http://schemas.microsoft.com/office/drawing/2014/main" id="{92958A43-2A29-4C36-A96D-00186108F3A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25</a:t>
            </a:r>
            <a:endParaRPr sz="900"/>
          </a:p>
        </p:txBody>
      </p:sp>
    </p:spTree>
    <p:extLst>
      <p:ext uri="{BB962C8B-B14F-4D97-AF65-F5344CB8AC3E}">
        <p14:creationId xmlns:p14="http://schemas.microsoft.com/office/powerpoint/2010/main" val="143298177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591DF4-4331-4FEB-AC38-238329655F7C}"/>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COMPULSORY HOMEWORK</a:t>
            </a:r>
            <a:endParaRPr sz="1050"/>
          </a:p>
        </p:txBody>
      </p:sp>
      <p:sp>
        <p:nvSpPr>
          <p:cNvPr id="3" name="Text 1">
            <a:extLst xmlns:a="http://schemas.openxmlformats.org/drawingml/2006/main">
              <a:ext uri="{FF2B5EF4-FFF2-40B4-BE49-F238E27FC236}">
                <a16:creationId xmlns:a16="http://schemas.microsoft.com/office/drawing/2014/main" id="{F204CC6B-88F9-41D3-8C19-D60EF44899FD}"/>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300" b="1">
                <a:solidFill>
                  <a:srgbClr val="172E22"/>
                </a:solidFill>
                <a:latin typeface="Arial"/>
                <a:ea typeface="Arial"/>
                <a:cs typeface="Arial"/>
              </a:rPr>
              <a:t>Build two workers. Bring both reports.</a:t>
            </a:r>
            <a:endParaRPr sz="3300"/>
          </a:p>
        </p:txBody>
      </p:sp>
      <p:sp>
        <p:nvSpPr>
          <p:cNvPr id="4" name="Shape 2">
            <a:extLst xmlns:a="http://schemas.openxmlformats.org/drawingml/2006/main">
              <a:ext uri="{FF2B5EF4-FFF2-40B4-BE49-F238E27FC236}">
                <a16:creationId xmlns:a16="http://schemas.microsoft.com/office/drawing/2014/main" id="{5CD4FE0F-F274-401A-9B94-285CEF8CD40F}"/>
              </a:ext>
            </a:extLst>
          </p:cNvPr>
          <p:cNvSpPr>
            <a:spLocks xmlns:a="http://schemas.openxmlformats.org/drawingml/2006/main" noGrp="1"/>
          </p:cNvSpPr>
          <p:nvPr/>
        </p:nvSpPr>
        <p:spPr>
          <a:xfrm xmlns:a="http://schemas.openxmlformats.org/drawingml/2006/main">
            <a:off x="640080" y="1737360"/>
            <a:ext cx="10908792" cy="868680"/>
          </a:xfrm>
          <a:prstGeom xmlns:a="http://schemas.openxmlformats.org/drawingml/2006/main" prst="roundRect">
            <a:avLst>
              <a:gd name="adj" fmla="val 9474"/>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3D71622B-EBE6-4D3A-9655-515441A1C692}"/>
              </a:ext>
            </a:extLst>
          </p:cNvPr>
          <p:cNvSpPr>
            <a:spLocks xmlns:a="http://schemas.openxmlformats.org/drawingml/2006/main" noGrp="1"/>
          </p:cNvSpPr>
          <p:nvPr/>
        </p:nvSpPr>
        <p:spPr>
          <a:xfrm xmlns:a="http://schemas.openxmlformats.org/drawingml/2006/main">
            <a:off x="960120" y="173736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EMAIL</a:t>
            </a:r>
            <a:endParaRPr sz="1600"/>
          </a:p>
        </p:txBody>
      </p:sp>
      <p:sp>
        <p:nvSpPr>
          <p:cNvPr id="6" name="Text 4">
            <a:extLst xmlns:a="http://schemas.openxmlformats.org/drawingml/2006/main">
              <a:ext uri="{FF2B5EF4-FFF2-40B4-BE49-F238E27FC236}">
                <a16:creationId xmlns:a16="http://schemas.microsoft.com/office/drawing/2014/main" id="{393DC4F3-5D6D-4F82-A8FE-DFC42969B7C0}"/>
              </a:ext>
            </a:extLst>
          </p:cNvPr>
          <p:cNvSpPr>
            <a:spLocks xmlns:a="http://schemas.openxmlformats.org/drawingml/2006/main" noGrp="1"/>
          </p:cNvSpPr>
          <p:nvPr/>
        </p:nvSpPr>
        <p:spPr>
          <a:xfrm xmlns:a="http://schemas.openxmlformats.org/drawingml/2006/main">
            <a:off x="2926080" y="173736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Choose time → pilot → daily brief. Approve brief-only or safe filing. Permanent Gmail filters stay human-reviewed.</a:t>
            </a:r>
            <a:endParaRPr sz="1450"/>
          </a:p>
        </p:txBody>
      </p:sp>
      <p:sp>
        <p:nvSpPr>
          <p:cNvPr id="7" name="Shape 5">
            <a:extLst xmlns:a="http://schemas.openxmlformats.org/drawingml/2006/main">
              <a:ext uri="{FF2B5EF4-FFF2-40B4-BE49-F238E27FC236}">
                <a16:creationId xmlns:a16="http://schemas.microsoft.com/office/drawing/2014/main" id="{93D4D099-94A1-4FCF-ADA8-AFC87722319A}"/>
              </a:ext>
            </a:extLst>
          </p:cNvPr>
          <p:cNvSpPr>
            <a:spLocks xmlns:a="http://schemas.openxmlformats.org/drawingml/2006/main" noGrp="1"/>
          </p:cNvSpPr>
          <p:nvPr/>
        </p:nvSpPr>
        <p:spPr>
          <a:xfrm xmlns:a="http://schemas.openxmlformats.org/drawingml/2006/main">
            <a:off x="640080" y="278892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09FDD6C5-C950-47D5-B543-E8FA84D6BA4B}"/>
              </a:ext>
            </a:extLst>
          </p:cNvPr>
          <p:cNvSpPr>
            <a:spLocks xmlns:a="http://schemas.openxmlformats.org/drawingml/2006/main" noGrp="1"/>
          </p:cNvSpPr>
          <p:nvPr/>
        </p:nvSpPr>
        <p:spPr>
          <a:xfrm xmlns:a="http://schemas.openxmlformats.org/drawingml/2006/main">
            <a:off x="960120" y="278892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DRIVE</a:t>
            </a:r>
            <a:endParaRPr sz="1600"/>
          </a:p>
        </p:txBody>
      </p:sp>
      <p:sp>
        <p:nvSpPr>
          <p:cNvPr id="9" name="Text 7">
            <a:extLst xmlns:a="http://schemas.openxmlformats.org/drawingml/2006/main">
              <a:ext uri="{FF2B5EF4-FFF2-40B4-BE49-F238E27FC236}">
                <a16:creationId xmlns:a16="http://schemas.microsoft.com/office/drawing/2014/main" id="{B672F692-72F6-4A95-A38C-5A4EA63EDAEB}"/>
              </a:ext>
            </a:extLst>
          </p:cNvPr>
          <p:cNvSpPr>
            <a:spLocks xmlns:a="http://schemas.openxmlformats.org/drawingml/2006/main" noGrp="1"/>
          </p:cNvSpPr>
          <p:nvPr/>
        </p:nvSpPr>
        <p:spPr>
          <a:xfrm xmlns:a="http://schemas.openxmlformats.org/drawingml/2006/main">
            <a:off x="2926080" y="278892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Choose TEST 25 or full metadata index. Every batch ≤25 → CSV + cursor. No file content opened or changed.</a:t>
            </a:r>
            <a:endParaRPr sz="1450"/>
          </a:p>
        </p:txBody>
      </p:sp>
      <p:sp>
        <p:nvSpPr>
          <p:cNvPr id="10" name="Shape 8">
            <a:extLst xmlns:a="http://schemas.openxmlformats.org/drawingml/2006/main">
              <a:ext uri="{FF2B5EF4-FFF2-40B4-BE49-F238E27FC236}">
                <a16:creationId xmlns:a16="http://schemas.microsoft.com/office/drawing/2014/main" id="{455BACEF-556A-4ADE-80B7-E336DAB59986}"/>
              </a:ext>
            </a:extLst>
          </p:cNvPr>
          <p:cNvSpPr>
            <a:spLocks xmlns:a="http://schemas.openxmlformats.org/drawingml/2006/main" noGrp="1"/>
          </p:cNvSpPr>
          <p:nvPr/>
        </p:nvSpPr>
        <p:spPr>
          <a:xfrm xmlns:a="http://schemas.openxmlformats.org/drawingml/2006/main">
            <a:off x="640080" y="3840480"/>
            <a:ext cx="10908792" cy="868680"/>
          </a:xfrm>
          <a:prstGeom xmlns:a="http://schemas.openxmlformats.org/drawingml/2006/main" prst="roundRect">
            <a:avLst>
              <a:gd name="adj" fmla="val 9474"/>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4DF84FC4-CFFC-4488-9357-EEE00F6038C8}"/>
              </a:ext>
            </a:extLst>
          </p:cNvPr>
          <p:cNvSpPr>
            <a:spLocks xmlns:a="http://schemas.openxmlformats.org/drawingml/2006/main" noGrp="1"/>
          </p:cNvSpPr>
          <p:nvPr/>
        </p:nvSpPr>
        <p:spPr>
          <a:xfrm xmlns:a="http://schemas.openxmlformats.org/drawingml/2006/main">
            <a:off x="960120" y="384048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OPTIONAL</a:t>
            </a:r>
            <a:endParaRPr sz="1600"/>
          </a:p>
        </p:txBody>
      </p:sp>
      <p:sp>
        <p:nvSpPr>
          <p:cNvPr id="12" name="Text 10">
            <a:extLst xmlns:a="http://schemas.openxmlformats.org/drawingml/2006/main">
              <a:ext uri="{FF2B5EF4-FFF2-40B4-BE49-F238E27FC236}">
                <a16:creationId xmlns:a16="http://schemas.microsoft.com/office/drawing/2014/main" id="{351B626C-CB0D-4681-B7DB-E00DA141A8F9}"/>
              </a:ext>
            </a:extLst>
          </p:cNvPr>
          <p:cNvSpPr>
            <a:spLocks xmlns:a="http://schemas.openxmlformats.org/drawingml/2006/main" noGrp="1"/>
          </p:cNvSpPr>
          <p:nvPr/>
        </p:nvSpPr>
        <p:spPr>
          <a:xfrm xmlns:a="http://schemas.openxmlformats.org/drawingml/2006/main">
            <a:off x="2926080" y="384048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Saturday: paste ≤25 unread messages. Codex drafts in your tone. You review and manually send; uncertain replies stay queued.</a:t>
            </a:r>
            <a:endParaRPr sz="1450"/>
          </a:p>
        </p:txBody>
      </p:sp>
      <p:sp>
        <p:nvSpPr>
          <p:cNvPr id="13" name="Text 11">
            <a:extLst xmlns:a="http://schemas.openxmlformats.org/drawingml/2006/main">
              <a:ext uri="{FF2B5EF4-FFF2-40B4-BE49-F238E27FC236}">
                <a16:creationId xmlns:a16="http://schemas.microsoft.com/office/drawing/2014/main" id="{3BE29DD1-8E39-435F-BED4-9B26B14B9533}"/>
              </a:ext>
            </a:extLst>
          </p:cNvPr>
          <p:cNvSpPr>
            <a:spLocks xmlns:a="http://schemas.openxmlformats.org/drawingml/2006/main" noGrp="1"/>
          </p:cNvSpPr>
          <p:nvPr/>
        </p:nvSpPr>
        <p:spPr>
          <a:xfrm xmlns:a="http://schemas.openxmlformats.org/drawingml/2006/main">
            <a:off x="640080" y="4810125"/>
            <a:ext cx="10908792"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DONE MEANS VISIBLE PROOF</a:t>
            </a:r>
            <a:endParaRPr sz="900"/>
          </a:p>
        </p:txBody>
      </p:sp>
      <p:sp>
        <p:nvSpPr>
          <p:cNvPr id="14" name="Shape 12">
            <a:extLst xmlns:a="http://schemas.openxmlformats.org/drawingml/2006/main">
              <a:ext uri="{FF2B5EF4-FFF2-40B4-BE49-F238E27FC236}">
                <a16:creationId xmlns:a16="http://schemas.microsoft.com/office/drawing/2014/main" id="{9430EAA5-F9EA-4AA1-9EB8-1FE5293582A3}"/>
              </a:ext>
            </a:extLst>
          </p:cNvPr>
          <p:cNvSpPr>
            <a:spLocks xmlns:a="http://schemas.openxmlformats.org/drawingml/2006/main" noGrp="1"/>
          </p:cNvSpPr>
          <p:nvPr/>
        </p:nvSpPr>
        <p:spPr>
          <a:xfrm xmlns:a="http://schemas.openxmlformats.org/drawingml/2006/main">
            <a:off x="640080"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5" name="Text 13">
            <a:extLst xmlns:a="http://schemas.openxmlformats.org/drawingml/2006/main">
              <a:ext uri="{FF2B5EF4-FFF2-40B4-BE49-F238E27FC236}">
                <a16:creationId xmlns:a16="http://schemas.microsoft.com/office/drawing/2014/main" id="{07D1955D-53AA-484F-A391-6607A5D5B79D}"/>
              </a:ext>
            </a:extLst>
          </p:cNvPr>
          <p:cNvSpPr>
            <a:spLocks xmlns:a="http://schemas.openxmlformats.org/drawingml/2006/main" noGrp="1"/>
          </p:cNvSpPr>
          <p:nvPr/>
        </p:nvSpPr>
        <p:spPr>
          <a:xfrm xmlns:a="http://schemas.openxmlformats.org/drawingml/2006/main">
            <a:off x="914400"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EMAIL</a:t>
            </a:r>
            <a:endParaRPr sz="1500"/>
          </a:p>
        </p:txBody>
      </p:sp>
      <p:sp>
        <p:nvSpPr>
          <p:cNvPr id="16" name="Text 14">
            <a:extLst xmlns:a="http://schemas.openxmlformats.org/drawingml/2006/main">
              <a:ext uri="{FF2B5EF4-FFF2-40B4-BE49-F238E27FC236}">
                <a16:creationId xmlns:a16="http://schemas.microsoft.com/office/drawing/2014/main" id="{7A83D3C7-784E-4839-8180-5F4068707EB3}"/>
              </a:ext>
            </a:extLst>
          </p:cNvPr>
          <p:cNvSpPr>
            <a:spLocks xmlns:a="http://schemas.openxmlformats.org/drawingml/2006/main" noGrp="1"/>
          </p:cNvSpPr>
          <p:nvPr/>
        </p:nvSpPr>
        <p:spPr>
          <a:xfrm xmlns:a="http://schemas.openxmlformats.org/drawingml/2006/main">
            <a:off x="914400"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Daily brief active</a:t>
            </a:r>
            <a:endParaRPr sz="1150"/>
          </a:p>
        </p:txBody>
      </p:sp>
      <p:sp>
        <p:nvSpPr>
          <p:cNvPr id="17" name="Shape 15">
            <a:extLst xmlns:a="http://schemas.openxmlformats.org/drawingml/2006/main">
              <a:ext uri="{FF2B5EF4-FFF2-40B4-BE49-F238E27FC236}">
                <a16:creationId xmlns:a16="http://schemas.microsoft.com/office/drawing/2014/main" id="{8910C534-65A0-4EA4-84AF-D059BDB1C6D4}"/>
              </a:ext>
            </a:extLst>
          </p:cNvPr>
          <p:cNvSpPr>
            <a:spLocks xmlns:a="http://schemas.openxmlformats.org/drawingml/2006/main" noGrp="1"/>
          </p:cNvSpPr>
          <p:nvPr/>
        </p:nvSpPr>
        <p:spPr>
          <a:xfrm xmlns:a="http://schemas.openxmlformats.org/drawingml/2006/main">
            <a:off x="4367784"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8" name="Text 16">
            <a:extLst xmlns:a="http://schemas.openxmlformats.org/drawingml/2006/main">
              <a:ext uri="{FF2B5EF4-FFF2-40B4-BE49-F238E27FC236}">
                <a16:creationId xmlns:a16="http://schemas.microsoft.com/office/drawing/2014/main" id="{031A720F-9C91-49A2-B347-BA930F18C6A7}"/>
              </a:ext>
            </a:extLst>
          </p:cNvPr>
          <p:cNvSpPr>
            <a:spLocks xmlns:a="http://schemas.openxmlformats.org/drawingml/2006/main" noGrp="1"/>
          </p:cNvSpPr>
          <p:nvPr/>
        </p:nvSpPr>
        <p:spPr>
          <a:xfrm xmlns:a="http://schemas.openxmlformats.org/drawingml/2006/main">
            <a:off x="4642104"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DRIVE</a:t>
            </a:r>
            <a:endParaRPr sz="1500"/>
          </a:p>
        </p:txBody>
      </p:sp>
      <p:sp>
        <p:nvSpPr>
          <p:cNvPr id="19" name="Text 17">
            <a:extLst xmlns:a="http://schemas.openxmlformats.org/drawingml/2006/main">
              <a:ext uri="{FF2B5EF4-FFF2-40B4-BE49-F238E27FC236}">
                <a16:creationId xmlns:a16="http://schemas.microsoft.com/office/drawing/2014/main" id="{20DA07C2-AAD3-465B-8656-0C2A61F197AE}"/>
              </a:ext>
            </a:extLst>
          </p:cNvPr>
          <p:cNvSpPr>
            <a:spLocks xmlns:a="http://schemas.openxmlformats.org/drawingml/2006/main" noGrp="1"/>
          </p:cNvSpPr>
          <p:nvPr/>
        </p:nvSpPr>
        <p:spPr>
          <a:xfrm xmlns:a="http://schemas.openxmlformats.org/drawingml/2006/main">
            <a:off x="4642104"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Metadata only</a:t>
            </a:r>
            <a:endParaRPr sz="1150"/>
          </a:p>
        </p:txBody>
      </p:sp>
      <p:sp>
        <p:nvSpPr>
          <p:cNvPr id="20" name="Shape 18">
            <a:extLst xmlns:a="http://schemas.openxmlformats.org/drawingml/2006/main">
              <a:ext uri="{FF2B5EF4-FFF2-40B4-BE49-F238E27FC236}">
                <a16:creationId xmlns:a16="http://schemas.microsoft.com/office/drawing/2014/main" id="{ABAE382A-FD27-49C8-907F-6D6BB653920D}"/>
              </a:ext>
            </a:extLst>
          </p:cNvPr>
          <p:cNvSpPr>
            <a:spLocks xmlns:a="http://schemas.openxmlformats.org/drawingml/2006/main" noGrp="1"/>
          </p:cNvSpPr>
          <p:nvPr/>
        </p:nvSpPr>
        <p:spPr>
          <a:xfrm xmlns:a="http://schemas.openxmlformats.org/drawingml/2006/main">
            <a:off x="8095488"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21" name="Text 19">
            <a:extLst xmlns:a="http://schemas.openxmlformats.org/drawingml/2006/main">
              <a:ext uri="{FF2B5EF4-FFF2-40B4-BE49-F238E27FC236}">
                <a16:creationId xmlns:a16="http://schemas.microsoft.com/office/drawing/2014/main" id="{2C8A37E1-F8A3-428C-ABF2-854F58F5C585}"/>
              </a:ext>
            </a:extLst>
          </p:cNvPr>
          <p:cNvSpPr>
            <a:spLocks xmlns:a="http://schemas.openxmlformats.org/drawingml/2006/main" noGrp="1"/>
          </p:cNvSpPr>
          <p:nvPr/>
        </p:nvSpPr>
        <p:spPr>
          <a:xfrm xmlns:a="http://schemas.openxmlformats.org/drawingml/2006/main">
            <a:off x="8369808"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LINKEDIN</a:t>
            </a:r>
            <a:endParaRPr sz="1500"/>
          </a:p>
        </p:txBody>
      </p:sp>
      <p:sp>
        <p:nvSpPr>
          <p:cNvPr id="22" name="Text 20">
            <a:extLst xmlns:a="http://schemas.openxmlformats.org/drawingml/2006/main">
              <a:ext uri="{FF2B5EF4-FFF2-40B4-BE49-F238E27FC236}">
                <a16:creationId xmlns:a16="http://schemas.microsoft.com/office/drawing/2014/main" id="{7A6271B4-7358-4A84-ACCF-ED5B2EFD24D0}"/>
              </a:ext>
            </a:extLst>
          </p:cNvPr>
          <p:cNvSpPr>
            <a:spLocks xmlns:a="http://schemas.openxmlformats.org/drawingml/2006/main" noGrp="1"/>
          </p:cNvSpPr>
          <p:nvPr/>
        </p:nvSpPr>
        <p:spPr>
          <a:xfrm xmlns:a="http://schemas.openxmlformats.org/drawingml/2006/main">
            <a:off x="8369808"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Human send</a:t>
            </a:r>
            <a:endParaRPr sz="1150"/>
          </a:p>
        </p:txBody>
      </p:sp>
      <p:sp>
        <p:nvSpPr>
          <p:cNvPr id="23" name="Text 21">
            <a:extLst xmlns:a="http://schemas.openxmlformats.org/drawingml/2006/main">
              <a:ext uri="{FF2B5EF4-FFF2-40B4-BE49-F238E27FC236}">
                <a16:creationId xmlns:a16="http://schemas.microsoft.com/office/drawing/2014/main" id="{6DD1E79B-A9BA-4D28-994D-C16DE31B2DE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4" name="Text 22">
            <a:extLst xmlns:a="http://schemas.openxmlformats.org/drawingml/2006/main">
              <a:ext uri="{FF2B5EF4-FFF2-40B4-BE49-F238E27FC236}">
                <a16:creationId xmlns:a16="http://schemas.microsoft.com/office/drawing/2014/main" id="{B4BA9BB4-A70E-438C-8CA5-73E3E57E09B8}"/>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26</a:t>
            </a:r>
            <a:endParaRPr sz="900"/>
          </a:p>
        </p:txBody>
      </p:sp>
    </p:spTree>
    <p:extLst>
      <p:ext uri="{BB962C8B-B14F-4D97-AF65-F5344CB8AC3E}">
        <p14:creationId xmlns:p14="http://schemas.microsoft.com/office/powerpoint/2010/main" val="169771235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2026-08-12T20:57:42.0520000Z</dcterms:created>
  <dcterms:modified xsi:type="dcterms:W3CDTF">2026-08-12T20:57:42.0520000Z</dcterms:modified>
</coreProperties>
</file>